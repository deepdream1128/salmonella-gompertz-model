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5759958" cy="324002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2" Type="http://schemas.openxmlformats.org/officeDocument/2006/relationships/viewProps" Target="viewProps.xml"/><Relationship Id="rId21" Type="http://schemas.openxmlformats.org/officeDocument/2006/relationships/tableStyles" Target="tableStyles.xml"/><Relationship Id="rId20" Type="http://schemas.openxmlformats.org/officeDocument/2006/relationships/presProps" Target="presProps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slide" Target="slide18.xml"/><Relationship Id="rId4" Type="http://schemas.openxmlformats.org/officeDocument/2006/relationships/slide" Target="slide2.xml"/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2.xml"/><Relationship Id="rId8" Type="http://schemas.openxmlformats.org/officeDocument/2006/relationships/slide" Target="slide10.xml"/><Relationship Id="rId7" Type="http://schemas.openxmlformats.org/officeDocument/2006/relationships/slide" Target="slide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3" Type="http://schemas.openxmlformats.org/officeDocument/2006/relationships/slide" Target="slide1.xml"/><Relationship Id="rId22" Type="http://schemas.openxmlformats.org/officeDocument/2006/relationships/image" Target="../media/image19.png"/><Relationship Id="rId21" Type="http://schemas.openxmlformats.org/officeDocument/2006/relationships/image" Target="../media/image18.png"/><Relationship Id="rId20" Type="http://schemas.openxmlformats.org/officeDocument/2006/relationships/image" Target="../media/image17.png"/><Relationship Id="rId2" Type="http://schemas.openxmlformats.org/officeDocument/2006/relationships/image" Target="../media/image1.png"/><Relationship Id="rId19" Type="http://schemas.openxmlformats.org/officeDocument/2006/relationships/image" Target="../media/image16.png"/><Relationship Id="rId18" Type="http://schemas.openxmlformats.org/officeDocument/2006/relationships/image" Target="../media/image15.png"/><Relationship Id="rId17" Type="http://schemas.openxmlformats.org/officeDocument/2006/relationships/image" Target="../media/image14.png"/><Relationship Id="rId16" Type="http://schemas.openxmlformats.org/officeDocument/2006/relationships/image" Target="../media/image13.png"/><Relationship Id="rId15" Type="http://schemas.openxmlformats.org/officeDocument/2006/relationships/image" Target="../media/image12.png"/><Relationship Id="rId14" Type="http://schemas.openxmlformats.org/officeDocument/2006/relationships/image" Target="../media/image11.png"/><Relationship Id="rId13" Type="http://schemas.openxmlformats.org/officeDocument/2006/relationships/slide" Target="slide18.xml"/><Relationship Id="rId12" Type="http://schemas.openxmlformats.org/officeDocument/2006/relationships/slide" Target="slide17.xml"/><Relationship Id="rId11" Type="http://schemas.openxmlformats.org/officeDocument/2006/relationships/slide" Target="slide15.xml"/><Relationship Id="rId10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slide" Target="slide15.xml"/><Relationship Id="rId7" Type="http://schemas.openxmlformats.org/officeDocument/2006/relationships/slide" Target="slide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" Target="slide18.xml"/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slide" Target="slide1.xml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slide" Target="slide1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9" Type="http://schemas.openxmlformats.org/officeDocument/2006/relationships/image" Target="../media/image41.png"/><Relationship Id="rId18" Type="http://schemas.openxmlformats.org/officeDocument/2006/relationships/image" Target="../media/image40.png"/><Relationship Id="rId17" Type="http://schemas.openxmlformats.org/officeDocument/2006/relationships/image" Target="../media/image39.png"/><Relationship Id="rId16" Type="http://schemas.openxmlformats.org/officeDocument/2006/relationships/image" Target="../media/image38.png"/><Relationship Id="rId15" Type="http://schemas.openxmlformats.org/officeDocument/2006/relationships/slide" Target="slide15.xml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slide" Target="slide15.xml"/><Relationship Id="rId5" Type="http://schemas.openxmlformats.org/officeDocument/2006/relationships/slide" Target="slide3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4" Type="http://schemas.openxmlformats.org/officeDocument/2006/relationships/slide" Target="slide1.xml"/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slide" Target="slide15.xml"/><Relationship Id="rId6" Type="http://schemas.openxmlformats.org/officeDocument/2006/relationships/slide" Target="slide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jpeg"/><Relationship Id="rId2" Type="http://schemas.openxmlformats.org/officeDocument/2006/relationships/image" Target="../media/image1.png"/><Relationship Id="rId15" Type="http://schemas.openxmlformats.org/officeDocument/2006/relationships/slide" Target="slide1.xml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slide" Target="slide8.xml"/><Relationship Id="rId4" Type="http://schemas.openxmlformats.org/officeDocument/2006/relationships/slide" Target="slide7.xml"/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8" Type="http://schemas.openxmlformats.org/officeDocument/2006/relationships/image" Target="../media/image71.png"/><Relationship Id="rId17" Type="http://schemas.openxmlformats.org/officeDocument/2006/relationships/image" Target="../media/image70.png"/><Relationship Id="rId16" Type="http://schemas.openxmlformats.org/officeDocument/2006/relationships/image" Target="../media/image69.png"/><Relationship Id="rId15" Type="http://schemas.openxmlformats.org/officeDocument/2006/relationships/image" Target="../media/image68.png"/><Relationship Id="rId14" Type="http://schemas.openxmlformats.org/officeDocument/2006/relationships/slide" Target="slide15.xml"/><Relationship Id="rId13" Type="http://schemas.openxmlformats.org/officeDocument/2006/relationships/slide" Target="slide3.xml"/><Relationship Id="rId12" Type="http://schemas.openxmlformats.org/officeDocument/2006/relationships/image" Target="../media/image67.png"/><Relationship Id="rId11" Type="http://schemas.openxmlformats.org/officeDocument/2006/relationships/image" Target="../media/image66.png"/><Relationship Id="rId10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png"/><Relationship Id="rId7" Type="http://schemas.openxmlformats.org/officeDocument/2006/relationships/slide" Target="slide15.xml"/><Relationship Id="rId6" Type="http://schemas.openxmlformats.org/officeDocument/2006/relationships/slide" Target="slide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jpeg"/><Relationship Id="rId2" Type="http://schemas.openxmlformats.org/officeDocument/2006/relationships/image" Target="../media/image1.png"/><Relationship Id="rId16" Type="http://schemas.openxmlformats.org/officeDocument/2006/relationships/slide" Target="slide1.xml"/><Relationship Id="rId15" Type="http://schemas.openxmlformats.org/officeDocument/2006/relationships/image" Target="../media/image82.pn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slide" Target="slide15.xml"/><Relationship Id="rId5" Type="http://schemas.openxmlformats.org/officeDocument/2006/relationships/slide" Target="slide3.xml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4" Type="http://schemas.openxmlformats.org/officeDocument/2006/relationships/slide" Target="slide1.xml"/><Relationship Id="rId13" Type="http://schemas.openxmlformats.org/officeDocument/2006/relationships/image" Target="../media/image91.png"/><Relationship Id="rId12" Type="http://schemas.openxmlformats.org/officeDocument/2006/relationships/image" Target="../media/image90.png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slide" Target="slide1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9.xml"/><Relationship Id="rId2" Type="http://schemas.openxmlformats.org/officeDocument/2006/relationships/image" Target="../media/image1.png"/><Relationship Id="rId17" Type="http://schemas.openxmlformats.org/officeDocument/2006/relationships/image" Target="../media/image100.png"/><Relationship Id="rId16" Type="http://schemas.openxmlformats.org/officeDocument/2006/relationships/image" Target="../media/image99.png"/><Relationship Id="rId15" Type="http://schemas.openxmlformats.org/officeDocument/2006/relationships/image" Target="../media/image98.png"/><Relationship Id="rId14" Type="http://schemas.openxmlformats.org/officeDocument/2006/relationships/image" Target="../media/image97.png"/><Relationship Id="rId13" Type="http://schemas.openxmlformats.org/officeDocument/2006/relationships/slide" Target="slide15.xml"/><Relationship Id="rId12" Type="http://schemas.openxmlformats.org/officeDocument/2006/relationships/slide" Target="slide3.xml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slide" Target="slide15.xml"/><Relationship Id="rId6" Type="http://schemas.openxmlformats.org/officeDocument/2006/relationships/slide" Target="slide3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jpeg"/><Relationship Id="rId2" Type="http://schemas.openxmlformats.org/officeDocument/2006/relationships/image" Target="../media/image1.png"/><Relationship Id="rId15" Type="http://schemas.openxmlformats.org/officeDocument/2006/relationships/slide" Target="slide1.xml"/><Relationship Id="rId14" Type="http://schemas.openxmlformats.org/officeDocument/2006/relationships/image" Target="../media/image110.png"/><Relationship Id="rId13" Type="http://schemas.openxmlformats.org/officeDocument/2006/relationships/image" Target="../media/image109.png"/><Relationship Id="rId12" Type="http://schemas.openxmlformats.org/officeDocument/2006/relationships/image" Target="../media/image108.png"/><Relationship Id="rId11" Type="http://schemas.openxmlformats.org/officeDocument/2006/relationships/image" Target="../media/image107.png"/><Relationship Id="rId10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slide" Target="slide15.xml"/><Relationship Id="rId7" Type="http://schemas.openxmlformats.org/officeDocument/2006/relationships/slide" Target="slide3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jpeg"/><Relationship Id="rId3" Type="http://schemas.openxmlformats.org/officeDocument/2006/relationships/image" Target="../media/image111.jpeg"/><Relationship Id="rId2" Type="http://schemas.openxmlformats.org/officeDocument/2006/relationships/image" Target="../media/image1.png"/><Relationship Id="rId16" Type="http://schemas.openxmlformats.org/officeDocument/2006/relationships/slide" Target="slide1.xml"/><Relationship Id="rId15" Type="http://schemas.openxmlformats.org/officeDocument/2006/relationships/image" Target="../media/image121.png"/><Relationship Id="rId14" Type="http://schemas.openxmlformats.org/officeDocument/2006/relationships/image" Target="../media/image120.png"/><Relationship Id="rId13" Type="http://schemas.openxmlformats.org/officeDocument/2006/relationships/image" Target="../media/image119.png"/><Relationship Id="rId12" Type="http://schemas.openxmlformats.org/officeDocument/2006/relationships/image" Target="../media/image118.png"/><Relationship Id="rId11" Type="http://schemas.openxmlformats.org/officeDocument/2006/relationships/image" Target="../media/image117.png"/><Relationship Id="rId10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" Target="slide14.xml"/><Relationship Id="rId8" Type="http://schemas.openxmlformats.org/officeDocument/2006/relationships/slide" Target="slide13.xml"/><Relationship Id="rId7" Type="http://schemas.openxmlformats.org/officeDocument/2006/relationships/slide" Target="slide1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jpeg"/><Relationship Id="rId3" Type="http://schemas.openxmlformats.org/officeDocument/2006/relationships/image" Target="../media/image122.jpeg"/><Relationship Id="rId21" Type="http://schemas.openxmlformats.org/officeDocument/2006/relationships/image" Target="../media/image133.png"/><Relationship Id="rId20" Type="http://schemas.openxmlformats.org/officeDocument/2006/relationships/image" Target="../media/image132.png"/><Relationship Id="rId2" Type="http://schemas.openxmlformats.org/officeDocument/2006/relationships/image" Target="../media/image1.png"/><Relationship Id="rId19" Type="http://schemas.openxmlformats.org/officeDocument/2006/relationships/image" Target="../media/image131.png"/><Relationship Id="rId18" Type="http://schemas.openxmlformats.org/officeDocument/2006/relationships/image" Target="../media/image130.png"/><Relationship Id="rId17" Type="http://schemas.openxmlformats.org/officeDocument/2006/relationships/slide" Target="slide15.xml"/><Relationship Id="rId16" Type="http://schemas.openxmlformats.org/officeDocument/2006/relationships/slide" Target="slide3.xml"/><Relationship Id="rId15" Type="http://schemas.openxmlformats.org/officeDocument/2006/relationships/image" Target="../media/image129.png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slide" Target="slide1.xml"/><Relationship Id="rId10" Type="http://schemas.openxmlformats.org/officeDocument/2006/relationships/slide" Target="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png"/><Relationship Id="rId8" Type="http://schemas.openxmlformats.org/officeDocument/2006/relationships/image" Target="../media/image137.png"/><Relationship Id="rId7" Type="http://schemas.openxmlformats.org/officeDocument/2006/relationships/slide" Target="slide15.xml"/><Relationship Id="rId6" Type="http://schemas.openxmlformats.org/officeDocument/2006/relationships/slide" Target="slide3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3" Type="http://schemas.openxmlformats.org/officeDocument/2006/relationships/image" Target="../media/image134.jpeg"/><Relationship Id="rId2" Type="http://schemas.openxmlformats.org/officeDocument/2006/relationships/image" Target="../media/image1.png"/><Relationship Id="rId15" Type="http://schemas.openxmlformats.org/officeDocument/2006/relationships/slide" Target="slide1.xml"/><Relationship Id="rId14" Type="http://schemas.openxmlformats.org/officeDocument/2006/relationships/image" Target="../media/image143.png"/><Relationship Id="rId13" Type="http://schemas.openxmlformats.org/officeDocument/2006/relationships/image" Target="../media/image142.png"/><Relationship Id="rId12" Type="http://schemas.openxmlformats.org/officeDocument/2006/relationships/image" Target="../media/image141.png"/><Relationship Id="rId11" Type="http://schemas.openxmlformats.org/officeDocument/2006/relationships/image" Target="../media/image140.png"/><Relationship Id="rId10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png"/><Relationship Id="rId8" Type="http://schemas.openxmlformats.org/officeDocument/2006/relationships/image" Target="../media/image147.png"/><Relationship Id="rId7" Type="http://schemas.openxmlformats.org/officeDocument/2006/relationships/slide" Target="slide15.xml"/><Relationship Id="rId6" Type="http://schemas.openxmlformats.org/officeDocument/2006/relationships/slide" Target="slide3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jpeg"/><Relationship Id="rId2" Type="http://schemas.openxmlformats.org/officeDocument/2006/relationships/image" Target="../media/image1.png"/><Relationship Id="rId15" Type="http://schemas.openxmlformats.org/officeDocument/2006/relationships/slide" Target="slide1.xml"/><Relationship Id="rId14" Type="http://schemas.openxmlformats.org/officeDocument/2006/relationships/image" Target="../media/image153.png"/><Relationship Id="rId13" Type="http://schemas.openxmlformats.org/officeDocument/2006/relationships/image" Target="../media/image152.png"/><Relationship Id="rId12" Type="http://schemas.openxmlformats.org/officeDocument/2006/relationships/image" Target="../media/image151.png"/><Relationship Id="rId11" Type="http://schemas.openxmlformats.org/officeDocument/2006/relationships/image" Target="../media/image150.png"/><Relationship Id="rId10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png"/><Relationship Id="rId7" Type="http://schemas.openxmlformats.org/officeDocument/2006/relationships/slide" Target="slide1.xml"/><Relationship Id="rId6" Type="http://schemas.openxmlformats.org/officeDocument/2006/relationships/slide" Target="slide14.xml"/><Relationship Id="rId5" Type="http://schemas.openxmlformats.org/officeDocument/2006/relationships/slide" Target="slide17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image" Target="../media/image1.png"/><Relationship Id="rId17" Type="http://schemas.openxmlformats.org/officeDocument/2006/relationships/image" Target="../media/image162.png"/><Relationship Id="rId16" Type="http://schemas.openxmlformats.org/officeDocument/2006/relationships/image" Target="../media/image161.png"/><Relationship Id="rId15" Type="http://schemas.openxmlformats.org/officeDocument/2006/relationships/image" Target="../media/image160.png"/><Relationship Id="rId14" Type="http://schemas.openxmlformats.org/officeDocument/2006/relationships/image" Target="../media/image159.png"/><Relationship Id="rId13" Type="http://schemas.openxmlformats.org/officeDocument/2006/relationships/slide" Target="slide3.xml"/><Relationship Id="rId12" Type="http://schemas.openxmlformats.org/officeDocument/2006/relationships/image" Target="../media/image158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.png"/><Relationship Id="rId18" Type="http://schemas.openxmlformats.org/officeDocument/2006/relationships/slide" Target="slide1.xml"/><Relationship Id="rId17" Type="http://schemas.openxmlformats.org/officeDocument/2006/relationships/image" Target="../media/image175.png"/><Relationship Id="rId16" Type="http://schemas.openxmlformats.org/officeDocument/2006/relationships/image" Target="../media/image174.png"/><Relationship Id="rId15" Type="http://schemas.openxmlformats.org/officeDocument/2006/relationships/image" Target="../media/image173.png"/><Relationship Id="rId14" Type="http://schemas.openxmlformats.org/officeDocument/2006/relationships/image" Target="../media/image172.png"/><Relationship Id="rId13" Type="http://schemas.openxmlformats.org/officeDocument/2006/relationships/image" Target="../media/image171.png"/><Relationship Id="rId12" Type="http://schemas.openxmlformats.org/officeDocument/2006/relationships/image" Target="../media/image170.png"/><Relationship Id="rId11" Type="http://schemas.openxmlformats.org/officeDocument/2006/relationships/image" Target="../media/image169.png"/><Relationship Id="rId10" Type="http://schemas.openxmlformats.org/officeDocument/2006/relationships/slide" Target="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png"/><Relationship Id="rId8" Type="http://schemas.openxmlformats.org/officeDocument/2006/relationships/image" Target="../media/image179.png"/><Relationship Id="rId7" Type="http://schemas.openxmlformats.org/officeDocument/2006/relationships/image" Target="../media/image178.png"/><Relationship Id="rId6" Type="http://schemas.openxmlformats.org/officeDocument/2006/relationships/slide" Target="slide15.xml"/><Relationship Id="rId5" Type="http://schemas.openxmlformats.org/officeDocument/2006/relationships/slide" Target="slide3.xml"/><Relationship Id="rId4" Type="http://schemas.openxmlformats.org/officeDocument/2006/relationships/image" Target="../media/image177.png"/><Relationship Id="rId3" Type="http://schemas.openxmlformats.org/officeDocument/2006/relationships/image" Target="../media/image176.png"/><Relationship Id="rId2" Type="http://schemas.openxmlformats.org/officeDocument/2006/relationships/image" Target="../media/image1.png"/><Relationship Id="rId14" Type="http://schemas.openxmlformats.org/officeDocument/2006/relationships/slide" Target="slide1.xml"/><Relationship Id="rId13" Type="http://schemas.openxmlformats.org/officeDocument/2006/relationships/image" Target="../media/image184.png"/><Relationship Id="rId12" Type="http://schemas.openxmlformats.org/officeDocument/2006/relationships/image" Target="../media/image183.png"/><Relationship Id="rId11" Type="http://schemas.openxmlformats.org/officeDocument/2006/relationships/image" Target="../media/image182.png"/><Relationship Id="rId10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4" name="rect 4"/>
          <p:cNvSpPr/>
          <p:nvPr/>
        </p:nvSpPr>
        <p:spPr>
          <a:xfrm>
            <a:off x="0" y="3148736"/>
            <a:ext cx="3456038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rect 6"/>
          <p:cNvSpPr/>
          <p:nvPr/>
        </p:nvSpPr>
        <p:spPr>
          <a:xfrm>
            <a:off x="3456038" y="3148736"/>
            <a:ext cx="2303919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-12700" y="1765913"/>
            <a:ext cx="5785485" cy="147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87295" algn="l" rtl="0" eaLnBrk="0">
              <a:lnSpc>
                <a:spcPct val="72000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900" kern="0" spc="2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Members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22195" algn="l" rtl="0" eaLnBrk="0">
              <a:lnSpc>
                <a:spcPct val="97000"/>
              </a:lnSpc>
              <a:spcBef>
                <a:spcPts val="184"/>
              </a:spcBef>
              <a:tabLst/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生物系统工程与食品科学学院</a:t>
            </a:r>
            <a:endParaRPr sz="600" dirty="0">
              <a:latin typeface="PingFang SC"/>
              <a:ea typeface="PingFang SC"/>
              <a:cs typeface="PingFang SC"/>
            </a:endParaRPr>
          </a:p>
          <a:p>
            <a:pPr marL="2720340" algn="l" rtl="0" eaLnBrk="0">
              <a:lnSpc>
                <a:spcPct val="97000"/>
              </a:lnSpc>
              <a:spcBef>
                <a:spcPts val="99"/>
              </a:spcBef>
              <a:tabLst/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浙江大学</a:t>
            </a:r>
            <a:endParaRPr sz="6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81250" algn="l" rtl="0" eaLnBrk="0">
              <a:lnSpc>
                <a:spcPct val="92000"/>
              </a:lnSpc>
              <a:spcBef>
                <a:spcPts val="278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9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spcBef>
                <a:spcPts val="218"/>
              </a:spcBef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28"/>
              </a:lnSpc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</a:t>
            </a:r>
            <a:r>
              <a:rPr sz="4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Salmonella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Gompertz  Model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309193" y="655637"/>
            <a:ext cx="5142230" cy="8966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9570" algn="l" rtl="0" eaLnBrk="0">
              <a:lnSpc>
                <a:spcPct val="81000"/>
              </a:lnSpc>
              <a:tabLst/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Predictive</a:t>
            </a:r>
            <a:r>
              <a:rPr sz="1400" kern="0" spc="2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Modeling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i="1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Salmonella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i="1" kern="0" spc="-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enteritidis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Growth  Und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er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705610" algn="l" rtl="0" eaLnBrk="0">
              <a:lnSpc>
                <a:spcPct val="80000"/>
              </a:lnSpc>
              <a:spcBef>
                <a:spcPts val="434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Sinusoidal</a:t>
            </a:r>
            <a:r>
              <a:rPr sz="1400" kern="0" spc="2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Temperature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85215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Modified</a:t>
            </a:r>
            <a:r>
              <a:rPr sz="900" kern="0" spc="1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</a:t>
            </a:r>
            <a:r>
              <a:rPr sz="900" kern="0" spc="2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900" kern="0" spc="1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900" kern="0" spc="1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OLS</a:t>
            </a:r>
            <a:r>
              <a:rPr sz="900" kern="0" spc="2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</a:t>
            </a:r>
            <a:r>
              <a:rPr sz="900" kern="0" spc="2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Estimation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rect 18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rect 20"/>
          <p:cNvSpPr/>
          <p:nvPr/>
        </p:nvSpPr>
        <p:spPr>
          <a:xfrm>
            <a:off x="4608017" y="25"/>
            <a:ext cx="77757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textbox 22"/>
          <p:cNvSpPr/>
          <p:nvPr/>
        </p:nvSpPr>
        <p:spPr>
          <a:xfrm>
            <a:off x="101437" y="-12674"/>
            <a:ext cx="567182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201000"/>
              </a:lnSpc>
              <a:tabLst/>
            </a:pPr>
            <a:r>
              <a:rPr sz="400" kern="0" spc="6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ion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Results   Model  Diagnostics   Optimal  Experimental  D</a:t>
            </a:r>
            <a:r>
              <a:rPr sz="400" u="sng" kern="0" spc="5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                                         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534802" y="38725"/>
            <a:ext cx="110990" cy="4352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534183" y="25228"/>
            <a:ext cx="70353" cy="2771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519263" y="51260"/>
            <a:ext cx="99632" cy="958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507180" y="141857"/>
            <a:ext cx="126048" cy="40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19160" y="25"/>
            <a:ext cx="837158" cy="21242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896576" y="90378"/>
            <a:ext cx="54309" cy="61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38" name="rect 38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rect 40"/>
          <p:cNvSpPr/>
          <p:nvPr/>
        </p:nvSpPr>
        <p:spPr>
          <a:xfrm>
            <a:off x="390893" y="654495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rect 42"/>
          <p:cNvSpPr/>
          <p:nvPr/>
        </p:nvSpPr>
        <p:spPr>
          <a:xfrm>
            <a:off x="390893" y="873278"/>
            <a:ext cx="88480" cy="88481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rect 44"/>
          <p:cNvSpPr/>
          <p:nvPr/>
        </p:nvSpPr>
        <p:spPr>
          <a:xfrm>
            <a:off x="390893" y="1092048"/>
            <a:ext cx="88480" cy="88481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rect 46"/>
          <p:cNvSpPr/>
          <p:nvPr/>
        </p:nvSpPr>
        <p:spPr>
          <a:xfrm>
            <a:off x="390893" y="1310831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rect 48"/>
          <p:cNvSpPr/>
          <p:nvPr/>
        </p:nvSpPr>
        <p:spPr>
          <a:xfrm>
            <a:off x="390893" y="1529601"/>
            <a:ext cx="88480" cy="88481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rect 50"/>
          <p:cNvSpPr/>
          <p:nvPr/>
        </p:nvSpPr>
        <p:spPr>
          <a:xfrm>
            <a:off x="390893" y="1748384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rect 52"/>
          <p:cNvSpPr/>
          <p:nvPr/>
        </p:nvSpPr>
        <p:spPr>
          <a:xfrm>
            <a:off x="390893" y="1967167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rect 54"/>
          <p:cNvSpPr/>
          <p:nvPr/>
        </p:nvSpPr>
        <p:spPr>
          <a:xfrm>
            <a:off x="390893" y="2185938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rect 56"/>
          <p:cNvSpPr/>
          <p:nvPr/>
        </p:nvSpPr>
        <p:spPr>
          <a:xfrm>
            <a:off x="390893" y="2404720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rect 58"/>
          <p:cNvSpPr/>
          <p:nvPr/>
        </p:nvSpPr>
        <p:spPr>
          <a:xfrm>
            <a:off x="390893" y="2623503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rect 60"/>
          <p:cNvSpPr/>
          <p:nvPr/>
        </p:nvSpPr>
        <p:spPr>
          <a:xfrm>
            <a:off x="390893" y="2842273"/>
            <a:ext cx="88480" cy="8848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rect 62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rect 64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rect 66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textbox 68"/>
          <p:cNvSpPr/>
          <p:nvPr/>
        </p:nvSpPr>
        <p:spPr>
          <a:xfrm>
            <a:off x="378193" y="568528"/>
            <a:ext cx="5338445" cy="2672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57"/>
              </a:lnSpc>
              <a:tabLst>
                <a:tab pos="41275" algn="l"/>
              </a:tabLst>
            </a:pP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6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Introducti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on</a:t>
            </a:r>
            <a:r>
              <a:rPr sz="900" kern="0" spc="1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Background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Descrip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tion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900" kern="0" spc="17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Overview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556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 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Forward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Proble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  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Parameter</a:t>
            </a:r>
            <a:r>
              <a:rPr sz="900" kern="0" spc="1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Select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ion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OLS</a:t>
            </a:r>
            <a:r>
              <a:rPr sz="900" kern="0" spc="21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Results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  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Diagnost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ics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  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Optimal</a:t>
            </a:r>
            <a:r>
              <a:rPr sz="900" kern="0" spc="21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Experimental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Design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3683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  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Bootstrapping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2032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 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Conclusions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20320" algn="l" rtl="0" eaLnBrk="0">
              <a:lnSpc>
                <a:spcPts val="1457"/>
              </a:lnSpc>
              <a:spcBef>
                <a:spcPts val="265"/>
              </a:spcBef>
              <a:tabLst/>
            </a:pPr>
            <a:r>
              <a:rPr sz="6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 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003F88"/>
                      <wpsdc:folHlinkClr xmlns:wpsdc="http://www.wps.cn/officeDocument/2017/drawingmlCustomData" val="003F88"/>
                      <wpsdc:hlinkUnderline xmlns:wpsdc="http://www.wps.cn/officeDocument/2017/drawingmlCustomData" val="0"/>
                    </a:ext>
                  </a:extLst>
                </a:hlinkClick>
              </a:rPr>
              <a:t>References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3720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Salm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5785485" cy="292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69875" algn="l" rtl="0" eaLnBrk="0">
                <a:lnSpc>
                  <a:spcPct val="85000"/>
                </a:lnSpc>
                <a:spcBef>
                  <a:spcPts val="1"/>
                </a:spcBef>
                <a:tabLst/>
              </a:pPr>
              <a:r>
                <a:rPr sz="1400" kern="0" spc="-6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目录</a:t>
              </a:r>
              <a:endParaRPr sz="1400" dirty="0">
                <a:latin typeface="PingFang SC"/>
                <a:ea typeface="PingFang SC"/>
                <a:cs typeface="PingFang SC"/>
              </a:endParaRPr>
            </a:p>
          </p:txBody>
        </p:sp>
      </p:grpSp>
      <p:sp>
        <p:nvSpPr>
          <p:cNvPr id="74" name="rect 74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rect 76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rect 78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rect 80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rect 82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86" name="rect 86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102" name="picture 102">
            <a:hlinkClick r:id="rId23" tooltip="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309193" y="1785049"/>
            <a:ext cx="5146536" cy="572656"/>
            <a:chOff x="0" y="0"/>
            <a:chExt cx="5146536" cy="572656"/>
          </a:xfrm>
        </p:grpSpPr>
        <p:pic>
          <p:nvPicPr>
            <p:cNvPr id="106" name="picture 1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146536" cy="572656"/>
            </a:xfrm>
            <a:prstGeom prst="rect">
              <a:avLst/>
            </a:prstGeom>
          </p:spPr>
        </p:pic>
        <p:sp>
          <p:nvSpPr>
            <p:cNvPr id="108" name="textbox 108"/>
            <p:cNvSpPr/>
            <p:nvPr/>
          </p:nvSpPr>
          <p:spPr>
            <a:xfrm>
              <a:off x="-12700" y="-12700"/>
              <a:ext cx="5172075" cy="6013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1120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Objective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67310" indent="6985" algn="l" rtl="0" eaLnBrk="0">
                <a:lnSpc>
                  <a:spcPct val="105000"/>
                </a:lnSpc>
                <a:spcBef>
                  <a:spcPts val="3"/>
                </a:spcBef>
                <a:tabLst/>
              </a:pP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Use</a:t>
              </a:r>
              <a:r>
                <a:rPr sz="900" kern="0" spc="1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modified</a:t>
              </a:r>
              <a:r>
                <a:rPr sz="900" kern="0" spc="1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Gom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pertz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to</a:t>
              </a:r>
              <a:r>
                <a:rPr sz="900" kern="0" spc="18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predict</a:t>
              </a: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i="1" kern="0" spc="3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Salmonella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growth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under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sinusoidal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heating,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estimate</a:t>
              </a:r>
              <a:r>
                <a:rPr sz="900" kern="0" spc="18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parameters</a:t>
              </a:r>
              <a:r>
                <a:rPr sz="900" kern="0" spc="1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ia</a:t>
              </a: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OLS,</a:t>
              </a: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and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evaluate</a:t>
              </a:r>
              <a:r>
                <a:rPr sz="900" kern="0" spc="1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adequacy.</a:t>
              </a:r>
              <a:endParaRPr sz="9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10" name="textbox 110"/>
          <p:cNvSpPr/>
          <p:nvPr/>
        </p:nvSpPr>
        <p:spPr>
          <a:xfrm>
            <a:off x="480783" y="1047941"/>
            <a:ext cx="4076065" cy="54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3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7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Salmonella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enteritid</a:t>
            </a:r>
            <a:r>
              <a:rPr sz="900" i="1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major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foodborne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pathogen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egg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products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6000"/>
              </a:lnSpc>
              <a:spcBef>
                <a:spcPts val="415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Temperature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fluctuations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during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storage/transport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affect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microbial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growth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Reference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Gumudavelli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(2007),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J.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Food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Sci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72:M254–62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[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Introduction</a:t>
              </a:r>
              <a:r>
                <a:rPr sz="1400" kern="0" spc="1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&amp;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Backgro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und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16" name="rect 116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rect 118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rect 120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rect 122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rect 124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128" name="rect 128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textbox 130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Background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sp>
        <p:nvSpPr>
          <p:cNvPr id="140" name="rect 140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rect 142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rect 144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textbox 148"/>
          <p:cNvSpPr/>
          <p:nvPr/>
        </p:nvSpPr>
        <p:spPr>
          <a:xfrm>
            <a:off x="919813" y="3144826"/>
            <a:ext cx="4796790" cy="95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Salm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154" name="picture 154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158" name="rect 158"/>
          <p:cNvSpPr/>
          <p:nvPr/>
        </p:nvSpPr>
        <p:spPr>
          <a:xfrm>
            <a:off x="3456038" y="3148737"/>
            <a:ext cx="2303919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rect 160"/>
          <p:cNvSpPr/>
          <p:nvPr/>
        </p:nvSpPr>
        <p:spPr>
          <a:xfrm>
            <a:off x="0" y="3148737"/>
            <a:ext cx="3456038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-12700" y="2265745"/>
            <a:ext cx="5785485" cy="979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6094" algn="l" rtl="0" eaLnBrk="0">
              <a:lnSpc>
                <a:spcPts val="1301"/>
              </a:lnSpc>
              <a:tabLst/>
            </a:pPr>
            <a:r>
              <a:rPr sz="1500" kern="0" spc="50" baseline="20248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Dependent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variable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log</a:t>
            </a:r>
            <a:r>
              <a:rPr sz="1000" kern="0" spc="40" baseline="-608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N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—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log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microbial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concentration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(log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cfu/mL)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506094" algn="l" rtl="0" eaLnBrk="0">
              <a:lnSpc>
                <a:spcPct val="96000"/>
              </a:lnSpc>
              <a:spcBef>
                <a:spcPts val="190"/>
              </a:spcBef>
              <a:tabLst/>
            </a:pPr>
            <a:r>
              <a:rPr sz="1500" kern="0" spc="4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Independent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variable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—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(hr)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spcBef>
                <a:spcPts val="217"/>
              </a:spcBef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28"/>
              </a:lnSpc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Salmonella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309193" y="905777"/>
            <a:ext cx="5146536" cy="590995"/>
            <a:chOff x="0" y="0"/>
            <a:chExt cx="5146536" cy="590995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5146536" cy="590995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5172075" cy="616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6835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Primary</a:t>
              </a:r>
              <a:r>
                <a:rPr sz="1100" kern="0" spc="2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1100" kern="0" spc="20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(differential</a:t>
              </a:r>
              <a:r>
                <a:rPr sz="1100" kern="0" spc="1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for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m)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67204" algn="l" rtl="0" eaLnBrk="0">
                <a:lnSpc>
                  <a:spcPts val="1194"/>
                </a:lnSpc>
                <a:spcBef>
                  <a:spcPts val="7"/>
                </a:spcBef>
                <a:tabLst>
                  <a:tab pos="1806575" algn="l"/>
                </a:tabLst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	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50" baseline="-21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K</a:t>
              </a:r>
              <a:r>
                <a:rPr sz="900" kern="0" spc="-9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</a:t>
              </a:r>
              <a:r>
                <a:rPr sz="900" kern="0" spc="1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50" baseline="-21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900" kern="0" spc="-9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(−</a:t>
              </a:r>
              <a:r>
                <a:rPr sz="1500" i="1" kern="0" spc="50" baseline="-21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K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),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</a:t>
              </a:r>
              <a:r>
                <a:rPr sz="1500" i="1" kern="0" spc="50" baseline="-211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K</a:t>
              </a:r>
              <a:r>
                <a:rPr sz="900" kern="0" spc="-6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5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1500" kern="0" spc="50" baseline="18725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(−μ(</a:t>
              </a:r>
              <a:r>
                <a:rPr sz="1500" i="1" kern="0" spc="50" baseline="18725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50" baseline="18725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−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40" baseline="18725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M</a:t>
              </a:r>
              <a:r>
                <a:rPr sz="1500" kern="0" spc="40" baseline="18725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))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                </a:t>
              </a:r>
              <a:r>
                <a:rPr sz="1500" kern="0" spc="40" baseline="-2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(1)</a:t>
              </a:r>
              <a:endParaRPr sz="1500" baseline="-2110" dirty="0">
                <a:latin typeface="Times New Roman"/>
                <a:ea typeface="Times New Roman"/>
                <a:cs typeface="Times New Roman"/>
              </a:endParaRPr>
            </a:p>
          </p:txBody>
        </p:sp>
        <p:pic>
          <p:nvPicPr>
            <p:cNvPr id="174" name="picture 17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132243" y="283709"/>
              <a:ext cx="622585" cy="262728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21600000">
            <a:off x="309193" y="1623289"/>
            <a:ext cx="5146536" cy="512864"/>
            <a:chOff x="0" y="0"/>
            <a:chExt cx="5146536" cy="512864"/>
          </a:xfrm>
        </p:grpSpPr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5146536" cy="512864"/>
            </a:xfrm>
            <a:prstGeom prst="rect">
              <a:avLst/>
            </a:prstGeom>
          </p:spPr>
        </p:pic>
        <p:sp>
          <p:nvSpPr>
            <p:cNvPr id="178" name="textbox 178"/>
            <p:cNvSpPr/>
            <p:nvPr/>
          </p:nvSpPr>
          <p:spPr>
            <a:xfrm>
              <a:off x="-12700" y="-12700"/>
              <a:ext cx="5172075" cy="538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9850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100" kern="0" spc="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Secondary</a:t>
              </a:r>
              <a:r>
                <a:rPr sz="1100" kern="0" spc="2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1100" kern="0" spc="2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(growth</a:t>
              </a:r>
              <a:r>
                <a:rPr sz="1100" kern="0" spc="2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ra</a:t>
              </a:r>
              <a:r>
                <a:rPr sz="1100" kern="0" spc="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te</a:t>
              </a:r>
              <a:r>
                <a:rPr sz="1100" kern="0" spc="1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vs.</a:t>
              </a:r>
              <a:r>
                <a:rPr sz="1100" kern="0" spc="1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100" kern="0" spc="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temperature)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57960" algn="l" rtl="0" eaLnBrk="0">
                <a:lnSpc>
                  <a:spcPts val="1282"/>
                </a:lnSpc>
                <a:spcBef>
                  <a:spcPts val="3"/>
                </a:spcBef>
                <a:tabLst/>
              </a:pP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μ</a:t>
              </a: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  <a:r>
                <a:rPr sz="900" kern="0" spc="1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7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a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  <a:r>
                <a:rPr sz="1500" i="1" kern="0" spc="7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900" kern="0" spc="-8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−</a:t>
              </a:r>
              <a:r>
                <a:rPr sz="900" kern="0" spc="1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1000" kern="0" spc="0" baseline="-20416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min</a:t>
              </a:r>
              <a:r>
                <a:rPr sz="6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  <a:r>
                <a:rPr sz="1000" kern="0" spc="70" baseline="31672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r>
                <a:rPr sz="6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70" baseline="28059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(1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70" baseline="28059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−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[</a:t>
              </a:r>
              <a:r>
                <a:rPr sz="1500" i="1" kern="0" spc="7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b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  <a:r>
                <a:rPr sz="1500" i="1" kern="0" spc="7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900" kern="0" spc="-9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−</a:t>
              </a:r>
              <a:r>
                <a:rPr sz="900" kern="0" spc="1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i="1" kern="0" spc="0" baseline="-3193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1000" kern="0" spc="0" baseline="-20416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max</a:t>
              </a:r>
              <a:r>
                <a:rPr sz="6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500" kern="0" spc="70" baseline="17642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)])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                           </a:t>
              </a:r>
              <a:r>
                <a:rPr sz="1500" kern="0" spc="70" baseline="-3193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(2)</a:t>
              </a:r>
              <a:endParaRPr sz="1500" baseline="-3193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634" algn="l" rtl="0" eaLnBrk="0">
                <a:lnSpc>
                  <a:spcPct val="78000"/>
                </a:lnSpc>
                <a:spcBef>
                  <a:spcPts val="3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1400" kern="0" spc="30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Description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84" name="rect 184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rect 186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rect 188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rect 190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194" name="rect 194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6" name="rect 196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" name="textbox 198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Model  Description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graphicFrame>
        <p:nvGraphicFramePr>
          <p:cNvPr id="210" name="table 210"/>
          <p:cNvGraphicFramePr>
            <a:graphicFrameLocks noGrp="1"/>
          </p:cNvGraphicFramePr>
          <p:nvPr/>
        </p:nvGraphicFramePr>
        <p:xfrm>
          <a:off x="694105" y="1123613"/>
          <a:ext cx="4371340" cy="1115695"/>
        </p:xfrm>
        <a:graphic>
          <a:graphicData uri="http://schemas.openxmlformats.org/drawingml/2006/table">
            <a:tbl>
              <a:tblPr/>
              <a:tblGrid>
                <a:gridCol w="612775"/>
                <a:gridCol w="485140"/>
                <a:gridCol w="1670685"/>
                <a:gridCol w="634365"/>
                <a:gridCol w="968375"/>
              </a:tblGrid>
              <a:tr h="192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Parameter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Symbol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Description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Units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Initial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Guess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i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Initial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microbial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number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cfu/mL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</a:t>
                      </a:r>
                      <a:r>
                        <a:rPr sz="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(400)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2.60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5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i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Upper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lower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asymptote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difference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9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cfu/mL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48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05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1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24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60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9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i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48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Inflection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point time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13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hr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036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7.5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115" algn="l" rtl="0" eaLnBrk="0">
                        <a:lnSpc>
                          <a:spcPts val="46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ts val="46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Secondary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model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coeﬀicient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900" kern="0" spc="90" baseline="1157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kern="0" spc="90" baseline="-868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r>
                        <a:rPr sz="900" kern="0" spc="90" baseline="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200" kern="0" spc="0" baseline="-868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hr</a:t>
                      </a:r>
                      <a:r>
                        <a:rPr sz="900" kern="0" spc="90" baseline="1736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</a:t>
                      </a:r>
                      <a:endParaRPr sz="900" baseline="17362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0.000338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33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Secondary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model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coeﬀicient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900" kern="0" spc="80" baseline="1157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kern="0" spc="80" baseline="-1302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r>
                        <a:rPr sz="900" kern="0" spc="80" baseline="1157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</a:t>
                      </a:r>
                      <a:endParaRPr sz="900" baseline="11575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0.275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065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96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Minimum g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rowth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temperature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90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162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900" kern="0" spc="50" baseline="23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kern="0" spc="50" baseline="-4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1200" baseline="-434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228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80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900" kern="0" spc="80" baseline="-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</a:t>
                      </a:r>
                      <a:endParaRPr sz="900" baseline="-5787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810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900" kern="0" spc="80" baseline="-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</a:t>
                      </a:r>
                      <a:endParaRPr sz="900" baseline="-5787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Maximum growth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temperature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3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162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900" kern="0" spc="50" baseline="23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kern="0" spc="50" baseline="-4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1200" baseline="-434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46.3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212" name="picture 2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214" name="textbox 214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634" algn="l" rtl="0" eaLnBrk="0">
                <a:lnSpc>
                  <a:spcPct val="79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Model</a:t>
              </a:r>
              <a:r>
                <a:rPr sz="1400" kern="0" spc="2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Description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—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  <a:r>
                <a:rPr sz="1400" kern="0" spc="2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Parameters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216" name="rect 216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rect 218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rect 220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224" name="rect 224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rect 226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8" name="rect 228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" name="textbox 230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4000"/>
              </a:lnSpc>
              <a:tabLst/>
            </a:pP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6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4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Description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Forward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Problem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Parameter</a:t>
            </a:r>
            <a:r>
              <a:rPr sz="400" kern="0" spc="8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OLS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Results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Diagnostics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Optimal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Experimental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</a:t>
            </a:r>
            <a:r>
              <a:rPr sz="400" u="sng" kern="0" spc="3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400" u="sng" kern="0" spc="3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ng   Conc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lusions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</a:t>
            </a:r>
            <a:endParaRPr sz="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76529" y="25228"/>
            <a:ext cx="70353" cy="27715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96646" y="141857"/>
            <a:ext cx="126048" cy="40524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85822" y="43568"/>
            <a:ext cx="29806" cy="52952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63239" y="90378"/>
            <a:ext cx="54309" cy="61708"/>
          </a:xfrm>
          <a:prstGeom prst="rect">
            <a:avLst/>
          </a:prstGeom>
        </p:spPr>
      </p:pic>
      <p:sp>
        <p:nvSpPr>
          <p:cNvPr id="240" name="rect 240"/>
          <p:cNvSpPr/>
          <p:nvPr/>
        </p:nvSpPr>
        <p:spPr>
          <a:xfrm>
            <a:off x="3456038" y="3148736"/>
            <a:ext cx="1958378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rect 242"/>
          <p:cNvSpPr/>
          <p:nvPr/>
        </p:nvSpPr>
        <p:spPr>
          <a:xfrm>
            <a:off x="0" y="3148736"/>
            <a:ext cx="2016036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rect 244"/>
          <p:cNvSpPr/>
          <p:nvPr/>
        </p:nvSpPr>
        <p:spPr>
          <a:xfrm>
            <a:off x="2016036" y="3148736"/>
            <a:ext cx="1440002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rect 246"/>
          <p:cNvSpPr/>
          <p:nvPr/>
        </p:nvSpPr>
        <p:spPr>
          <a:xfrm>
            <a:off x="5414416" y="3148736"/>
            <a:ext cx="345541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textbox 248"/>
          <p:cNvSpPr/>
          <p:nvPr/>
        </p:nvSpPr>
        <p:spPr>
          <a:xfrm>
            <a:off x="919813" y="3144825"/>
            <a:ext cx="4796790" cy="95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tabLst/>
            </a:pP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2026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4</a:t>
            </a:r>
            <a:r>
              <a:rPr sz="4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14</a:t>
            </a:r>
            <a:r>
              <a:rPr sz="400" kern="0" spc="1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almonella</a:t>
            </a:r>
            <a:r>
              <a:rPr sz="4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Gompertz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Model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4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18</a:t>
            </a:r>
            <a:endParaRPr sz="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254" name="picture 254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5196" y="889430"/>
            <a:ext cx="2671200" cy="1610629"/>
          </a:xfrm>
          <a:prstGeom prst="rect">
            <a:avLst/>
          </a:prstGeom>
        </p:spPr>
      </p:pic>
      <p:sp>
        <p:nvSpPr>
          <p:cNvPr id="260" name="rect 260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rect 262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" name="rect 264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rect 266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8" name="textbox 268"/>
          <p:cNvSpPr/>
          <p:nvPr/>
        </p:nvSpPr>
        <p:spPr>
          <a:xfrm>
            <a:off x="919813" y="2593184"/>
            <a:ext cx="4796790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45995" algn="l" rtl="0" eaLnBrk="0">
              <a:lnSpc>
                <a:spcPts val="1015"/>
              </a:lnSpc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Dual-axis: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log</a:t>
            </a:r>
            <a:r>
              <a:rPr sz="900" kern="0" spc="30" baseline="-878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800" i="1" kern="0" spc="3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N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 </a:t>
            </a:r>
            <a:r>
              <a:rPr sz="800" i="1" kern="0" spc="3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T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Salm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270" name="picture 2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272" name="textbox 272"/>
            <p:cNvSpPr/>
            <p:nvPr/>
          </p:nvSpPr>
          <p:spPr>
            <a:xfrm>
              <a:off x="-12700" y="-12700"/>
              <a:ext cx="5785485" cy="3098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72000"/>
                </a:lnSpc>
                <a:spcBef>
                  <a:spcPts val="4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Data</a:t>
              </a:r>
              <a:r>
                <a:rPr sz="1400" kern="0" spc="2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Overview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274" name="textbox 274"/>
          <p:cNvSpPr/>
          <p:nvPr/>
        </p:nvSpPr>
        <p:spPr>
          <a:xfrm>
            <a:off x="394397" y="797714"/>
            <a:ext cx="1884679" cy="843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2240" indent="-129540" algn="l" rtl="0" eaLnBrk="0">
              <a:lnSpc>
                <a:spcPct val="104000"/>
              </a:lnSpc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Growth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data:  log</a:t>
            </a:r>
            <a:r>
              <a:rPr sz="1000" kern="0" spc="50" baseline="-2083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(CFU/mL)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multiple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points,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n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42240" indent="-129540" algn="l" rtl="0" eaLnBrk="0">
              <a:lnSpc>
                <a:spcPct val="102000"/>
              </a:lnSpc>
              <a:spcBef>
                <a:spcPts val="348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Temperature: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sinusoidal  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recorded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every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minute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Two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independent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vectors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6" name="rect 276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" name="rect 278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" name="rect 280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" name="rect 282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" name="rect 284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288" name="rect 288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textbox 290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Overview 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304" name="picture 304">
            <a:hlinkClick r:id="rId15" tooltip="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308" name="rect 308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0" name="rect 310"/>
          <p:cNvSpPr/>
          <p:nvPr/>
        </p:nvSpPr>
        <p:spPr>
          <a:xfrm>
            <a:off x="0" y="3148737"/>
            <a:ext cx="3456038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2" name="textbox 312"/>
          <p:cNvSpPr/>
          <p:nvPr/>
        </p:nvSpPr>
        <p:spPr>
          <a:xfrm>
            <a:off x="-12700" y="731217"/>
            <a:ext cx="5785485" cy="2520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4195" indent="-124460" algn="l" rtl="0" eaLnBrk="0">
              <a:lnSpc>
                <a:spcPct val="106000"/>
              </a:lnSpc>
              <a:tabLst/>
            </a:pPr>
            <a:r>
              <a:rPr sz="1500" kern="0" spc="4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guesses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                  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literature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(Gumu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davelli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al.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                 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2007)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419735" algn="l" rtl="0" eaLnBrk="0">
              <a:lnSpc>
                <a:spcPct val="85000"/>
              </a:lnSpc>
              <a:spcBef>
                <a:spcPts val="353"/>
              </a:spcBef>
              <a:tabLst/>
            </a:pPr>
            <a:r>
              <a:rPr sz="1500" kern="0" spc="3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ODE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solved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ode45</a:t>
            </a:r>
            <a:endParaRPr sz="900" dirty="0">
              <a:latin typeface="Courier New"/>
              <a:ea typeface="Courier New"/>
              <a:cs typeface="Courier New"/>
            </a:endParaRPr>
          </a:p>
          <a:p>
            <a:pPr marL="548640" indent="-128904" algn="l" rtl="0" eaLnBrk="0">
              <a:lnSpc>
                <a:spcPct val="104000"/>
              </a:lnSpc>
              <a:spcBef>
                <a:spcPts val="492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Temperature</a:t>
            </a:r>
            <a:r>
              <a:rPr sz="9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interpolated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via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              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interp1</a:t>
            </a:r>
            <a:endParaRPr sz="9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49600" algn="l" rtl="0" eaLnBrk="0">
              <a:lnSpc>
                <a:spcPct val="85000"/>
              </a:lnSpc>
              <a:spcBef>
                <a:spcPts val="242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Initial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guess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obser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ved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spcBef>
                <a:spcPts val="215"/>
              </a:spcBef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34"/>
              </a:lnSpc>
              <a:spcBef>
                <a:spcPts val="1"/>
              </a:spcBef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  18 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04357" y="3126562"/>
            <a:ext cx="795718" cy="105232"/>
          </a:xfrm>
          <a:prstGeom prst="rect">
            <a:avLst/>
          </a:prstGeom>
        </p:spPr>
      </p:pic>
      <p:pic>
        <p:nvPicPr>
          <p:cNvPr id="316" name="picture 3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563177" y="828673"/>
            <a:ext cx="2923216" cy="1762585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324" name="picture 3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326" name="textbox 326"/>
            <p:cNvSpPr/>
            <p:nvPr/>
          </p:nvSpPr>
          <p:spPr>
            <a:xfrm>
              <a:off x="-12700" y="-12700"/>
              <a:ext cx="5785485" cy="313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72000"/>
                </a:lnSpc>
                <a:spcBef>
                  <a:spcPts val="6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Forward</a:t>
              </a:r>
              <a:r>
                <a:rPr sz="1400" kern="0" spc="3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Problem</a:t>
              </a:r>
              <a:r>
                <a:rPr sz="1400" kern="0" spc="1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—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Initial</a:t>
              </a:r>
              <a:r>
                <a:rPr sz="1400" kern="0" spc="2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Guess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328" name="rect 328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rect 330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rect 332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336" name="rect 336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8" name="rect 338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0" name="rect 340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textbox 342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Forward  Problem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4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3456038" y="3148737"/>
            <a:ext cx="1958975" cy="9144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42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Salmonella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tz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99526" y="750912"/>
            <a:ext cx="3245746" cy="1957058"/>
          </a:xfrm>
          <a:prstGeom prst="rect">
            <a:avLst/>
          </a:prstGeom>
        </p:spPr>
      </p:pic>
      <p:sp>
        <p:nvSpPr>
          <p:cNvPr id="358" name="rect 358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0" name="rect 360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rect 362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rect 364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textbox 366"/>
          <p:cNvSpPr/>
          <p:nvPr/>
        </p:nvSpPr>
        <p:spPr>
          <a:xfrm>
            <a:off x="919813" y="2798477"/>
            <a:ext cx="4796790" cy="441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47240" algn="l" rtl="0" eaLnBrk="0">
              <a:lnSpc>
                <a:spcPct val="87000"/>
              </a:lnSpc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SSC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ll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parameters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Salm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368" name="picture 3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370" name="textbox 370"/>
            <p:cNvSpPr/>
            <p:nvPr/>
          </p:nvSpPr>
          <p:spPr>
            <a:xfrm>
              <a:off x="-12700" y="-12700"/>
              <a:ext cx="5785485" cy="293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45109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SSC</a:t>
              </a:r>
              <a:r>
                <a:rPr sz="1400" kern="0" spc="1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Analysis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—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All</a:t>
              </a:r>
              <a:r>
                <a:rPr sz="1400" kern="0" spc="1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Parameters</a:t>
              </a:r>
              <a:r>
                <a:rPr sz="1400" kern="0" spc="2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(Ste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1)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372" name="rect 372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503631" y="869817"/>
          <a:ext cx="950595" cy="953770"/>
        </p:xfrm>
        <a:graphic>
          <a:graphicData uri="http://schemas.openxmlformats.org/drawingml/2006/table">
            <a:tbl>
              <a:tblPr/>
              <a:tblGrid>
                <a:gridCol w="404495"/>
                <a:gridCol w="546100"/>
              </a:tblGrid>
              <a:tr h="1733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Max|SSC|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720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40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2.61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5.11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8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5.45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ts val="35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40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2.20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5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0.88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85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5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000" i="1" kern="0" spc="130" baseline="520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5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0.83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58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600" i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700" kern="0" spc="130" baseline="-744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</a:t>
                      </a:r>
                      <a:endParaRPr sz="700" baseline="-744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26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40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9.02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6" name="rect 376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rect 378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0" name="rect 380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rect 382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386" name="rect 386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8" name="textbox 388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Parameter</a:t>
            </a:r>
            <a:r>
              <a:rPr sz="400" kern="0" spc="1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Selection 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392" name="picture 3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396" name="picture 3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222808" y="2035467"/>
            <a:ext cx="1520499" cy="402095"/>
            <a:chOff x="0" y="0"/>
            <a:chExt cx="1520499" cy="402095"/>
          </a:xfrm>
        </p:grpSpPr>
        <p:pic>
          <p:nvPicPr>
            <p:cNvPr id="398" name="picture 39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520499" cy="402095"/>
            </a:xfrm>
            <a:prstGeom prst="rect">
              <a:avLst/>
            </a:prstGeom>
          </p:spPr>
        </p:pic>
        <p:sp>
          <p:nvSpPr>
            <p:cNvPr id="400" name="textbox 400"/>
            <p:cNvSpPr/>
            <p:nvPr/>
          </p:nvSpPr>
          <p:spPr>
            <a:xfrm>
              <a:off x="-12700" y="-12700"/>
              <a:ext cx="1546225" cy="429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1755" algn="l" rtl="0" eaLnBrk="0">
                <a:lnSpc>
                  <a:spcPct val="73000"/>
                </a:lnSpc>
                <a:spcBef>
                  <a:spcPts val="3"/>
                </a:spcBef>
                <a:tabLst/>
              </a:pPr>
              <a:r>
                <a:rPr sz="600" kern="0" spc="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Decision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74930" algn="l" rtl="0" eaLnBrk="0">
                <a:lnSpc>
                  <a:spcPct val="114000"/>
                </a:lnSpc>
                <a:tabLst/>
              </a:pPr>
              <a:r>
                <a:rPr sz="400" i="1" kern="0" spc="6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700" kern="0" spc="60" baseline="-14882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min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(0.83)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and</a:t>
              </a:r>
              <a:r>
                <a:rPr sz="4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400" i="1" kern="0" spc="6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b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(0.88):  lowest</a:t>
              </a:r>
              <a:r>
                <a:rPr sz="400" kern="0" spc="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SSC  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⇒</a:t>
              </a:r>
              <a:r>
                <a:rPr sz="400" kern="0" spc="70" dirty="0">
                  <a:solidFill>
                    <a:srgbClr val="000000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sz="400" b="1" kern="0" spc="6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fix</a:t>
              </a:r>
              <a:r>
                <a:rPr sz="4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: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</a:t>
              </a:r>
              <a:r>
                <a:rPr sz="400" i="1" kern="0" spc="9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T</a:t>
              </a:r>
              <a:r>
                <a:rPr sz="700" kern="0" spc="90" baseline="-14882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min</a:t>
              </a:r>
              <a:r>
                <a:rPr sz="4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= 6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00" kern="0" spc="90" baseline="29764" dirty="0">
                  <a:solidFill>
                    <a:srgbClr val="000000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。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C,</a:t>
              </a:r>
              <a:r>
                <a:rPr sz="4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400" i="1" kern="0" spc="9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b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  <a:r>
                <a:rPr sz="4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  <a:r>
                <a:rPr sz="400" kern="0" spc="-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400" kern="0" spc="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.275</a:t>
              </a:r>
              <a:r>
                <a:rPr sz="400" kern="0" spc="8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.</a:t>
              </a:r>
              <a:endParaRPr sz="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402" name="picture 40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404" name="picture 4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406" name="picture 406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268968" y="636965"/>
            <a:ext cx="45148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6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Max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</a:t>
            </a:r>
            <a:r>
              <a:rPr sz="6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SSC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 :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picture 4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412" name="rect 412"/>
          <p:cNvSpPr/>
          <p:nvPr/>
        </p:nvSpPr>
        <p:spPr>
          <a:xfrm>
            <a:off x="0" y="3148736"/>
            <a:ext cx="2016036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rect 414"/>
          <p:cNvSpPr/>
          <p:nvPr/>
        </p:nvSpPr>
        <p:spPr>
          <a:xfrm>
            <a:off x="2016036" y="3148736"/>
            <a:ext cx="1440002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6" name="rect 416"/>
          <p:cNvSpPr/>
          <p:nvPr/>
        </p:nvSpPr>
        <p:spPr>
          <a:xfrm>
            <a:off x="3456038" y="3148736"/>
            <a:ext cx="1958378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rect 418"/>
          <p:cNvSpPr/>
          <p:nvPr/>
        </p:nvSpPr>
        <p:spPr>
          <a:xfrm>
            <a:off x="5414416" y="3148736"/>
            <a:ext cx="345541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0" name="textbox 420"/>
          <p:cNvSpPr/>
          <p:nvPr/>
        </p:nvSpPr>
        <p:spPr>
          <a:xfrm>
            <a:off x="480783" y="2081873"/>
            <a:ext cx="5236210" cy="1158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indent="-127000" algn="l" rtl="0" eaLnBrk="0">
              <a:lnSpc>
                <a:spcPct val="106000"/>
              </a:lnSpc>
              <a:tabLst/>
            </a:pPr>
            <a:r>
              <a:rPr sz="1500" kern="0" spc="7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7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Direct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elimination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: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→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—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fix</a:t>
            </a:r>
            <a:r>
              <a:rPr sz="900" kern="0" spc="2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,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low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SSC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),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900" i="1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一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collinearity                     </a:t>
            </a:r>
            <a:r>
              <a:rPr sz="900" i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−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0.991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,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fix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literature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value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46.3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30" baseline="36461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C)</a:t>
            </a:r>
            <a:endParaRPr sz="900" dirty="0">
              <a:latin typeface="PingFang SC"/>
              <a:ea typeface="PingFang SC"/>
              <a:cs typeface="PingFang SC"/>
            </a:endParaRPr>
          </a:p>
          <a:p>
            <a:pPr marL="12700" algn="l" rtl="0" eaLnBrk="0">
              <a:lnSpc>
                <a:spcPct val="96000"/>
              </a:lnSpc>
              <a:spcBef>
                <a:spcPts val="300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Final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estimable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parameters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:</a:t>
            </a:r>
            <a:r>
              <a:rPr sz="900" kern="0" spc="2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7000"/>
              </a:lnSpc>
              <a:spcBef>
                <a:spcPts val="357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1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After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estimation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: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all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000" i="1" kern="0" spc="0" baseline="-15626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ij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0.60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,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cond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(J)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1.19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kern="0" spc="40" baseline="3646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≪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kern="0" spc="40" baseline="3646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000" baseline="36461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1485" algn="l" rtl="0" eaLnBrk="0">
              <a:lnSpc>
                <a:spcPts val="552"/>
              </a:lnSpc>
              <a:tabLst/>
            </a:pP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                  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2026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4</a:t>
            </a:r>
            <a:r>
              <a:rPr sz="4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14</a:t>
            </a:r>
            <a:r>
              <a:rPr sz="400" kern="0" spc="1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almonella</a:t>
            </a:r>
            <a:r>
              <a:rPr sz="400" kern="0" spc="1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Gompertz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Model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400" kern="0" spc="7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18</a:t>
            </a:r>
            <a:endParaRPr sz="400" dirty="0"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422" name="table 422"/>
          <p:cNvGraphicFramePr>
            <a:graphicFrameLocks noGrp="1"/>
          </p:cNvGraphicFramePr>
          <p:nvPr/>
        </p:nvGraphicFramePr>
        <p:xfrm>
          <a:off x="1001979" y="809606"/>
          <a:ext cx="3756025" cy="1110615"/>
        </p:xfrm>
        <a:graphic>
          <a:graphicData uri="http://schemas.openxmlformats.org/drawingml/2006/table">
            <a:tbl>
              <a:tblPr/>
              <a:tblGrid>
                <a:gridCol w="615315"/>
                <a:gridCol w="587375"/>
                <a:gridCol w="1080135"/>
                <a:gridCol w="807085"/>
                <a:gridCol w="666115"/>
              </a:tblGrid>
              <a:tr h="192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Parameter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Max|SSC|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3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Identifiable?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Action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Value</a:t>
                      </a:r>
                      <a:r>
                        <a:rPr sz="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Used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2.61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Yes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Estimate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OLS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result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5.11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Yes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Estimate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OLS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result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24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5.45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Yes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Estimate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OLS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result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5" algn="l" rtl="0" eaLnBrk="0">
                        <a:lnSpc>
                          <a:spcPts val="45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2.20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✓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Yes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Estimate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OLS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result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3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0.88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Low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SSC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Fix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(literatur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e)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30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" algn="l" rtl="0" eaLnBrk="0">
                        <a:lnSpc>
                          <a:spcPts val="963"/>
                        </a:lnSpc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0.275 </a:t>
                      </a:r>
                      <a:r>
                        <a:rPr sz="900" kern="0" spc="70" baseline="1981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r>
                        <a:rPr sz="900" kern="0" spc="70" baseline="2560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</a:t>
                      </a:r>
                      <a:endParaRPr sz="900" baseline="25602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700" i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0.83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86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</a:t>
                      </a:r>
                      <a:r>
                        <a:rPr sz="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Lowest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SSC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9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Fix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(literatur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e)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86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</a:t>
                      </a:r>
                      <a:r>
                        <a:rPr sz="900" kern="0" spc="40" baseline="2893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8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700" i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900" kern="0" spc="80" baseline="-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</a:t>
                      </a:r>
                      <a:endParaRPr sz="900" baseline="-5787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3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9.02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98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9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  <a:r>
                        <a:rPr sz="7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i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r>
                        <a:rPr sz="7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</a:t>
                      </a:r>
                      <a:r>
                        <a:rPr sz="700" i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</a:t>
                      </a:r>
                      <a:r>
                        <a:rPr sz="900" kern="0" spc="40" baseline="-578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collinear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21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Fix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(literatur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e)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98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8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46.3 </a:t>
                      </a:r>
                      <a:r>
                        <a:rPr sz="900" kern="0" spc="50" baseline="2893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◦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424" name="picture 4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426" name="textbox 426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81000"/>
                </a:lnSpc>
                <a:tabLst/>
              </a:pP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Parameter</a:t>
              </a:r>
              <a:r>
                <a:rPr sz="1400" kern="0" spc="1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Sel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ection</a:t>
              </a:r>
              <a:r>
                <a:rPr sz="1400" kern="0" spc="18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Summary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428" name="rect 428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rect 430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" name="rect 432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rect 434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6" name="rect 436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440" name="rect 440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2" name="textbox 442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4000"/>
              </a:lnSpc>
              <a:tabLst/>
            </a:pP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6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Description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Data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Forward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Problem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Parameter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Selection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OLS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Results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Diagnostics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Optimal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Experimental</a:t>
            </a:r>
            <a:r>
              <a:rPr sz="400" kern="0" spc="9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D</a:t>
            </a:r>
            <a:r>
              <a:rPr sz="400" u="sng" kern="0" spc="3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PingFang SC"/>
                <a:ea typeface="PingFang SC"/>
                <a:cs typeface="PingFang SC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400" u="sng" kern="0" spc="3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3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ng   Conc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lusions</a:t>
            </a:r>
            <a:r>
              <a:rPr sz="400" kern="0" spc="20" dirty="0">
                <a:solidFill>
                  <a:srgbClr val="80808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</a:t>
            </a:r>
            <a:endParaRPr sz="4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76529" y="25228"/>
            <a:ext cx="70353" cy="27715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96646" y="141857"/>
            <a:ext cx="126048" cy="40524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85822" y="43568"/>
            <a:ext cx="29806" cy="52952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63239" y="90378"/>
            <a:ext cx="54309" cy="61708"/>
          </a:xfrm>
          <a:prstGeom prst="rect">
            <a:avLst/>
          </a:prstGeom>
        </p:spPr>
      </p:pic>
      <p:pic>
        <p:nvPicPr>
          <p:cNvPr id="452" name="picture 4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456" name="picture 456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460" name="rect 460"/>
          <p:cNvSpPr/>
          <p:nvPr/>
        </p:nvSpPr>
        <p:spPr>
          <a:xfrm>
            <a:off x="0" y="3148736"/>
            <a:ext cx="3456038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2" name="rect 462"/>
          <p:cNvSpPr/>
          <p:nvPr/>
        </p:nvSpPr>
        <p:spPr>
          <a:xfrm>
            <a:off x="3456038" y="3148736"/>
            <a:ext cx="2303919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4" name="textbox 464"/>
          <p:cNvSpPr/>
          <p:nvPr/>
        </p:nvSpPr>
        <p:spPr>
          <a:xfrm>
            <a:off x="-12700" y="1906519"/>
            <a:ext cx="5785485" cy="1338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6094" algn="l" rtl="0" eaLnBrk="0">
              <a:lnSpc>
                <a:spcPct val="97000"/>
              </a:lnSpc>
              <a:tabLst/>
            </a:pPr>
            <a:r>
              <a:rPr sz="1500" kern="0" spc="7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7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Fixed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0" baseline="-1562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70" baseline="36461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C, 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0.275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0" baseline="-1562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46.3</a:t>
            </a:r>
            <a:r>
              <a:rPr sz="9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60" baseline="36461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literature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506094" algn="l" rtl="0" eaLnBrk="0">
              <a:lnSpc>
                <a:spcPct val="97000"/>
              </a:lnSpc>
              <a:spcBef>
                <a:spcPts val="360"/>
              </a:spcBef>
              <a:tabLst/>
            </a:pPr>
            <a:r>
              <a:rPr sz="1500" kern="0" spc="7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7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cond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(J)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1.19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× 10</a:t>
            </a:r>
            <a:r>
              <a:rPr sz="1000" kern="0" spc="70" baseline="3125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RMSE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 0.225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relRMSE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 3.72%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000" kern="0" spc="70" baseline="3125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0.989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506094" algn="l" rtl="0" eaLnBrk="0">
              <a:lnSpc>
                <a:spcPct val="100000"/>
              </a:lnSpc>
              <a:spcBef>
                <a:spcPts val="368"/>
              </a:spcBef>
              <a:tabLst/>
            </a:pPr>
            <a:r>
              <a:rPr sz="1500" kern="0" spc="8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8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|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000" i="1" kern="0" spc="0" baseline="-15626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ij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60: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collinearity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issues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spcBef>
                <a:spcPts val="222"/>
              </a:spcBef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28"/>
              </a:lnSpc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Salmonella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graphicFrame>
        <p:nvGraphicFramePr>
          <p:cNvPr id="472" name="table 472"/>
          <p:cNvGraphicFramePr>
            <a:graphicFrameLocks noGrp="1"/>
          </p:cNvGraphicFramePr>
          <p:nvPr/>
        </p:nvGraphicFramePr>
        <p:xfrm>
          <a:off x="1402283" y="1026649"/>
          <a:ext cx="2955290" cy="745489"/>
        </p:xfrm>
        <a:graphic>
          <a:graphicData uri="http://schemas.openxmlformats.org/drawingml/2006/table">
            <a:tbl>
              <a:tblPr/>
              <a:tblGrid>
                <a:gridCol w="437515"/>
                <a:gridCol w="560070"/>
                <a:gridCol w="614680"/>
                <a:gridCol w="470535"/>
                <a:gridCol w="872489"/>
              </a:tblGrid>
              <a:tr h="192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7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7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Estimate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  Err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7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95%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CI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i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ct val="7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2.352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7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0.138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7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5.9%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[2.059,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2.645]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25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700" i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11.197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0.370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16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3.3%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4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[10.41,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.98]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0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07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i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5.559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0.183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28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3.3%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7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[5.172,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5.946]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5" algn="l" rtl="0" eaLnBrk="0">
                        <a:lnSpc>
                          <a:spcPts val="46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7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0.000300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0.0000357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40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11.9%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99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[0.0002,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0.0004]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474" name="picture 4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476" name="textbox 476"/>
            <p:cNvSpPr/>
            <p:nvPr/>
          </p:nvSpPr>
          <p:spPr>
            <a:xfrm>
              <a:off x="-12700" y="-12700"/>
              <a:ext cx="5785485" cy="292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4701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OLS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Inverse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Problem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—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Final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Results</a:t>
              </a:r>
              <a:r>
                <a:rPr sz="1400" kern="0" spc="2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([</a:t>
              </a:r>
              <a:r>
                <a:rPr sz="1400" i="1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A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,</a:t>
              </a:r>
              <a:r>
                <a:rPr sz="1400" kern="0" spc="10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i="1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C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, </a:t>
              </a:r>
              <a:r>
                <a:rPr sz="1400" i="1" kern="0" spc="-2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M</a:t>
              </a: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, </a:t>
              </a:r>
              <a:r>
                <a:rPr sz="1400" i="1" kern="0" spc="-3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a</a:t>
              </a: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])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478" name="rect 478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rect 480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2" name="rect 482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4" name="rect 484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6" name="rect 486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88" name="picture 48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490" name="rect 490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2" name="textbox 492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OLS  Results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2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94" name="picture 4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picture 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504" name="picture 5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2009" y="653347"/>
            <a:ext cx="3275976" cy="1975286"/>
          </a:xfrm>
          <a:prstGeom prst="rect">
            <a:avLst/>
          </a:prstGeom>
        </p:spPr>
      </p:pic>
      <p:sp>
        <p:nvSpPr>
          <p:cNvPr id="506" name="rect 506"/>
          <p:cNvSpPr/>
          <p:nvPr/>
        </p:nvSpPr>
        <p:spPr>
          <a:xfrm>
            <a:off x="2016036" y="3148736"/>
            <a:ext cx="1440002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8" name="rect 508"/>
          <p:cNvSpPr/>
          <p:nvPr/>
        </p:nvSpPr>
        <p:spPr>
          <a:xfrm>
            <a:off x="5414416" y="3148736"/>
            <a:ext cx="345541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rect 510"/>
          <p:cNvSpPr/>
          <p:nvPr/>
        </p:nvSpPr>
        <p:spPr>
          <a:xfrm>
            <a:off x="0" y="3148736"/>
            <a:ext cx="2016036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2" name="rect 512"/>
          <p:cNvSpPr/>
          <p:nvPr/>
        </p:nvSpPr>
        <p:spPr>
          <a:xfrm>
            <a:off x="3456038" y="3148736"/>
            <a:ext cx="1958378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4" name="textbox 514"/>
          <p:cNvSpPr/>
          <p:nvPr/>
        </p:nvSpPr>
        <p:spPr>
          <a:xfrm>
            <a:off x="698395" y="2715267"/>
            <a:ext cx="5018405" cy="525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OLS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95%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simultaneous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confidence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bands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(CB)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prediction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bands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(PB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680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516" name="picture 5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518" name="textbox 518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Fitted</a:t>
              </a:r>
              <a:r>
                <a:rPr sz="1400" kern="0" spc="2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Curve</a:t>
              </a:r>
              <a:r>
                <a:rPr sz="1400" kern="0" spc="1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with</a:t>
              </a:r>
              <a:r>
                <a:rPr sz="1400" kern="0" spc="1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Asymptotic</a:t>
              </a:r>
              <a:r>
                <a:rPr sz="1400" kern="0" spc="2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CB</a:t>
              </a:r>
              <a:r>
                <a:rPr sz="1400" kern="0" spc="19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and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PB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520" name="rect 520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2" name="rect 522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4" name="rect 524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528" name="rect 528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0" name="rect 530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2" name="rect 532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textbox 534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OLS  Results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548" name="picture 548">
            <a:hlinkClick r:id="rId15" tooltip="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picture 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74405" y="1108247"/>
            <a:ext cx="1764035" cy="1063644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5181" y="1108247"/>
            <a:ext cx="1764035" cy="1063644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556" name="picture 55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558" name="textbox 558"/>
            <p:cNvSpPr/>
            <p:nvPr/>
          </p:nvSpPr>
          <p:spPr>
            <a:xfrm>
              <a:off x="-12700" y="-12700"/>
              <a:ext cx="5785485" cy="296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79000"/>
                </a:lnSpc>
                <a:spcBef>
                  <a:spcPts val="4"/>
                </a:spcBef>
                <a:tabLst/>
              </a:pP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Residual</a:t>
              </a:r>
              <a:r>
                <a:rPr sz="1400" kern="0" spc="18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Analysis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560" name="rect 560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2" name="textbox 562"/>
          <p:cNvSpPr/>
          <p:nvPr/>
        </p:nvSpPr>
        <p:spPr>
          <a:xfrm>
            <a:off x="4134193" y="993464"/>
            <a:ext cx="1139825" cy="889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Assumption</a:t>
            </a:r>
            <a:r>
              <a:rPr sz="600" b="1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8000"/>
              </a:lnSpc>
              <a:spcBef>
                <a:spcPts val="430"/>
              </a:spcBef>
              <a:tabLst/>
            </a:pPr>
            <a:r>
              <a:rPr sz="600" kern="0" spc="8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✓</a:t>
            </a:r>
            <a:r>
              <a:rPr sz="600" kern="0" spc="1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Zero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≈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0.06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4)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marL="116204" algn="l" rtl="0" eaLnBrk="0">
              <a:lnSpc>
                <a:spcPct val="97000"/>
              </a:lnSpc>
              <a:spcBef>
                <a:spcPts val="398"/>
              </a:spcBef>
              <a:tabLst/>
            </a:pPr>
            <a:r>
              <a:rPr sz="600" kern="0" spc="60" dirty="0">
                <a:solidFill>
                  <a:srgbClr val="003F8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△</a:t>
            </a:r>
            <a:r>
              <a:rPr sz="600" kern="0" spc="10" dirty="0">
                <a:solidFill>
                  <a:srgbClr val="003F8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Constant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marL="267970" indent="-151765" algn="l" rtl="0" eaLnBrk="0">
              <a:lnSpc>
                <a:spcPct val="105000"/>
              </a:lnSpc>
              <a:spcBef>
                <a:spcPts val="397"/>
              </a:spcBef>
              <a:tabLst/>
            </a:pPr>
            <a:r>
              <a:rPr sz="600" kern="0" spc="60" dirty="0">
                <a:solidFill>
                  <a:srgbClr val="003F8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△</a:t>
            </a:r>
            <a:r>
              <a:rPr sz="600" kern="0" spc="0" dirty="0">
                <a:solidFill>
                  <a:srgbClr val="003F88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Uncorrela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ted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(runs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6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10.5)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marL="123825" algn="l" rtl="0" eaLnBrk="0">
              <a:lnSpc>
                <a:spcPct val="88000"/>
              </a:lnSpc>
              <a:spcBef>
                <a:spcPts val="414"/>
              </a:spcBef>
              <a:tabLst/>
            </a:pPr>
            <a:r>
              <a:rPr sz="600" kern="0" spc="6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✓</a:t>
            </a:r>
            <a:r>
              <a:rPr sz="600" kern="0" spc="2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Normality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3825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600" kern="0" spc="6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✓</a:t>
            </a:r>
            <a:r>
              <a:rPr sz="600" kern="0" spc="3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Correct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64" name="rect 564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rect 566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rect 568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0" name="rect 570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574" name="rect 574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6" name="textbox 576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Model  Diagnostics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582" name="picture 58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sp>
        <p:nvSpPr>
          <p:cNvPr id="586" name="rect 586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8" name="rect 588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0" name="rect 590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2" name="rect 592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4" name="textbox 594"/>
          <p:cNvSpPr/>
          <p:nvPr/>
        </p:nvSpPr>
        <p:spPr>
          <a:xfrm>
            <a:off x="919813" y="3144826"/>
            <a:ext cx="4796790" cy="95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96" name="picture 59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598" name="picture 5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sp>
        <p:nvSpPr>
          <p:cNvPr id="600" name="textbox 600"/>
          <p:cNvSpPr/>
          <p:nvPr/>
        </p:nvSpPr>
        <p:spPr>
          <a:xfrm>
            <a:off x="2423437" y="2265016"/>
            <a:ext cx="1276985" cy="129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Residual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histog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ram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530222" y="2265016"/>
            <a:ext cx="1125220" cy="129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Residual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scatter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04" name="picture 604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picture 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608" name="picture 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30372" y="807181"/>
            <a:ext cx="2225645" cy="1341977"/>
          </a:xfrm>
          <a:prstGeom prst="rect">
            <a:avLst/>
          </a:prstGeom>
        </p:spPr>
      </p:pic>
      <p:pic>
        <p:nvPicPr>
          <p:cNvPr id="610" name="picture 6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3987" y="807181"/>
            <a:ext cx="2225645" cy="1341977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21600000">
            <a:off x="309193" y="2530056"/>
            <a:ext cx="5146536" cy="327571"/>
            <a:chOff x="0" y="0"/>
            <a:chExt cx="5146536" cy="327571"/>
          </a:xfrm>
        </p:grpSpPr>
        <p:pic>
          <p:nvPicPr>
            <p:cNvPr id="612" name="picture 6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146536" cy="327571"/>
            </a:xfrm>
            <a:prstGeom prst="rect">
              <a:avLst/>
            </a:prstGeom>
          </p:spPr>
        </p:pic>
        <p:sp>
          <p:nvSpPr>
            <p:cNvPr id="614" name="textbox 614"/>
            <p:cNvSpPr/>
            <p:nvPr/>
          </p:nvSpPr>
          <p:spPr>
            <a:xfrm>
              <a:off x="-12700" y="-12700"/>
              <a:ext cx="5172075" cy="3530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7310" algn="l" rtl="0" eaLnBrk="0">
                <a:lnSpc>
                  <a:spcPct val="90000"/>
                </a:lnSpc>
                <a:spcBef>
                  <a:spcPts val="1"/>
                </a:spcBef>
                <a:tabLst/>
              </a:pP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SSC</a:t>
              </a:r>
              <a:r>
                <a:rPr sz="600" kern="0" spc="1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Convergence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69215" algn="l" rtl="0" eaLnBrk="0">
                <a:lnSpc>
                  <a:spcPct val="97000"/>
                </a:lnSpc>
                <a:spcBef>
                  <a:spcPts val="5"/>
                </a:spcBef>
                <a:tabLst/>
              </a:pP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Consistent</a:t>
              </a:r>
              <a:r>
                <a:rPr sz="600" kern="0" spc="1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SSC</a:t>
              </a:r>
              <a:r>
                <a:rPr sz="600" kern="0" spc="1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shapes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before</a:t>
              </a:r>
              <a:r>
                <a:rPr sz="600" kern="0" spc="1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&amp;</a:t>
              </a:r>
              <a:r>
                <a:rPr sz="600" kern="0" spc="1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after</a:t>
              </a:r>
              <a:r>
                <a:rPr sz="600" kern="0" spc="1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est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imation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→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parameters</a:t>
              </a:r>
              <a:r>
                <a:rPr sz="600" kern="0" spc="1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600" b="1" kern="0" spc="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stable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600" b="1" kern="0" spc="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and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600" b="1" kern="0" spc="50" dirty="0">
                  <a:solidFill>
                    <a:srgbClr val="000000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identifiable</a:t>
              </a:r>
              <a:r>
                <a:rPr sz="6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.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616" name="picture 6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618" name="textbox 618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5109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SSC</a:t>
              </a:r>
              <a:r>
                <a:rPr sz="1400" kern="0" spc="2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Convergence</a:t>
              </a:r>
              <a:r>
                <a:rPr sz="1400" kern="0" spc="1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PingFang SC"/>
                  <a:ea typeface="PingFang SC"/>
                  <a:cs typeface="PingFang SC"/>
                </a:rPr>
                <a:t>—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Before</a:t>
              </a:r>
              <a:r>
                <a:rPr sz="1400" kern="0" spc="18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&amp;</a:t>
              </a:r>
              <a:r>
                <a:rPr sz="1400" kern="0" spc="1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After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Estimation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620" name="rect 620"/>
          <p:cNvSpPr/>
          <p:nvPr/>
        </p:nvSpPr>
        <p:spPr>
          <a:xfrm>
            <a:off x="3456038" y="3148737"/>
            <a:ext cx="2303919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2" name="rect 622"/>
          <p:cNvSpPr/>
          <p:nvPr/>
        </p:nvSpPr>
        <p:spPr>
          <a:xfrm>
            <a:off x="0" y="3148737"/>
            <a:ext cx="3456038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4" name="textbox 624"/>
          <p:cNvSpPr/>
          <p:nvPr/>
        </p:nvSpPr>
        <p:spPr>
          <a:xfrm>
            <a:off x="-12700" y="3009506"/>
            <a:ext cx="578548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8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28"/>
              </a:lnSpc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Salmonella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1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sp>
        <p:nvSpPr>
          <p:cNvPr id="632" name="rect 632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4" name="rect 634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6" name="rect 636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8" name="rect 638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0" name="rect 640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2" name="picture 6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644" name="rect 644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6" name="textbox 646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Model  Diagnostics 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652" name="picture 6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654" name="picture 6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991558" y="2255050"/>
            <a:ext cx="1059180" cy="11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6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9a.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SSC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(initial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guess)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8" name="textbox 658"/>
          <p:cNvSpPr/>
          <p:nvPr/>
        </p:nvSpPr>
        <p:spPr>
          <a:xfrm>
            <a:off x="3752271" y="2255050"/>
            <a:ext cx="990600" cy="11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9b.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SSC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(afte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6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OLS)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picture 6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63177" y="828673"/>
            <a:ext cx="2923216" cy="1762585"/>
          </a:xfrm>
          <a:prstGeom prst="rect">
            <a:avLst/>
          </a:prstGeom>
        </p:spPr>
      </p:pic>
      <p:sp>
        <p:nvSpPr>
          <p:cNvPr id="664" name="textbox 664"/>
          <p:cNvSpPr/>
          <p:nvPr/>
        </p:nvSpPr>
        <p:spPr>
          <a:xfrm>
            <a:off x="394397" y="856350"/>
            <a:ext cx="1863725" cy="145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2240" indent="-129540" algn="l" rtl="0" eaLnBrk="0">
              <a:lnSpc>
                <a:spcPct val="106000"/>
              </a:lnSpc>
              <a:tabLst/>
            </a:pPr>
            <a:r>
              <a:rPr sz="1500" kern="0" spc="3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Equally-s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paced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linspace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points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consistent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inv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soln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5.m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);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unscaled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Jacobi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J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 ∂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Y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/∂β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6000"/>
              </a:lnSpc>
              <a:spcBef>
                <a:spcPts val="348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2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∆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criterion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reases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39065" indent="3175" algn="l" rtl="0" eaLnBrk="0">
              <a:lnSpc>
                <a:spcPct val="99000"/>
              </a:lnSpc>
              <a:spcBef>
                <a:spcPts val="207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monotonically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⇒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always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help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6000"/>
              </a:lnSpc>
              <a:spcBef>
                <a:spcPts val="416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1000" i="1" kern="0" spc="50" baseline="-15626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ii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(parameter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variance)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35255" indent="635" algn="l" rtl="0" eaLnBrk="0">
              <a:lnSpc>
                <a:spcPct val="97000"/>
              </a:lnSpc>
              <a:spcBef>
                <a:spcPts val="240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decreases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points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parameters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6" name="rect 666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8" name="rect 668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0" name="rect 670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2" name="rect 672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4" name="textbox 674"/>
          <p:cNvSpPr/>
          <p:nvPr/>
        </p:nvSpPr>
        <p:spPr>
          <a:xfrm>
            <a:off x="919813" y="2679145"/>
            <a:ext cx="4796790" cy="561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68195" algn="l" rtl="0" eaLnBrk="0">
              <a:lnSpc>
                <a:spcPct val="93000"/>
              </a:lnSpc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∆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criter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 </a:t>
            </a:r>
            <a:r>
              <a:rPr sz="800" i="1" kern="0" spc="40" dirty="0">
                <a:solidFill>
                  <a:srgbClr val="000000">
                    <a:alpha val="100000"/>
                  </a:srgbClr>
                </a:solidFill>
                <a:latin typeface="Palatino"/>
                <a:ea typeface="Palatino"/>
                <a:cs typeface="Palatino"/>
              </a:rPr>
              <a:t>C</a:t>
            </a:r>
            <a:r>
              <a:rPr sz="900" i="1" kern="0" spc="40" baseline="-5787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ii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points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676" name="picture 6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678" name="textbox 678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7015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Optimal</a:t>
              </a:r>
              <a:r>
                <a:rPr sz="1400" kern="0" spc="3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Experimental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Design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680" name="rect 680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2" name="rect 682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4" name="rect 684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86" name="picture 6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688" name="rect 688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0" name="rect 690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2" name="rect 692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4" name="textbox 694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Optimal  Experimental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708" name="picture 708">
            <a:hlinkClick r:id="rId15" tooltip="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picture 7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712" name="picture 7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5196" y="889430"/>
            <a:ext cx="2671200" cy="1610629"/>
          </a:xfrm>
          <a:prstGeom prst="rect">
            <a:avLst/>
          </a:prstGeom>
        </p:spPr>
      </p:pic>
      <p:sp>
        <p:nvSpPr>
          <p:cNvPr id="714" name="rect 714"/>
          <p:cNvSpPr/>
          <p:nvPr/>
        </p:nvSpPr>
        <p:spPr>
          <a:xfrm>
            <a:off x="5414416" y="3148737"/>
            <a:ext cx="345541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16" name="rect 716"/>
          <p:cNvSpPr/>
          <p:nvPr/>
        </p:nvSpPr>
        <p:spPr>
          <a:xfrm>
            <a:off x="2016036" y="3148737"/>
            <a:ext cx="1440002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18" name="rect 718"/>
          <p:cNvSpPr/>
          <p:nvPr/>
        </p:nvSpPr>
        <p:spPr>
          <a:xfrm>
            <a:off x="0" y="3148737"/>
            <a:ext cx="2016036" cy="91286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0" name="rect 720"/>
          <p:cNvSpPr/>
          <p:nvPr/>
        </p:nvSpPr>
        <p:spPr>
          <a:xfrm>
            <a:off x="3456038" y="3148737"/>
            <a:ext cx="1958378" cy="91286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2" name="textbox 722"/>
          <p:cNvSpPr/>
          <p:nvPr/>
        </p:nvSpPr>
        <p:spPr>
          <a:xfrm>
            <a:off x="919813" y="2591817"/>
            <a:ext cx="4796790" cy="648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01900" algn="l" rtl="0" eaLnBrk="0">
              <a:lnSpc>
                <a:spcPct val="86000"/>
              </a:lnSpc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Fig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  Bootstrap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8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PB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724" name="picture 7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726" name="textbox 726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80000"/>
                </a:lnSpc>
                <a:spcBef>
                  <a:spcPts val="3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Bootstrapping</a:t>
              </a:r>
              <a:r>
                <a:rPr sz="1400" kern="0" spc="1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of</a:t>
              </a:r>
              <a:r>
                <a:rPr sz="1400" kern="0" spc="19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Residua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ls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aphicFrame>
        <p:nvGraphicFramePr>
          <p:cNvPr id="728" name="table 728"/>
          <p:cNvGraphicFramePr>
            <a:graphicFrameLocks noGrp="1"/>
          </p:cNvGraphicFramePr>
          <p:nvPr/>
        </p:nvGraphicFramePr>
        <p:xfrm>
          <a:off x="315302" y="1153929"/>
          <a:ext cx="2184400" cy="650239"/>
        </p:xfrm>
        <a:graphic>
          <a:graphicData uri="http://schemas.openxmlformats.org/drawingml/2006/table">
            <a:tbl>
              <a:tblPr/>
              <a:tblGrid>
                <a:gridCol w="404495"/>
                <a:gridCol w="859155"/>
                <a:gridCol w="920750"/>
              </a:tblGrid>
              <a:tr h="1733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Bootstrap</a:t>
                      </a:r>
                      <a:r>
                        <a:rPr sz="6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95%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CI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Asymptotic</a:t>
                      </a:r>
                      <a:r>
                        <a:rPr sz="6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95%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CI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8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i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[2.113,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2.596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[2.059,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2.645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0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65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600" i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8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[10.63,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.02]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8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[10.41,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.98]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0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21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46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600" i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8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[5.174,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5.850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88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[5.172,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5.946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5420" algn="l" rtl="0" eaLnBrk="0">
                        <a:lnSpc>
                          <a:spcPts val="39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endParaRPr sz="6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1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2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[2.57e-4,</a:t>
                      </a: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3.88e-4]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1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[2.0e-4,</a:t>
                      </a: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4.0e-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4]</a:t>
                      </a:r>
                      <a:endParaRPr sz="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30" name="rect 730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2" name="rect 732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4" name="rect 734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6" name="rect 736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38" name="picture 7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740" name="rect 740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2" name="rect 742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4" name="textbox 744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apping   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46" name="picture 7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748" name="picture 7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750" name="picture 7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752" name="picture 7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sp>
        <p:nvSpPr>
          <p:cNvPr id="754" name="textbox 754"/>
          <p:cNvSpPr/>
          <p:nvPr/>
        </p:nvSpPr>
        <p:spPr>
          <a:xfrm>
            <a:off x="265362" y="774456"/>
            <a:ext cx="2105660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4000"/>
              </a:lnSpc>
              <a:tabLst/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600</a:t>
            </a:r>
            <a:r>
              <a:rPr sz="700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iterations</a:t>
            </a:r>
            <a:r>
              <a:rPr sz="7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(residual</a:t>
            </a: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resampling),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600/600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d.</a:t>
            </a:r>
            <a:endParaRPr sz="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56" name="picture 7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758" name="picture 7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760" name="picture 760">
            <a:hlinkClick r:id="rId15" tooltip="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picture 7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764" name="rect 764"/>
          <p:cNvSpPr/>
          <p:nvPr/>
        </p:nvSpPr>
        <p:spPr>
          <a:xfrm>
            <a:off x="0" y="3148736"/>
            <a:ext cx="3456038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6" name="rect 766"/>
          <p:cNvSpPr/>
          <p:nvPr/>
        </p:nvSpPr>
        <p:spPr>
          <a:xfrm>
            <a:off x="3456038" y="3148736"/>
            <a:ext cx="2303919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8" name="textbox 768"/>
          <p:cNvSpPr/>
          <p:nvPr/>
        </p:nvSpPr>
        <p:spPr>
          <a:xfrm>
            <a:off x="-12700" y="1852321"/>
            <a:ext cx="5785485" cy="1392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6094" algn="l" rtl="0" eaLnBrk="0">
              <a:lnSpc>
                <a:spcPct val="96000"/>
              </a:lnSpc>
              <a:tabLst/>
            </a:pPr>
            <a:r>
              <a:rPr sz="1500" kern="0" spc="4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CB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×  narrower;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9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PB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×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narrower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506094" algn="l" rtl="0" eaLnBrk="0">
              <a:lnSpc>
                <a:spcPct val="92000"/>
              </a:lnSpc>
              <a:spcBef>
                <a:spcPts val="372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Asymptotic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method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overesti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mates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nonlinear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506094" algn="l" rtl="0" eaLnBrk="0">
              <a:lnSpc>
                <a:spcPct val="92000"/>
              </a:lnSpc>
              <a:spcBef>
                <a:spcPts val="418"/>
              </a:spcBef>
              <a:tabLst/>
            </a:pPr>
            <a:r>
              <a:rPr sz="1500" kern="0" spc="50" baseline="6945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rovides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realistic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quantification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4170" algn="l" rtl="0" eaLnBrk="0">
              <a:lnSpc>
                <a:spcPct val="98000"/>
              </a:lnSpc>
              <a:spcBef>
                <a:spcPts val="211"/>
              </a:spcBef>
              <a:tabLst/>
            </a:pP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     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r>
              <a:rPr sz="700" kern="0" spc="11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4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700" kern="0" spc="70" dirty="0">
                <a:solidFill>
                  <a:srgbClr val="99B2CF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99B2CF"/>
                      <wpsdc:folHlinkClr xmlns:wpsdc="http://www.wps.cn/officeDocument/2017/drawingmlCustomData" val="99B2C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,</a:t>
            </a:r>
            <a:r>
              <a:rPr sz="700" kern="0" spc="6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700" kern="0" spc="0" dirty="0">
                <a:solidFill>
                  <a:srgbClr val="CCD8E7">
                    <a:alpha val="100000"/>
                  </a:srgbClr>
                </a:solidFill>
                <a:latin typeface="Arial"/>
                <a:ea typeface="Arial"/>
                <a:cs typeface="Arial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CCD8E7"/>
                      <wpsdc:folHlinkClr xmlns:wpsdc="http://www.wps.cn/officeDocument/2017/drawingmlCustomData" val="CCD8E7"/>
                      <wpsdc:hlinkUnderline xmlns:wpsdc="http://www.wps.cn/officeDocument/2017/drawingmlCustomData" val="0"/>
                    </a:ext>
                  </a:extLst>
                </a:hlinkClick>
              </a:rPr>
              <a:t>·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28"/>
              </a:lnSpc>
              <a:tabLst>
                <a:tab pos="944880" algn="l"/>
              </a:tabLst>
            </a:pP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8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Salmonella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7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 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70" name="picture 7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716917" y="3022206"/>
            <a:ext cx="1002677" cy="104355"/>
          </a:xfrm>
          <a:prstGeom prst="rect">
            <a:avLst/>
          </a:prstGeom>
        </p:spPr>
      </p:pic>
      <p:pic>
        <p:nvPicPr>
          <p:cNvPr id="772" name="picture 7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522682" y="3022206"/>
            <a:ext cx="63258" cy="104355"/>
          </a:xfrm>
          <a:prstGeom prst="rect">
            <a:avLst/>
          </a:prstGeom>
        </p:spPr>
      </p:pic>
      <p:pic>
        <p:nvPicPr>
          <p:cNvPr id="774" name="picture 7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96790" y="3022206"/>
            <a:ext cx="177139" cy="104355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776" name="picture 77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778" name="textbox 778"/>
            <p:cNvSpPr/>
            <p:nvPr/>
          </p:nvSpPr>
          <p:spPr>
            <a:xfrm>
              <a:off x="-12700" y="-12700"/>
              <a:ext cx="5785485" cy="295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2570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Asymptotic</a:t>
              </a:r>
              <a:r>
                <a:rPr sz="1400" kern="0" spc="17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vs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Bootstrap</a:t>
              </a:r>
              <a:r>
                <a:rPr sz="1400" kern="0" spc="2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Comparison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aphicFrame>
        <p:nvGraphicFramePr>
          <p:cNvPr id="780" name="table 780"/>
          <p:cNvGraphicFramePr>
            <a:graphicFrameLocks noGrp="1"/>
          </p:cNvGraphicFramePr>
          <p:nvPr/>
        </p:nvGraphicFramePr>
        <p:xfrm>
          <a:off x="1679524" y="1071276"/>
          <a:ext cx="2400935" cy="599439"/>
        </p:xfrm>
        <a:graphic>
          <a:graphicData uri="http://schemas.openxmlformats.org/drawingml/2006/table">
            <a:tbl>
              <a:tblPr/>
              <a:tblGrid>
                <a:gridCol w="972185"/>
                <a:gridCol w="757555"/>
                <a:gridCol w="671195"/>
              </a:tblGrid>
              <a:tr h="2241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Metric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Asymptotic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Bootstrap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CB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width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(avg)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0.687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5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0.340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17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PB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width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(a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vg)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1.858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1.220</a:t>
                      </a:r>
                      <a:endParaRPr sz="9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2" name="rect 782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4" name="rect 784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6" name="rect 786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rect 788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0" name="rect 790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2" name="picture 7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794" name="rect 794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6" name="textbox 796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apping   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804" name="picture 80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picture 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pic>
        <p:nvPicPr>
          <p:cNvPr id="808" name="picture 8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3274" y="2107933"/>
            <a:ext cx="94378" cy="94378"/>
          </a:xfrm>
          <a:prstGeom prst="rect">
            <a:avLst/>
          </a:prstGeom>
        </p:spPr>
      </p:pic>
      <p:sp>
        <p:nvSpPr>
          <p:cNvPr id="810" name="rect 810"/>
          <p:cNvSpPr/>
          <p:nvPr/>
        </p:nvSpPr>
        <p:spPr>
          <a:xfrm>
            <a:off x="2016036" y="3148736"/>
            <a:ext cx="1440002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2" name="rect 812"/>
          <p:cNvSpPr/>
          <p:nvPr/>
        </p:nvSpPr>
        <p:spPr>
          <a:xfrm>
            <a:off x="0" y="3148736"/>
            <a:ext cx="2016036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14" name="picture 8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3274" y="1083081"/>
            <a:ext cx="94378" cy="94378"/>
          </a:xfrm>
          <a:prstGeom prst="rect">
            <a:avLst/>
          </a:prstGeom>
        </p:spPr>
      </p:pic>
      <p:sp>
        <p:nvSpPr>
          <p:cNvPr id="816" name="rect 816"/>
          <p:cNvSpPr/>
          <p:nvPr/>
        </p:nvSpPr>
        <p:spPr>
          <a:xfrm>
            <a:off x="3456038" y="3148736"/>
            <a:ext cx="1958378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18" name="picture 8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3274" y="1766316"/>
            <a:ext cx="94378" cy="94378"/>
          </a:xfrm>
          <a:prstGeom prst="rect">
            <a:avLst/>
          </a:prstGeom>
        </p:spPr>
      </p:pic>
      <p:pic>
        <p:nvPicPr>
          <p:cNvPr id="820" name="picture 8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3274" y="1424698"/>
            <a:ext cx="94378" cy="94378"/>
          </a:xfrm>
          <a:prstGeom prst="rect">
            <a:avLst/>
          </a:prstGeom>
        </p:spPr>
      </p:pic>
      <p:sp>
        <p:nvSpPr>
          <p:cNvPr id="822" name="rect 822"/>
          <p:cNvSpPr/>
          <p:nvPr/>
        </p:nvSpPr>
        <p:spPr>
          <a:xfrm>
            <a:off x="5414416" y="3148736"/>
            <a:ext cx="345541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4" name="textbox 824"/>
          <p:cNvSpPr/>
          <p:nvPr/>
        </p:nvSpPr>
        <p:spPr>
          <a:xfrm>
            <a:off x="476900" y="1055080"/>
            <a:ext cx="5240020" cy="2185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7795" indent="-120015" algn="l" rtl="0" eaLnBrk="0">
              <a:lnSpc>
                <a:spcPct val="98000"/>
              </a:lnSpc>
              <a:tabLst/>
            </a:pPr>
            <a:r>
              <a:rPr sz="6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Modified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successfully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Salmonella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wth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under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sinusoidal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temperature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39700" indent="-126365" algn="l" rtl="0" eaLnBrk="0">
              <a:lnSpc>
                <a:spcPct val="103000"/>
              </a:lnSpc>
              <a:spcBef>
                <a:spcPts val="544"/>
              </a:spcBef>
              <a:tabLst/>
            </a:pPr>
            <a:r>
              <a:rPr sz="6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Parameter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selection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SSC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⇒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fix 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3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(low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SSC)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3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T</a:t>
            </a:r>
            <a:r>
              <a:rPr sz="1000" kern="0" spc="30" baseline="-1041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collinearity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−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0.991);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estimate 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900" i="1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C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900" i="1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900" i="1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]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(7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→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direct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elimination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45415" indent="-132080" algn="l" rtl="0" eaLnBrk="0">
              <a:lnSpc>
                <a:spcPct val="109000"/>
              </a:lnSpc>
              <a:spcBef>
                <a:spcPts val="336"/>
              </a:spcBef>
              <a:tabLst/>
            </a:pPr>
            <a:r>
              <a:rPr sz="6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OLS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fit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cond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(J)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1.19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kern="0" spc="60" baseline="3646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relRMSE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3.72%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000" kern="0" spc="60" baseline="3646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0.989;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all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</a:t>
            </a:r>
            <a:r>
              <a:rPr sz="900" i="1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R</a:t>
            </a:r>
            <a:r>
              <a:rPr sz="1000" i="1" kern="0" spc="0" baseline="-15626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ij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0.60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;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residual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autocorrelation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(runs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10.5)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suggests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improvement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potential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146050" indent="-133350" algn="l" rtl="0" eaLnBrk="0">
              <a:lnSpc>
                <a:spcPct val="101000"/>
              </a:lnSpc>
              <a:spcBef>
                <a:spcPts val="463"/>
              </a:spcBef>
              <a:tabLst/>
            </a:pPr>
            <a:r>
              <a:rPr sz="6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Bootstrap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CI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narrower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than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asymptotic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CI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CB,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1.5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PB)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⇒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asymptotic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method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overestimates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uncertainty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5294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826" name="picture 8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828" name="textbox 828"/>
            <p:cNvSpPr/>
            <p:nvPr/>
          </p:nvSpPr>
          <p:spPr>
            <a:xfrm>
              <a:off x="-12700" y="-12700"/>
              <a:ext cx="5785485" cy="313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9555" algn="l" rtl="0" eaLnBrk="0">
                <a:lnSpc>
                  <a:spcPct val="72000"/>
                </a:lnSpc>
                <a:spcBef>
                  <a:spcPts val="6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Conclusions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830" name="rect 830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2" name="rect 832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4" name="rect 834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6" name="rect 836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8" name="rect 838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0" name="picture 8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842" name="rect 842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4" name="textbox 844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9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10" tooltip="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Conc   lusions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46" name="picture 8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848" name="picture 8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850" name="picture 8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852" name="picture 8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854" name="picture 8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856" name="picture 8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858" name="picture 858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picture 8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"/>
            <a:ext cx="5759958" cy="3240007"/>
          </a:xfrm>
          <a:prstGeom prst="rect">
            <a:avLst/>
          </a:prstGeom>
        </p:spPr>
      </p:pic>
      <p:sp>
        <p:nvSpPr>
          <p:cNvPr id="862" name="rect 862"/>
          <p:cNvSpPr/>
          <p:nvPr/>
        </p:nvSpPr>
        <p:spPr>
          <a:xfrm>
            <a:off x="3456038" y="3148736"/>
            <a:ext cx="1958378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4" name="rect 864"/>
          <p:cNvSpPr/>
          <p:nvPr/>
        </p:nvSpPr>
        <p:spPr>
          <a:xfrm>
            <a:off x="2016036" y="3148736"/>
            <a:ext cx="1440002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6" name="rect 866"/>
          <p:cNvSpPr/>
          <p:nvPr/>
        </p:nvSpPr>
        <p:spPr>
          <a:xfrm>
            <a:off x="0" y="3148736"/>
            <a:ext cx="2016036" cy="91287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8" name="rect 868"/>
          <p:cNvSpPr/>
          <p:nvPr/>
        </p:nvSpPr>
        <p:spPr>
          <a:xfrm>
            <a:off x="5414416" y="3148736"/>
            <a:ext cx="345541" cy="91287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0" name="textbox 870"/>
          <p:cNvSpPr/>
          <p:nvPr/>
        </p:nvSpPr>
        <p:spPr>
          <a:xfrm>
            <a:off x="360199" y="1382604"/>
            <a:ext cx="5356860" cy="1858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3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5740" indent="-193040" algn="l" rtl="0" eaLnBrk="0">
              <a:lnSpc>
                <a:spcPct val="104000"/>
              </a:lnSpc>
              <a:tabLst/>
            </a:pP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[1]  Lavanya</a:t>
            </a:r>
            <a:r>
              <a:rPr sz="900" kern="0" spc="17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Gumudavelli,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Prem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Rishi</a:t>
            </a:r>
            <a:r>
              <a:rPr sz="900" kern="0" spc="12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Velugoti,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Ramaswamy</a:t>
            </a:r>
            <a:r>
              <a:rPr sz="900" kern="0" spc="18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900" kern="0" spc="1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Anantheswaran,</a:t>
            </a:r>
            <a:r>
              <a:rPr sz="900" kern="0" spc="1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John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Floros,</a:t>
            </a:r>
            <a:r>
              <a:rPr sz="900" kern="0" spc="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900" kern="0" spc="1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Stephen</a:t>
            </a:r>
            <a:r>
              <a:rPr sz="900" kern="0" spc="1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900" kern="0" spc="20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5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Knabe</a:t>
            </a:r>
            <a:r>
              <a:rPr sz="900" kern="0" spc="40" dirty="0">
                <a:solidFill>
                  <a:srgbClr val="003F88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l.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211455" algn="l" rtl="0" eaLnBrk="0">
              <a:lnSpc>
                <a:spcPct val="86000"/>
              </a:lnSpc>
              <a:spcBef>
                <a:spcPts val="258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Dynamic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predictive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growth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i="1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Salmonell</a:t>
            </a:r>
            <a:r>
              <a:rPr sz="900" i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Enteritidis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egg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yolk.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marL="214630" algn="l" rtl="0" eaLnBrk="0">
              <a:lnSpc>
                <a:spcPct val="93000"/>
              </a:lnSpc>
              <a:spcBef>
                <a:spcPts val="232"/>
              </a:spcBef>
              <a:tabLst/>
            </a:pPr>
            <a:r>
              <a:rPr sz="900" i="1" kern="0" spc="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Journal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of</a:t>
            </a:r>
            <a:r>
              <a:rPr sz="900" kern="0" spc="2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Food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00" i="1" kern="0" spc="0" dirty="0">
                <a:solidFill>
                  <a:srgbClr val="5982B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Science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900" kern="0" spc="15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72(7):M254–M262,</a:t>
            </a:r>
            <a:r>
              <a:rPr sz="900" kern="0" spc="14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2007</a:t>
            </a:r>
            <a:r>
              <a:rPr sz="900" kern="0" spc="-12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30" dirty="0">
                <a:solidFill>
                  <a:srgbClr val="5982B2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2135" algn="l" rtl="0" eaLnBrk="0">
              <a:lnSpc>
                <a:spcPts val="552"/>
              </a:lnSpc>
              <a:spcBef>
                <a:spcPts val="1"/>
              </a:spcBef>
              <a:tabLst/>
            </a:pP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年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                                                         </a:t>
            </a:r>
            <a:r>
              <a:rPr sz="4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Sal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monella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Gompertz  Model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4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0" y="206245"/>
            <a:ext cx="5759958" cy="266905"/>
            <a:chOff x="0" y="0"/>
            <a:chExt cx="5759958" cy="266905"/>
          </a:xfrm>
        </p:grpSpPr>
        <p:pic>
          <p:nvPicPr>
            <p:cNvPr id="872" name="picture 8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759958" cy="266905"/>
            </a:xfrm>
            <a:prstGeom prst="rect">
              <a:avLst/>
            </a:prstGeom>
          </p:spPr>
        </p:pic>
        <p:sp>
          <p:nvSpPr>
            <p:cNvPr id="874" name="textbox 874"/>
            <p:cNvSpPr/>
            <p:nvPr/>
          </p:nvSpPr>
          <p:spPr>
            <a:xfrm>
              <a:off x="-12700" y="-12700"/>
              <a:ext cx="5785485" cy="3130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ct val="71000"/>
                </a:lnSpc>
                <a:spcBef>
                  <a:spcPts val="2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References</a:t>
              </a:r>
              <a:r>
                <a:rPr sz="1400" kern="0" spc="26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876" name="rect 876"/>
          <p:cNvSpPr/>
          <p:nvPr/>
        </p:nvSpPr>
        <p:spPr>
          <a:xfrm>
            <a:off x="0" y="25"/>
            <a:ext cx="4608017" cy="21242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8" name="rect 878"/>
          <p:cNvSpPr/>
          <p:nvPr/>
        </p:nvSpPr>
        <p:spPr>
          <a:xfrm>
            <a:off x="4608017" y="25"/>
            <a:ext cx="1151940" cy="212420"/>
          </a:xfrm>
          <a:prstGeom prst="rect">
            <a:avLst/>
          </a:pr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0" name="rect 880"/>
          <p:cNvSpPr/>
          <p:nvPr/>
        </p:nvSpPr>
        <p:spPr>
          <a:xfrm>
            <a:off x="5616338" y="60364"/>
            <a:ext cx="33094" cy="21889"/>
          </a:xfrm>
          <a:prstGeom prst="rect">
            <a:avLst/>
          </a:prstGeom>
          <a:solidFill>
            <a:srgbClr val="FFFFFF">
              <a:alpha val="6235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2" name="rect 882"/>
          <p:cNvSpPr/>
          <p:nvPr/>
        </p:nvSpPr>
        <p:spPr>
          <a:xfrm>
            <a:off x="5492138" y="116730"/>
            <a:ext cx="20018" cy="14434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4" name="rect 884"/>
          <p:cNvSpPr/>
          <p:nvPr/>
        </p:nvSpPr>
        <p:spPr>
          <a:xfrm>
            <a:off x="5497270" y="127381"/>
            <a:ext cx="19862" cy="16213"/>
          </a:xfrm>
          <a:prstGeom prst="rect">
            <a:avLst/>
          </a:prstGeom>
          <a:solidFill>
            <a:srgbClr val="FFFFFF">
              <a:alpha val="2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86" name="picture 8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24384" y="56747"/>
            <a:ext cx="17820" cy="90476"/>
          </a:xfrm>
          <a:prstGeom prst="rect">
            <a:avLst/>
          </a:prstGeom>
        </p:spPr>
      </p:pic>
      <p:sp>
        <p:nvSpPr>
          <p:cNvPr id="888" name="rect 888"/>
          <p:cNvSpPr/>
          <p:nvPr/>
        </p:nvSpPr>
        <p:spPr>
          <a:xfrm>
            <a:off x="5628734" y="125823"/>
            <a:ext cx="18355" cy="14071"/>
          </a:xfrm>
          <a:prstGeom prst="rect">
            <a:avLst/>
          </a:prstGeom>
          <a:solidFill>
            <a:srgbClr val="FFFFFF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90" name="textbox 890"/>
          <p:cNvSpPr/>
          <p:nvPr/>
        </p:nvSpPr>
        <p:spPr>
          <a:xfrm>
            <a:off x="101437" y="12528"/>
            <a:ext cx="567182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93000"/>
              </a:lnSpc>
              <a:tabLst/>
            </a:pP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Introduction</a:t>
            </a:r>
            <a:r>
              <a:rPr sz="400" kern="0" spc="10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&amp;</a:t>
            </a:r>
            <a:r>
              <a:rPr sz="400" kern="0" spc="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Background   Model  Description   Data</a:t>
            </a:r>
            <a:r>
              <a:rPr sz="400" kern="0" spc="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Overview    Forward  Problem   Parameter</a:t>
            </a:r>
            <a:r>
              <a:rPr sz="400" kern="0" spc="11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5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Selection    OLS  Results   Model  Diagnostics   Optimal  Experimental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  D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5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esign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400" u="sng" kern="0" spc="40" dirty="0">
                <a:solidFill>
                  <a:srgbClr val="808080">
                    <a:alpha val="100000"/>
                  </a:srgbClr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Bootstr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6" tooltip="" action="ppaction://hlinksldjump">
                  <a:extLst>
                    <a:ext uri="{DAF060AB-1E55-43B9-8AAB-6FB025537F2F}">
                      <wpsdc:hlinkClr xmlns:wpsdc="http://www.wps.cn/officeDocument/2017/drawingmlCustomData" val="808080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apping   Conc   lusions</a:t>
            </a:r>
            <a:r>
              <a:rPr sz="400" kern="0" spc="40" dirty="0">
                <a:solidFill>
                  <a:srgbClr val="80808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endParaRPr sz="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92" name="picture 8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9543" y="25228"/>
            <a:ext cx="70353" cy="27715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89023" y="141857"/>
            <a:ext cx="126048" cy="40524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909000" y="43568"/>
            <a:ext cx="29806" cy="52952"/>
          </a:xfrm>
          <a:prstGeom prst="rect">
            <a:avLst/>
          </a:prstGeom>
        </p:spPr>
      </p:pic>
      <p:pic>
        <p:nvPicPr>
          <p:cNvPr id="898" name="picture 89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86416" y="90378"/>
            <a:ext cx="54309" cy="61708"/>
          </a:xfrm>
          <a:prstGeom prst="rect">
            <a:avLst/>
          </a:prstGeom>
        </p:spPr>
      </p:pic>
      <p:pic>
        <p:nvPicPr>
          <p:cNvPr id="900" name="picture 90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41508" y="3049855"/>
            <a:ext cx="1575808" cy="58392"/>
          </a:xfrm>
          <a:prstGeom prst="rect">
            <a:avLst/>
          </a:prstGeom>
        </p:spPr>
      </p:pic>
      <p:pic>
        <p:nvPicPr>
          <p:cNvPr id="902" name="picture 9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16108" y="3022206"/>
            <a:ext cx="1607883" cy="120205"/>
          </a:xfrm>
          <a:prstGeom prst="rect">
            <a:avLst/>
          </a:prstGeom>
        </p:spPr>
      </p:pic>
      <p:pic>
        <p:nvPicPr>
          <p:cNvPr id="904" name="picture 904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37368" y="3110712"/>
            <a:ext cx="795718" cy="121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LaTeX with Beamer class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Modeling of Salmonella enteritidis Growth Under Sinusoidal Temperature - Modified Gompertz Model &amp; OLS Parameter Estimation</dc:title>
  <dc:creator>Team Members</dc:creator>
  <dcterms:created xsi:type="dcterms:W3CDTF">2026-04-14T09:36:04Z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2026-04-14T10:07:27</vt:filetime>
  </property>
</Properties>
</file>