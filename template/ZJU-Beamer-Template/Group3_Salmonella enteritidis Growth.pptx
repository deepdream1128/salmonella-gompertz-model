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11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11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11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11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11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37968" y="462017"/>
            <a:ext cx="1421989" cy="255000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475644" y="3053650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B2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412475" y="3060000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8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772343" y="306635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99B2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683442" y="3060000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8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59643" y="30536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CCD8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5030610" y="3053650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99B2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954410" y="3060000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D8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610" y="309175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CCD8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5301578" y="30536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99B2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603025" y="308413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99B2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575961" y="305763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99B2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481104" y="3053650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B2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221125" y="3063962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B2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141508" y="306000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D8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19310" y="306000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D8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25"/>
            <a:ext cx="4608195" cy="212725"/>
          </a:xfrm>
          <a:custGeom>
            <a:avLst/>
            <a:gdLst/>
            <a:ahLst/>
            <a:cxnLst/>
            <a:rect l="l" t="t" r="r" b="b"/>
            <a:pathLst>
              <a:path w="4608195" h="212725">
                <a:moveTo>
                  <a:pt x="4608017" y="0"/>
                </a:moveTo>
                <a:lnTo>
                  <a:pt x="0" y="0"/>
                </a:lnTo>
                <a:lnTo>
                  <a:pt x="0" y="212420"/>
                </a:lnTo>
                <a:lnTo>
                  <a:pt x="4608017" y="212420"/>
                </a:lnTo>
                <a:lnTo>
                  <a:pt x="46080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6867" y="209928"/>
            <a:ext cx="433705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86763" y="934884"/>
            <a:ext cx="2787015" cy="854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24531" y="3126226"/>
            <a:ext cx="423544" cy="1187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7409" y="3126226"/>
            <a:ext cx="181609" cy="1187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52973" y="3126226"/>
            <a:ext cx="264096" cy="1187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11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#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18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slide" Target="slide18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slide" Target="slide18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slide" Target="slide18.xml"/><Relationship Id="rId15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image" Target="../media/image4.png"/><Relationship Id="rId15" Type="http://schemas.openxmlformats.org/officeDocument/2006/relationships/slide" Target="slide18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slide" Target="slide18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image" Target="../media/image5.png"/><Relationship Id="rId15" Type="http://schemas.openxmlformats.org/officeDocument/2006/relationships/slide" Target="slide18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image" Target="../media/image6.png"/><Relationship Id="rId15" Type="http://schemas.openxmlformats.org/officeDocument/2006/relationships/slide" Target="slide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image" Target="../media/image7.png"/><Relationship Id="rId15" Type="http://schemas.openxmlformats.org/officeDocument/2006/relationships/image" Target="../media/image8.jpg"/><Relationship Id="rId16" Type="http://schemas.openxmlformats.org/officeDocument/2006/relationships/slide" Target="slide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image" Target="../media/image9.png"/><Relationship Id="rId15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image" Target="../media/image10.png"/><Relationship Id="rId15" Type="http://schemas.openxmlformats.org/officeDocument/2006/relationships/image" Target="../media/image11.png"/><Relationship Id="rId16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image" Target="../media/image12.jp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image" Target="../media/image15.jpg"/><Relationship Id="rId15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7.xml"/><Relationship Id="rId11" Type="http://schemas.openxmlformats.org/officeDocument/2006/relationships/image" Target="../media/image2.png"/><Relationship Id="rId12" Type="http://schemas.openxmlformats.org/officeDocument/2006/relationships/image" Target="../media/image3.png"/><Relationship Id="rId13" Type="http://schemas.openxmlformats.org/officeDocument/2006/relationships/image" Target="../media/image16.png"/><Relationship Id="rId14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7.xml"/><Relationship Id="rId11" Type="http://schemas.openxmlformats.org/officeDocument/2006/relationships/image" Target="../media/image2.png"/><Relationship Id="rId12" Type="http://schemas.openxmlformats.org/officeDocument/2006/relationships/image" Target="../media/image3.png"/><Relationship Id="rId13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image" Target="../media/image2.png"/><Relationship Id="rId12" Type="http://schemas.openxmlformats.org/officeDocument/2006/relationships/image" Target="../media/image3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slide" Target="slide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7.xml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slide" Target="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08017" y="25"/>
            <a:ext cx="1151978" cy="21242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09193" y="647750"/>
            <a:ext cx="5142230" cy="896619"/>
            <a:chOff x="309193" y="647750"/>
            <a:chExt cx="5142230" cy="896619"/>
          </a:xfrm>
        </p:grpSpPr>
        <p:sp>
          <p:nvSpPr>
            <p:cNvPr id="7" name="object 7"/>
            <p:cNvSpPr/>
            <p:nvPr/>
          </p:nvSpPr>
          <p:spPr>
            <a:xfrm>
              <a:off x="309193" y="647750"/>
              <a:ext cx="5142230" cy="82550"/>
            </a:xfrm>
            <a:custGeom>
              <a:avLst/>
              <a:gdLst/>
              <a:ahLst/>
              <a:cxnLst/>
              <a:rect l="l" t="t" r="r" b="b"/>
              <a:pathLst>
                <a:path w="5142230" h="8255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141666" y="82384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9193" y="692169"/>
              <a:ext cx="5142230" cy="852169"/>
            </a:xfrm>
            <a:custGeom>
              <a:avLst/>
              <a:gdLst/>
              <a:ahLst/>
              <a:cxnLst/>
              <a:rect l="l" t="t" r="r" b="b"/>
              <a:pathLst>
                <a:path w="5142230" h="852169">
                  <a:moveTo>
                    <a:pt x="5141666" y="0"/>
                  </a:moveTo>
                  <a:lnTo>
                    <a:pt x="0" y="0"/>
                  </a:lnTo>
                  <a:lnTo>
                    <a:pt x="0" y="801324"/>
                  </a:lnTo>
                  <a:lnTo>
                    <a:pt x="4008" y="821049"/>
                  </a:lnTo>
                  <a:lnTo>
                    <a:pt x="14922" y="837202"/>
                  </a:lnTo>
                  <a:lnTo>
                    <a:pt x="31075" y="848116"/>
                  </a:lnTo>
                  <a:lnTo>
                    <a:pt x="50800" y="852125"/>
                  </a:lnTo>
                  <a:lnTo>
                    <a:pt x="5090865" y="852125"/>
                  </a:lnTo>
                  <a:lnTo>
                    <a:pt x="5110590" y="848116"/>
                  </a:lnTo>
                  <a:lnTo>
                    <a:pt x="5126743" y="837202"/>
                  </a:lnTo>
                  <a:lnTo>
                    <a:pt x="5137657" y="821049"/>
                  </a:lnTo>
                  <a:lnTo>
                    <a:pt x="5141666" y="80132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003F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49871" y="754085"/>
            <a:ext cx="4460875" cy="65849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algn="ctr" marL="12065" marR="5080">
              <a:lnSpc>
                <a:spcPct val="106700"/>
              </a:lnSpc>
              <a:spcBef>
                <a:spcPts val="20"/>
              </a:spcBef>
            </a:pPr>
            <a:r>
              <a:rPr dirty="0" spc="-30"/>
              <a:t>Predictive</a:t>
            </a:r>
            <a:r>
              <a:rPr dirty="0" spc="-5"/>
              <a:t> </a:t>
            </a:r>
            <a:r>
              <a:rPr dirty="0" spc="-25"/>
              <a:t>Modeling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60" i="1">
                <a:latin typeface="Arial"/>
                <a:cs typeface="Arial"/>
              </a:rPr>
              <a:t>Salmonella</a:t>
            </a:r>
            <a:r>
              <a:rPr dirty="0" i="1">
                <a:latin typeface="Arial"/>
                <a:cs typeface="Arial"/>
              </a:rPr>
              <a:t> </a:t>
            </a:r>
            <a:r>
              <a:rPr dirty="0" spc="-20" i="1">
                <a:latin typeface="Arial"/>
                <a:cs typeface="Arial"/>
              </a:rPr>
              <a:t>enteritidis</a:t>
            </a:r>
            <a:r>
              <a:rPr dirty="0" spc="55" i="1">
                <a:latin typeface="Arial"/>
                <a:cs typeface="Arial"/>
              </a:rPr>
              <a:t> </a:t>
            </a:r>
            <a:r>
              <a:rPr dirty="0" spc="-20"/>
              <a:t>Growth</a:t>
            </a:r>
            <a:r>
              <a:rPr dirty="0"/>
              <a:t> </a:t>
            </a:r>
            <a:r>
              <a:rPr dirty="0" spc="-45"/>
              <a:t>Under </a:t>
            </a:r>
            <a:r>
              <a:rPr dirty="0" spc="-55"/>
              <a:t>Sinusoidal</a:t>
            </a:r>
            <a:r>
              <a:rPr dirty="0" spc="-20"/>
              <a:t> </a:t>
            </a:r>
            <a:r>
              <a:rPr dirty="0" spc="-10"/>
              <a:t>Temperature</a:t>
            </a:r>
          </a:p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dirty="0" sz="1000" spc="-10"/>
              <a:t>Modified</a:t>
            </a:r>
            <a:r>
              <a:rPr dirty="0" sz="1000"/>
              <a:t> </a:t>
            </a:r>
            <a:r>
              <a:rPr dirty="0" sz="1000" spc="-35"/>
              <a:t>Gompertz</a:t>
            </a:r>
            <a:r>
              <a:rPr dirty="0" sz="1000" spc="5"/>
              <a:t> </a:t>
            </a:r>
            <a:r>
              <a:rPr dirty="0" sz="1000" spc="-10"/>
              <a:t>Model</a:t>
            </a:r>
            <a:r>
              <a:rPr dirty="0" sz="1000" spc="5"/>
              <a:t> </a:t>
            </a:r>
            <a:r>
              <a:rPr dirty="0" sz="1000" spc="85"/>
              <a:t>&amp;</a:t>
            </a:r>
            <a:r>
              <a:rPr dirty="0" sz="1000" spc="5"/>
              <a:t> </a:t>
            </a:r>
            <a:r>
              <a:rPr dirty="0" sz="1000" spc="-40"/>
              <a:t>OLS</a:t>
            </a:r>
            <a:r>
              <a:rPr dirty="0" sz="1000" spc="5"/>
              <a:t> </a:t>
            </a:r>
            <a:r>
              <a:rPr dirty="0" sz="1000" spc="-45"/>
              <a:t>Parameter</a:t>
            </a:r>
            <a:r>
              <a:rPr dirty="0" sz="1000"/>
              <a:t> </a:t>
            </a:r>
            <a:r>
              <a:rPr dirty="0" sz="1000" spc="-10"/>
              <a:t>Estimation</a:t>
            </a: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1832381" y="1720575"/>
            <a:ext cx="2095500" cy="904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latin typeface="Arial"/>
                <a:cs typeface="Arial"/>
              </a:rPr>
              <a:t>Boyuan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Zhao,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Wenyu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Xu,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Yizhou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Li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000">
              <a:latin typeface="Arial"/>
              <a:cs typeface="Arial"/>
            </a:endParaRPr>
          </a:p>
          <a:p>
            <a:pPr algn="ctr" marL="12700" marR="5080">
              <a:lnSpc>
                <a:spcPts val="800"/>
              </a:lnSpc>
            </a:pPr>
            <a:r>
              <a:rPr dirty="0" sz="700" spc="-10">
                <a:latin typeface="Arial"/>
                <a:cs typeface="Arial"/>
              </a:rPr>
              <a:t>College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of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Biosystems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Engineering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and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Food</a:t>
            </a:r>
            <a:r>
              <a:rPr dirty="0" sz="700" spc="10">
                <a:latin typeface="Arial"/>
                <a:cs typeface="Arial"/>
              </a:rPr>
              <a:t> </a:t>
            </a:r>
            <a:r>
              <a:rPr dirty="0" sz="700" spc="-30">
                <a:latin typeface="Arial"/>
                <a:cs typeface="Arial"/>
              </a:rPr>
              <a:t>Science</a:t>
            </a:r>
            <a:r>
              <a:rPr dirty="0" sz="700" spc="5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Zhejiang</a:t>
            </a:r>
            <a:r>
              <a:rPr dirty="0" sz="700" spc="20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University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April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14,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2026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12" name="object 12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38" y="0"/>
                  </a:moveTo>
                  <a:lnTo>
                    <a:pt x="2016036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36" y="91287"/>
                  </a:lnTo>
                  <a:lnTo>
                    <a:pt x="3456038" y="91287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456038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12267" y="209928"/>
            <a:ext cx="38989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5">
                <a:solidFill>
                  <a:srgbClr val="FFFFFF"/>
                </a:solidFill>
                <a:latin typeface="STXihei"/>
                <a:cs typeface="STXihei"/>
              </a:rPr>
              <a:t>目录</a:t>
            </a:r>
            <a:endParaRPr sz="1400">
              <a:latin typeface="STXihei"/>
              <a:cs typeface="STXihe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0893" y="654494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480" y="0"/>
                </a:moveTo>
                <a:lnTo>
                  <a:pt x="0" y="0"/>
                </a:lnTo>
                <a:lnTo>
                  <a:pt x="0" y="88480"/>
                </a:lnTo>
                <a:lnTo>
                  <a:pt x="88480" y="88480"/>
                </a:lnTo>
                <a:lnTo>
                  <a:pt x="88480" y="0"/>
                </a:lnTo>
                <a:close/>
              </a:path>
            </a:pathLst>
          </a:custGeom>
          <a:solidFill>
            <a:srgbClr val="003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0893" y="87327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480" y="0"/>
                </a:moveTo>
                <a:lnTo>
                  <a:pt x="0" y="0"/>
                </a:lnTo>
                <a:lnTo>
                  <a:pt x="0" y="88480"/>
                </a:lnTo>
                <a:lnTo>
                  <a:pt x="88480" y="88480"/>
                </a:lnTo>
                <a:lnTo>
                  <a:pt x="88480" y="0"/>
                </a:lnTo>
                <a:close/>
              </a:path>
            </a:pathLst>
          </a:custGeom>
          <a:solidFill>
            <a:srgbClr val="003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0893" y="1092047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480" y="0"/>
                </a:moveTo>
                <a:lnTo>
                  <a:pt x="0" y="0"/>
                </a:lnTo>
                <a:lnTo>
                  <a:pt x="0" y="88480"/>
                </a:lnTo>
                <a:lnTo>
                  <a:pt x="88480" y="88480"/>
                </a:lnTo>
                <a:lnTo>
                  <a:pt x="88480" y="0"/>
                </a:lnTo>
                <a:close/>
              </a:path>
            </a:pathLst>
          </a:custGeom>
          <a:solidFill>
            <a:srgbClr val="003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0893" y="131083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480" y="0"/>
                </a:moveTo>
                <a:lnTo>
                  <a:pt x="0" y="0"/>
                </a:lnTo>
                <a:lnTo>
                  <a:pt x="0" y="88480"/>
                </a:lnTo>
                <a:lnTo>
                  <a:pt x="88480" y="88480"/>
                </a:lnTo>
                <a:lnTo>
                  <a:pt x="88480" y="0"/>
                </a:lnTo>
                <a:close/>
              </a:path>
            </a:pathLst>
          </a:custGeom>
          <a:solidFill>
            <a:srgbClr val="003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0893" y="1529600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480" y="0"/>
                </a:moveTo>
                <a:lnTo>
                  <a:pt x="0" y="0"/>
                </a:lnTo>
                <a:lnTo>
                  <a:pt x="0" y="88480"/>
                </a:lnTo>
                <a:lnTo>
                  <a:pt x="88480" y="88480"/>
                </a:lnTo>
                <a:lnTo>
                  <a:pt x="88480" y="0"/>
                </a:lnTo>
                <a:close/>
              </a:path>
            </a:pathLst>
          </a:custGeom>
          <a:solidFill>
            <a:srgbClr val="003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0893" y="1748383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480" y="0"/>
                </a:moveTo>
                <a:lnTo>
                  <a:pt x="0" y="0"/>
                </a:lnTo>
                <a:lnTo>
                  <a:pt x="0" y="88480"/>
                </a:lnTo>
                <a:lnTo>
                  <a:pt x="88480" y="88480"/>
                </a:lnTo>
                <a:lnTo>
                  <a:pt x="88480" y="0"/>
                </a:lnTo>
                <a:close/>
              </a:path>
            </a:pathLst>
          </a:custGeom>
          <a:solidFill>
            <a:srgbClr val="003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0893" y="1967166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480" y="0"/>
                </a:moveTo>
                <a:lnTo>
                  <a:pt x="0" y="0"/>
                </a:lnTo>
                <a:lnTo>
                  <a:pt x="0" y="88480"/>
                </a:lnTo>
                <a:lnTo>
                  <a:pt x="88480" y="88480"/>
                </a:lnTo>
                <a:lnTo>
                  <a:pt x="88480" y="0"/>
                </a:lnTo>
                <a:close/>
              </a:path>
            </a:pathLst>
          </a:custGeom>
          <a:solidFill>
            <a:srgbClr val="003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0893" y="2185936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480" y="0"/>
                </a:moveTo>
                <a:lnTo>
                  <a:pt x="0" y="0"/>
                </a:lnTo>
                <a:lnTo>
                  <a:pt x="0" y="88480"/>
                </a:lnTo>
                <a:lnTo>
                  <a:pt x="88480" y="88480"/>
                </a:lnTo>
                <a:lnTo>
                  <a:pt x="88480" y="0"/>
                </a:lnTo>
                <a:close/>
              </a:path>
            </a:pathLst>
          </a:custGeom>
          <a:solidFill>
            <a:srgbClr val="003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90893" y="2404719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480" y="0"/>
                </a:moveTo>
                <a:lnTo>
                  <a:pt x="0" y="0"/>
                </a:lnTo>
                <a:lnTo>
                  <a:pt x="0" y="88480"/>
                </a:lnTo>
                <a:lnTo>
                  <a:pt x="88480" y="88480"/>
                </a:lnTo>
                <a:lnTo>
                  <a:pt x="88480" y="0"/>
                </a:lnTo>
                <a:close/>
              </a:path>
            </a:pathLst>
          </a:custGeom>
          <a:solidFill>
            <a:srgbClr val="003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0893" y="2623502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480" y="0"/>
                </a:moveTo>
                <a:lnTo>
                  <a:pt x="0" y="0"/>
                </a:lnTo>
                <a:lnTo>
                  <a:pt x="0" y="88480"/>
                </a:lnTo>
                <a:lnTo>
                  <a:pt x="88480" y="88480"/>
                </a:lnTo>
                <a:lnTo>
                  <a:pt x="88480" y="0"/>
                </a:lnTo>
                <a:close/>
              </a:path>
            </a:pathLst>
          </a:custGeom>
          <a:solidFill>
            <a:srgbClr val="003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90893" y="2842272"/>
            <a:ext cx="88900" cy="88900"/>
          </a:xfrm>
          <a:custGeom>
            <a:avLst/>
            <a:gdLst/>
            <a:ahLst/>
            <a:cxnLst/>
            <a:rect l="l" t="t" r="r" b="b"/>
            <a:pathLst>
              <a:path w="88900" h="88900">
                <a:moveTo>
                  <a:pt x="88480" y="0"/>
                </a:moveTo>
                <a:lnTo>
                  <a:pt x="0" y="0"/>
                </a:lnTo>
                <a:lnTo>
                  <a:pt x="0" y="88480"/>
                </a:lnTo>
                <a:lnTo>
                  <a:pt x="88480" y="88480"/>
                </a:lnTo>
                <a:lnTo>
                  <a:pt x="88480" y="0"/>
                </a:lnTo>
                <a:close/>
              </a:path>
            </a:pathLst>
          </a:custGeom>
          <a:solidFill>
            <a:srgbClr val="003E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78193" y="521062"/>
            <a:ext cx="1719580" cy="243205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620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700" spc="3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3E87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1000" spc="20">
                <a:solidFill>
                  <a:srgbClr val="003E87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000" spc="85">
                <a:solidFill>
                  <a:srgbClr val="003E87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1000" spc="15">
                <a:solidFill>
                  <a:srgbClr val="003E87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endParaRPr sz="100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25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700" spc="2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1000" spc="15">
                <a:solidFill>
                  <a:srgbClr val="003E87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endParaRPr sz="100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20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sz="700" spc="3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3E87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1000" spc="20">
                <a:solidFill>
                  <a:srgbClr val="003E87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endParaRPr sz="100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25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dirty="0" sz="700" spc="3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45">
                <a:solidFill>
                  <a:srgbClr val="003E87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1000" spc="20">
                <a:solidFill>
                  <a:srgbClr val="003E87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25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dirty="0" sz="700" spc="3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45">
                <a:solidFill>
                  <a:srgbClr val="003E87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1000" spc="35">
                <a:solidFill>
                  <a:srgbClr val="003E87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endParaRPr sz="100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20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700" spc="3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40">
                <a:solidFill>
                  <a:srgbClr val="003E87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1000" spc="20">
                <a:solidFill>
                  <a:srgbClr val="003E87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endParaRPr sz="100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25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dirty="0" sz="700" spc="2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1000" spc="15">
                <a:solidFill>
                  <a:srgbClr val="003E87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endParaRPr sz="100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20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700" spc="3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3E87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1000" spc="20">
                <a:solidFill>
                  <a:srgbClr val="003E87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1000" spc="-35">
                <a:solidFill>
                  <a:srgbClr val="003E87"/>
                </a:solidFill>
                <a:latin typeface="Arial"/>
                <a:cs typeface="Arial"/>
                <a:hlinkClick r:id="rId9" action="ppaction://hlinksldjump"/>
              </a:rPr>
              <a:t>Experimental</a:t>
            </a:r>
            <a:r>
              <a:rPr dirty="0" sz="1000" spc="20">
                <a:solidFill>
                  <a:srgbClr val="003E87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1000" spc="-40">
                <a:solidFill>
                  <a:srgbClr val="003E87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endParaRPr sz="100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25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dirty="0" sz="700" spc="3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dirty="0" sz="700" spc="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dirty="0" sz="700" spc="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  <a:hlinkClick r:id="rId14" action="ppaction://hlinksldjump"/>
              </a:rPr>
              <a:t>References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22" name="object 22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25" y="0"/>
                  </a:moveTo>
                  <a:lnTo>
                    <a:pt x="2016023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23" y="91287"/>
                  </a:lnTo>
                  <a:lnTo>
                    <a:pt x="3456025" y="91287"/>
                  </a:lnTo>
                  <a:lnTo>
                    <a:pt x="3456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456025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Introduction </a:t>
            </a:r>
            <a:r>
              <a:rPr dirty="0" spc="120"/>
              <a:t>&amp;</a:t>
            </a:r>
            <a:r>
              <a:rPr dirty="0" spc="5"/>
              <a:t> </a:t>
            </a:r>
            <a:r>
              <a:rPr dirty="0" spc="-50"/>
              <a:t>Background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48424" y="994162"/>
            <a:ext cx="4133850" cy="59499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63830" indent="-125730">
              <a:lnSpc>
                <a:spcPct val="100000"/>
              </a:lnSpc>
              <a:spcBef>
                <a:spcPts val="3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45" i="1">
                <a:latin typeface="Arial"/>
                <a:cs typeface="Arial"/>
              </a:rPr>
              <a:t>Salmonella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enteritidis</a:t>
            </a:r>
            <a:r>
              <a:rPr dirty="0" sz="1000" spc="35" i="1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is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major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foodborne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35">
                <a:latin typeface="Arial"/>
                <a:cs typeface="Arial"/>
              </a:rPr>
              <a:t>pathogen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egg</a:t>
            </a:r>
            <a:r>
              <a:rPr dirty="0" sz="1000" spc="-10">
                <a:latin typeface="Arial"/>
                <a:cs typeface="Arial"/>
              </a:rPr>
              <a:t> products</a:t>
            </a:r>
            <a:endParaRPr sz="1000">
              <a:latin typeface="Arial"/>
              <a:cs typeface="Arial"/>
            </a:endParaRPr>
          </a:p>
          <a:p>
            <a:pPr marL="163830" indent="-125730">
              <a:lnSpc>
                <a:spcPct val="100000"/>
              </a:lnSpc>
              <a:spcBef>
                <a:spcPts val="2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40">
                <a:latin typeface="Arial"/>
                <a:cs typeface="Arial"/>
              </a:rPr>
              <a:t>Temperature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fluctuations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during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storage/transport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affect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microbial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growth</a:t>
            </a:r>
            <a:endParaRPr sz="1000">
              <a:latin typeface="Arial"/>
              <a:cs typeface="Arial"/>
            </a:endParaRPr>
          </a:p>
          <a:p>
            <a:pPr marL="163830" indent="-125730">
              <a:lnSpc>
                <a:spcPct val="100000"/>
              </a:lnSpc>
              <a:spcBef>
                <a:spcPts val="290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50">
                <a:latin typeface="Arial"/>
                <a:cs typeface="Arial"/>
              </a:rPr>
              <a:t>Reference:</a:t>
            </a:r>
            <a:r>
              <a:rPr dirty="0" sz="1000" spc="85">
                <a:latin typeface="Arial"/>
                <a:cs typeface="Arial"/>
              </a:rPr>
              <a:t> </a:t>
            </a:r>
            <a:r>
              <a:rPr dirty="0" sz="1000" spc="-35">
                <a:latin typeface="Arial"/>
                <a:cs typeface="Arial"/>
              </a:rPr>
              <a:t>Gumudavelli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et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al. </a:t>
            </a:r>
            <a:r>
              <a:rPr dirty="0" sz="1000" spc="-10">
                <a:latin typeface="Arial"/>
                <a:cs typeface="Arial"/>
              </a:rPr>
              <a:t>(2007),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J.</a:t>
            </a:r>
            <a:r>
              <a:rPr dirty="0" sz="1000" spc="-5" i="1">
                <a:latin typeface="Arial"/>
                <a:cs typeface="Arial"/>
              </a:rPr>
              <a:t> </a:t>
            </a:r>
            <a:r>
              <a:rPr dirty="0" sz="1000" spc="-25" i="1">
                <a:latin typeface="Arial"/>
                <a:cs typeface="Arial"/>
              </a:rPr>
              <a:t>Food</a:t>
            </a:r>
            <a:r>
              <a:rPr dirty="0" sz="1000" spc="-5" i="1">
                <a:latin typeface="Arial"/>
                <a:cs typeface="Arial"/>
              </a:rPr>
              <a:t> </a:t>
            </a:r>
            <a:r>
              <a:rPr dirty="0" sz="1000" spc="-20" i="1">
                <a:latin typeface="Arial"/>
                <a:cs typeface="Arial"/>
              </a:rPr>
              <a:t>Sci.</a:t>
            </a:r>
            <a:r>
              <a:rPr dirty="0" sz="1000" spc="-5" i="1">
                <a:latin typeface="Arial"/>
                <a:cs typeface="Arial"/>
              </a:rPr>
              <a:t> </a:t>
            </a:r>
            <a:r>
              <a:rPr dirty="0" sz="1000" spc="-45">
                <a:latin typeface="Arial"/>
                <a:cs typeface="Arial"/>
              </a:rPr>
              <a:t>72:M254–</a:t>
            </a:r>
            <a:r>
              <a:rPr dirty="0" sz="1000">
                <a:latin typeface="Arial"/>
                <a:cs typeface="Arial"/>
              </a:rPr>
              <a:t>62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[</a:t>
            </a:r>
            <a:r>
              <a:rPr dirty="0" sz="1000" spc="-25">
                <a:latin typeface="Arial"/>
                <a:cs typeface="Arial"/>
                <a:hlinkClick r:id="rId14" action="ppaction://hlinksldjump"/>
              </a:rPr>
              <a:t>1</a:t>
            </a:r>
            <a:r>
              <a:rPr dirty="0" sz="1000" spc="-25">
                <a:latin typeface="Arial"/>
                <a:cs typeface="Arial"/>
              </a:rPr>
              <a:t>]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9193" y="1785048"/>
            <a:ext cx="5142230" cy="572770"/>
            <a:chOff x="309193" y="1785048"/>
            <a:chExt cx="5142230" cy="572770"/>
          </a:xfrm>
        </p:grpSpPr>
        <p:sp>
          <p:nvSpPr>
            <p:cNvPr id="11" name="object 11"/>
            <p:cNvSpPr/>
            <p:nvPr/>
          </p:nvSpPr>
          <p:spPr>
            <a:xfrm>
              <a:off x="309193" y="1785048"/>
              <a:ext cx="5142230" cy="203200"/>
            </a:xfrm>
            <a:custGeom>
              <a:avLst/>
              <a:gdLst/>
              <a:ahLst/>
              <a:cxnLst/>
              <a:rect l="l" t="t" r="r" b="b"/>
              <a:pathLst>
                <a:path w="5142230" h="20320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2939"/>
                  </a:lnTo>
                  <a:lnTo>
                    <a:pt x="5141666" y="202939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2F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9193" y="1975332"/>
              <a:ext cx="5141666" cy="506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9193" y="2019608"/>
              <a:ext cx="5142230" cy="338455"/>
            </a:xfrm>
            <a:custGeom>
              <a:avLst/>
              <a:gdLst/>
              <a:ahLst/>
              <a:cxnLst/>
              <a:rect l="l" t="t" r="r" b="b"/>
              <a:pathLst>
                <a:path w="5142230" h="338455">
                  <a:moveTo>
                    <a:pt x="5141666" y="0"/>
                  </a:moveTo>
                  <a:lnTo>
                    <a:pt x="0" y="0"/>
                  </a:lnTo>
                  <a:lnTo>
                    <a:pt x="0" y="287295"/>
                  </a:lnTo>
                  <a:lnTo>
                    <a:pt x="4008" y="307020"/>
                  </a:lnTo>
                  <a:lnTo>
                    <a:pt x="14922" y="323173"/>
                  </a:lnTo>
                  <a:lnTo>
                    <a:pt x="31075" y="334087"/>
                  </a:lnTo>
                  <a:lnTo>
                    <a:pt x="50800" y="338095"/>
                  </a:lnTo>
                  <a:lnTo>
                    <a:pt x="5090865" y="338095"/>
                  </a:lnTo>
                  <a:lnTo>
                    <a:pt x="5110590" y="334087"/>
                  </a:lnTo>
                  <a:lnTo>
                    <a:pt x="5126743" y="323173"/>
                  </a:lnTo>
                  <a:lnTo>
                    <a:pt x="5137657" y="307020"/>
                  </a:lnTo>
                  <a:lnTo>
                    <a:pt x="5141666" y="28729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A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47294" y="1710889"/>
            <a:ext cx="4657090" cy="61468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Objective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65"/>
              </a:spcBef>
            </a:pPr>
            <a:r>
              <a:rPr dirty="0" sz="1000" spc="-75">
                <a:latin typeface="Arial"/>
                <a:cs typeface="Arial"/>
              </a:rPr>
              <a:t>Use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modified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35">
                <a:latin typeface="Arial"/>
                <a:cs typeface="Arial"/>
              </a:rPr>
              <a:t>Gompertz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model</a:t>
            </a:r>
            <a:r>
              <a:rPr dirty="0" sz="1000">
                <a:latin typeface="Arial"/>
                <a:cs typeface="Arial"/>
              </a:rPr>
              <a:t> to </a:t>
            </a:r>
            <a:r>
              <a:rPr dirty="0" sz="1000" spc="-20">
                <a:latin typeface="Arial"/>
                <a:cs typeface="Arial"/>
              </a:rPr>
              <a:t>predict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45" i="1">
                <a:latin typeface="Arial"/>
                <a:cs typeface="Arial"/>
              </a:rPr>
              <a:t>Salmonella</a:t>
            </a:r>
            <a:r>
              <a:rPr dirty="0" sz="1000" spc="15" i="1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growth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under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40">
                <a:latin typeface="Arial"/>
                <a:cs typeface="Arial"/>
              </a:rPr>
              <a:t>sinusoidal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heating, </a:t>
            </a:r>
            <a:r>
              <a:rPr dirty="0" sz="1000" spc="-30">
                <a:latin typeface="Arial"/>
                <a:cs typeface="Arial"/>
              </a:rPr>
              <a:t>estimate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model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parameters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via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OLS,</a:t>
            </a:r>
            <a:r>
              <a:rPr dirty="0" sz="1000" spc="-20">
                <a:latin typeface="Arial"/>
                <a:cs typeface="Arial"/>
              </a:rPr>
              <a:t> and </a:t>
            </a:r>
            <a:r>
              <a:rPr dirty="0" sz="1000" spc="-35">
                <a:latin typeface="Arial"/>
                <a:cs typeface="Arial"/>
              </a:rPr>
              <a:t>evaluate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model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adequacy.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16" name="object 16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25" y="0"/>
                  </a:moveTo>
                  <a:lnTo>
                    <a:pt x="2016023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23" y="91287"/>
                  </a:lnTo>
                  <a:lnTo>
                    <a:pt x="3456025" y="91287"/>
                  </a:lnTo>
                  <a:lnTo>
                    <a:pt x="3456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456025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Model</a:t>
            </a:r>
            <a:r>
              <a:rPr dirty="0" spc="-65"/>
              <a:t> </a:t>
            </a:r>
            <a:r>
              <a:rPr dirty="0" spc="-35"/>
              <a:t>Description</a:t>
            </a:r>
          </a:p>
        </p:txBody>
      </p:sp>
      <p:sp>
        <p:nvSpPr>
          <p:cNvPr id="9" name="object 9"/>
          <p:cNvSpPr/>
          <p:nvPr/>
        </p:nvSpPr>
        <p:spPr>
          <a:xfrm>
            <a:off x="309193" y="905776"/>
            <a:ext cx="5142230" cy="215900"/>
          </a:xfrm>
          <a:custGeom>
            <a:avLst/>
            <a:gdLst/>
            <a:ahLst/>
            <a:cxnLst/>
            <a:rect l="l" t="t" r="r" b="b"/>
            <a:pathLst>
              <a:path w="5142230" h="21590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389"/>
                </a:lnTo>
                <a:lnTo>
                  <a:pt x="5141666" y="215389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002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47294" y="893213"/>
            <a:ext cx="20935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40">
                <a:solidFill>
                  <a:srgbClr val="FFFFFF"/>
                </a:solidFill>
                <a:latin typeface="Arial"/>
                <a:cs typeface="Arial"/>
              </a:rPr>
              <a:t>Primary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(differential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 form)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9193" y="1108506"/>
            <a:ext cx="5142230" cy="388620"/>
            <a:chOff x="309193" y="1108506"/>
            <a:chExt cx="5142230" cy="388620"/>
          </a:xfrm>
        </p:grpSpPr>
        <p:pic>
          <p:nvPicPr>
            <p:cNvPr id="12" name="object 1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9193" y="1108506"/>
              <a:ext cx="5141666" cy="506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9193" y="1152797"/>
              <a:ext cx="5142230" cy="344170"/>
            </a:xfrm>
            <a:custGeom>
              <a:avLst/>
              <a:gdLst/>
              <a:ahLst/>
              <a:cxnLst/>
              <a:rect l="l" t="t" r="r" b="b"/>
              <a:pathLst>
                <a:path w="5142230" h="344169">
                  <a:moveTo>
                    <a:pt x="5141666" y="0"/>
                  </a:moveTo>
                  <a:lnTo>
                    <a:pt x="0" y="0"/>
                  </a:lnTo>
                  <a:lnTo>
                    <a:pt x="0" y="293174"/>
                  </a:lnTo>
                  <a:lnTo>
                    <a:pt x="4008" y="312898"/>
                  </a:lnTo>
                  <a:lnTo>
                    <a:pt x="14922" y="329051"/>
                  </a:lnTo>
                  <a:lnTo>
                    <a:pt x="31075" y="339966"/>
                  </a:lnTo>
                  <a:lnTo>
                    <a:pt x="50800" y="343974"/>
                  </a:lnTo>
                  <a:lnTo>
                    <a:pt x="5090865" y="343974"/>
                  </a:lnTo>
                  <a:lnTo>
                    <a:pt x="5110590" y="339966"/>
                  </a:lnTo>
                  <a:lnTo>
                    <a:pt x="5126743" y="329051"/>
                  </a:lnTo>
                  <a:lnTo>
                    <a:pt x="5137657" y="312898"/>
                  </a:lnTo>
                  <a:lnTo>
                    <a:pt x="5141666" y="29317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A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556677" y="1311724"/>
            <a:ext cx="1320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i="1">
                <a:latin typeface="Times New Roman"/>
                <a:cs typeface="Times New Roman"/>
              </a:rPr>
              <a:t>dt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3337" y="1139334"/>
            <a:ext cx="2981325" cy="262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935"/>
              </a:lnSpc>
              <a:spcBef>
                <a:spcPts val="95"/>
              </a:spcBef>
              <a:tabLst>
                <a:tab pos="2230755" algn="l"/>
                <a:tab pos="2872105" algn="l"/>
              </a:tabLst>
            </a:pPr>
            <a:r>
              <a:rPr dirty="0" u="sng" sz="10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u="sng" sz="1000" spc="-8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log</a:t>
            </a:r>
            <a:r>
              <a:rPr dirty="0" u="sng" sz="1000" spc="-7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2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dirty="0" sz="1000" i="1">
                <a:latin typeface="Times New Roman"/>
                <a:cs typeface="Times New Roman"/>
              </a:rPr>
              <a:t>	</a:t>
            </a:r>
            <a:r>
              <a:rPr dirty="0" baseline="8333" sz="1500" spc="97">
                <a:latin typeface="Times New Roman"/>
                <a:cs typeface="Times New Roman"/>
              </a:rPr>
              <a:t>(</a:t>
            </a:r>
            <a:r>
              <a:rPr dirty="0" baseline="8333" sz="1500">
                <a:latin typeface="Times New Roman"/>
                <a:cs typeface="Times New Roman"/>
              </a:rPr>
              <a:t>	</a:t>
            </a:r>
            <a:r>
              <a:rPr dirty="0" baseline="8333" sz="1500" spc="97">
                <a:latin typeface="Times New Roman"/>
                <a:cs typeface="Times New Roman"/>
              </a:rPr>
              <a:t>)</a:t>
            </a:r>
            <a:endParaRPr baseline="8333" sz="1500">
              <a:latin typeface="Times New Roman"/>
              <a:cs typeface="Times New Roman"/>
            </a:endParaRPr>
          </a:p>
          <a:p>
            <a:pPr marL="450850">
              <a:lnSpc>
                <a:spcPts val="935"/>
              </a:lnSpc>
              <a:tabLst>
                <a:tab pos="1792605" algn="l"/>
              </a:tabLst>
            </a:pP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35">
                <a:latin typeface="Times New Roman"/>
                <a:cs typeface="Times New Roman"/>
              </a:rPr>
              <a:t> </a:t>
            </a:r>
            <a:r>
              <a:rPr dirty="0" sz="1000" i="1">
                <a:latin typeface="Arial"/>
                <a:cs typeface="Arial"/>
              </a:rPr>
              <a:t>µ</a:t>
            </a:r>
            <a:r>
              <a:rPr dirty="0" sz="1000" spc="-50" i="1">
                <a:latin typeface="Arial"/>
                <a:cs typeface="Arial"/>
              </a:rPr>
              <a:t> </a:t>
            </a:r>
            <a:r>
              <a:rPr dirty="0" sz="1000" spc="-330" i="1">
                <a:latin typeface="JetBrainsMono Nerd Font ExtraLight"/>
                <a:cs typeface="JetBrainsMono Nerd Font ExtraLight"/>
              </a:rPr>
              <a:t>·</a:t>
            </a:r>
            <a:r>
              <a:rPr dirty="0" sz="1000" spc="-37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 spc="95" i="1">
                <a:latin typeface="Times New Roman"/>
                <a:cs typeface="Times New Roman"/>
              </a:rPr>
              <a:t>K</a:t>
            </a:r>
            <a:r>
              <a:rPr dirty="0" sz="1000" spc="-15" i="1">
                <a:latin typeface="Times New Roman"/>
                <a:cs typeface="Times New Roman"/>
              </a:rPr>
              <a:t> </a:t>
            </a:r>
            <a:r>
              <a:rPr dirty="0" sz="1000" spc="-330" i="1">
                <a:latin typeface="JetBrainsMono Nerd Font ExtraLight"/>
                <a:cs typeface="JetBrainsMono Nerd Font ExtraLight"/>
              </a:rPr>
              <a:t>·</a:t>
            </a:r>
            <a:r>
              <a:rPr dirty="0" sz="1000" spc="-37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C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spc="-330" i="1">
                <a:latin typeface="JetBrainsMono Nerd Font ExtraLight"/>
                <a:cs typeface="JetBrainsMono Nerd Font ExtraLight"/>
              </a:rPr>
              <a:t>·</a:t>
            </a:r>
            <a:r>
              <a:rPr dirty="0" sz="1000" spc="-37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 spc="40">
                <a:latin typeface="Times New Roman"/>
                <a:cs typeface="Times New Roman"/>
              </a:rPr>
              <a:t>exp(</a:t>
            </a:r>
            <a:r>
              <a:rPr dirty="0" sz="1000" spc="40" i="1">
                <a:latin typeface="JetBrainsMono Nerd Font ExtraLight"/>
                <a:cs typeface="JetBrainsMono Nerd Font ExtraLight"/>
              </a:rPr>
              <a:t>−</a:t>
            </a:r>
            <a:r>
              <a:rPr dirty="0" sz="1000" spc="40" i="1">
                <a:latin typeface="Times New Roman"/>
                <a:cs typeface="Times New Roman"/>
              </a:rPr>
              <a:t>K</a:t>
            </a:r>
            <a:r>
              <a:rPr dirty="0" sz="1000" spc="40">
                <a:latin typeface="Times New Roman"/>
                <a:cs typeface="Times New Roman"/>
              </a:rPr>
              <a:t>)</a:t>
            </a:r>
            <a:r>
              <a:rPr dirty="0" sz="1000" spc="40" i="1">
                <a:latin typeface="Arial"/>
                <a:cs typeface="Arial"/>
              </a:rPr>
              <a:t>,</a:t>
            </a:r>
            <a:r>
              <a:rPr dirty="0" sz="1000" i="1">
                <a:latin typeface="Arial"/>
                <a:cs typeface="Arial"/>
              </a:rPr>
              <a:t>	</a:t>
            </a:r>
            <a:r>
              <a:rPr dirty="0" sz="1000" spc="95" i="1">
                <a:latin typeface="Times New Roman"/>
                <a:cs typeface="Times New Roman"/>
              </a:rPr>
              <a:t>K</a:t>
            </a:r>
            <a:r>
              <a:rPr dirty="0" sz="1000" spc="40" i="1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exp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70" i="1">
                <a:latin typeface="JetBrainsMono Nerd Font ExtraLight"/>
                <a:cs typeface="JetBrainsMono Nerd Font ExtraLight"/>
              </a:rPr>
              <a:t>−</a:t>
            </a:r>
            <a:r>
              <a:rPr dirty="0" sz="1000" spc="70" i="1">
                <a:latin typeface="Arial"/>
                <a:cs typeface="Arial"/>
              </a:rPr>
              <a:t>µ</a:t>
            </a:r>
            <a:r>
              <a:rPr dirty="0" sz="1000" spc="70">
                <a:latin typeface="Times New Roman"/>
                <a:cs typeface="Times New Roman"/>
              </a:rPr>
              <a:t>(</a:t>
            </a:r>
            <a:r>
              <a:rPr dirty="0" sz="1000" spc="70" i="1">
                <a:latin typeface="Times New Roman"/>
                <a:cs typeface="Times New Roman"/>
              </a:rPr>
              <a:t>t</a:t>
            </a:r>
            <a:r>
              <a:rPr dirty="0" sz="1000" spc="-15" i="1">
                <a:latin typeface="Times New Roman"/>
                <a:cs typeface="Times New Roman"/>
              </a:rPr>
              <a:t> </a:t>
            </a:r>
            <a:r>
              <a:rPr dirty="0" sz="1000" spc="170" i="1">
                <a:latin typeface="JetBrainsMono Nerd Font ExtraLight"/>
                <a:cs typeface="JetBrainsMono Nerd Font ExtraLight"/>
              </a:rPr>
              <a:t>−</a:t>
            </a:r>
            <a:r>
              <a:rPr dirty="0" sz="1000" spc="-36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 spc="-25" i="1">
                <a:latin typeface="Times New Roman"/>
                <a:cs typeface="Times New Roman"/>
              </a:rPr>
              <a:t>M</a:t>
            </a:r>
            <a:r>
              <a:rPr dirty="0" sz="1000" spc="-25">
                <a:latin typeface="Times New Roman"/>
                <a:cs typeface="Times New Roman"/>
              </a:rPr>
              <a:t>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25605" y="1224932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(1)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9193" y="1623288"/>
            <a:ext cx="5142230" cy="215900"/>
          </a:xfrm>
          <a:custGeom>
            <a:avLst/>
            <a:gdLst/>
            <a:ahLst/>
            <a:cxnLst/>
            <a:rect l="l" t="t" r="r" b="b"/>
            <a:pathLst>
              <a:path w="5142230" h="21590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389"/>
                </a:lnTo>
                <a:lnTo>
                  <a:pt x="5141666" y="215389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002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47294" y="1610738"/>
            <a:ext cx="298704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solidFill>
                  <a:srgbClr val="FFFFFF"/>
                </a:solidFill>
                <a:latin typeface="Arial"/>
                <a:cs typeface="Arial"/>
              </a:rPr>
              <a:t>Secondary</a:t>
            </a:r>
            <a:r>
              <a:rPr dirty="0" sz="12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2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(growth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rate</a:t>
            </a:r>
            <a:r>
              <a:rPr dirty="0" sz="12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vs.</a:t>
            </a:r>
            <a:r>
              <a:rPr dirty="0" sz="12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Arial"/>
                <a:cs typeface="Arial"/>
              </a:rPr>
              <a:t>temperature)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9193" y="1826031"/>
            <a:ext cx="5142230" cy="310515"/>
            <a:chOff x="309193" y="1826031"/>
            <a:chExt cx="5142230" cy="310515"/>
          </a:xfrm>
        </p:grpSpPr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9193" y="1826031"/>
              <a:ext cx="5141666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9193" y="1870303"/>
              <a:ext cx="5142230" cy="266065"/>
            </a:xfrm>
            <a:custGeom>
              <a:avLst/>
              <a:gdLst/>
              <a:ahLst/>
              <a:cxnLst/>
              <a:rect l="l" t="t" r="r" b="b"/>
              <a:pathLst>
                <a:path w="5142230" h="266064">
                  <a:moveTo>
                    <a:pt x="5141666" y="0"/>
                  </a:moveTo>
                  <a:lnTo>
                    <a:pt x="0" y="0"/>
                  </a:lnTo>
                  <a:lnTo>
                    <a:pt x="0" y="215049"/>
                  </a:lnTo>
                  <a:lnTo>
                    <a:pt x="4008" y="234774"/>
                  </a:lnTo>
                  <a:lnTo>
                    <a:pt x="14922" y="250927"/>
                  </a:lnTo>
                  <a:lnTo>
                    <a:pt x="31075" y="261841"/>
                  </a:lnTo>
                  <a:lnTo>
                    <a:pt x="50800" y="265849"/>
                  </a:lnTo>
                  <a:lnTo>
                    <a:pt x="5090865" y="265849"/>
                  </a:lnTo>
                  <a:lnTo>
                    <a:pt x="5110590" y="261841"/>
                  </a:lnTo>
                  <a:lnTo>
                    <a:pt x="5126743" y="250927"/>
                  </a:lnTo>
                  <a:lnTo>
                    <a:pt x="5137657" y="234774"/>
                  </a:lnTo>
                  <a:lnTo>
                    <a:pt x="5141666" y="215049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A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225605" y="1908218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"/>
                <a:cs typeface="Arial"/>
              </a:rPr>
              <a:t>(2)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8424" y="1908218"/>
            <a:ext cx="4256405" cy="709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02385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latin typeface="Arial"/>
                <a:cs typeface="Arial"/>
              </a:rPr>
              <a:t>µ</a:t>
            </a:r>
            <a:r>
              <a:rPr dirty="0" sz="1000" spc="20" i="1">
                <a:latin typeface="Arial"/>
                <a:cs typeface="Arial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 spc="70" i="1">
                <a:latin typeface="Times New Roman"/>
                <a:cs typeface="Times New Roman"/>
              </a:rPr>
              <a:t>a</a:t>
            </a:r>
            <a:r>
              <a:rPr dirty="0" sz="1000" spc="70">
                <a:latin typeface="Times New Roman"/>
                <a:cs typeface="Times New Roman"/>
              </a:rPr>
              <a:t>(</a:t>
            </a:r>
            <a:r>
              <a:rPr dirty="0" sz="1000" spc="70" i="1">
                <a:latin typeface="Times New Roman"/>
                <a:cs typeface="Times New Roman"/>
              </a:rPr>
              <a:t>T</a:t>
            </a:r>
            <a:r>
              <a:rPr dirty="0" sz="1000" spc="-5" i="1">
                <a:latin typeface="Times New Roman"/>
                <a:cs typeface="Times New Roman"/>
              </a:rPr>
              <a:t> </a:t>
            </a:r>
            <a:r>
              <a:rPr dirty="0" sz="1000" spc="170" i="1">
                <a:latin typeface="JetBrainsMono Nerd Font ExtraLight"/>
                <a:cs typeface="JetBrainsMono Nerd Font ExtraLight"/>
              </a:rPr>
              <a:t>−</a:t>
            </a:r>
            <a:r>
              <a:rPr dirty="0" sz="1000" spc="-36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 spc="85" i="1">
                <a:latin typeface="Times New Roman"/>
                <a:cs typeface="Times New Roman"/>
              </a:rPr>
              <a:t>T</a:t>
            </a:r>
            <a:r>
              <a:rPr dirty="0" baseline="-11904" sz="1050" spc="127">
                <a:latin typeface="Times New Roman"/>
                <a:cs typeface="Times New Roman"/>
              </a:rPr>
              <a:t>min</a:t>
            </a:r>
            <a:r>
              <a:rPr dirty="0" sz="1000" spc="85">
                <a:latin typeface="Times New Roman"/>
                <a:cs typeface="Times New Roman"/>
              </a:rPr>
              <a:t>)</a:t>
            </a:r>
            <a:r>
              <a:rPr dirty="0" baseline="31746" sz="1050" spc="127">
                <a:latin typeface="Times New Roman"/>
                <a:cs typeface="Times New Roman"/>
              </a:rPr>
              <a:t>2</a:t>
            </a:r>
            <a:r>
              <a:rPr dirty="0" baseline="44444" sz="1500" spc="127">
                <a:latin typeface="Times New Roman"/>
                <a:cs typeface="Times New Roman"/>
              </a:rPr>
              <a:t>(</a:t>
            </a:r>
            <a:r>
              <a:rPr dirty="0" sz="1000" spc="85">
                <a:latin typeface="Times New Roman"/>
                <a:cs typeface="Times New Roman"/>
              </a:rPr>
              <a:t>1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170" i="1">
                <a:latin typeface="JetBrainsMono Nerd Font ExtraLight"/>
                <a:cs typeface="JetBrainsMono Nerd Font ExtraLight"/>
              </a:rPr>
              <a:t>−</a:t>
            </a:r>
            <a:r>
              <a:rPr dirty="0" sz="1000" spc="-36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exp[</a:t>
            </a:r>
            <a:r>
              <a:rPr dirty="0" sz="1000" i="1">
                <a:latin typeface="Times New Roman"/>
                <a:cs typeface="Times New Roman"/>
              </a:rPr>
              <a:t>b</a:t>
            </a:r>
            <a:r>
              <a:rPr dirty="0" sz="1000">
                <a:latin typeface="Times New Roman"/>
                <a:cs typeface="Times New Roman"/>
              </a:rPr>
              <a:t>(</a:t>
            </a:r>
            <a:r>
              <a:rPr dirty="0" sz="1000" i="1">
                <a:latin typeface="Times New Roman"/>
                <a:cs typeface="Times New Roman"/>
              </a:rPr>
              <a:t>T</a:t>
            </a:r>
            <a:r>
              <a:rPr dirty="0" sz="1000" spc="-5" i="1">
                <a:latin typeface="Times New Roman"/>
                <a:cs typeface="Times New Roman"/>
              </a:rPr>
              <a:t> </a:t>
            </a:r>
            <a:r>
              <a:rPr dirty="0" sz="1000" spc="170" i="1">
                <a:latin typeface="JetBrainsMono Nerd Font ExtraLight"/>
                <a:cs typeface="JetBrainsMono Nerd Font ExtraLight"/>
              </a:rPr>
              <a:t>−</a:t>
            </a:r>
            <a:r>
              <a:rPr dirty="0" sz="1000" spc="-355" i="1">
                <a:latin typeface="JetBrainsMono Nerd Font ExtraLight"/>
                <a:cs typeface="JetBrainsMono Nerd Font ExtraLight"/>
              </a:rPr>
              <a:t> </a:t>
            </a:r>
            <a:r>
              <a:rPr dirty="0" sz="1000" spc="70" i="1">
                <a:latin typeface="Times New Roman"/>
                <a:cs typeface="Times New Roman"/>
              </a:rPr>
              <a:t>T</a:t>
            </a:r>
            <a:r>
              <a:rPr dirty="0" baseline="-11904" sz="1050" spc="104">
                <a:latin typeface="Times New Roman"/>
                <a:cs typeface="Times New Roman"/>
              </a:rPr>
              <a:t>max</a:t>
            </a:r>
            <a:r>
              <a:rPr dirty="0" sz="1000" spc="70">
                <a:latin typeface="Times New Roman"/>
                <a:cs typeface="Times New Roman"/>
              </a:rPr>
              <a:t>)]</a:t>
            </a:r>
            <a:r>
              <a:rPr dirty="0" baseline="44444" sz="1500" spc="104">
                <a:latin typeface="Times New Roman"/>
                <a:cs typeface="Times New Roman"/>
              </a:rPr>
              <a:t>)</a:t>
            </a:r>
            <a:endParaRPr baseline="44444"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000">
              <a:latin typeface="Times New Roman"/>
              <a:cs typeface="Times New Roman"/>
            </a:endParaRPr>
          </a:p>
          <a:p>
            <a:pPr marL="163830" indent="-125730">
              <a:lnSpc>
                <a:spcPct val="100000"/>
              </a:lnSpc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10" b="1">
                <a:latin typeface="Arial"/>
                <a:cs typeface="Arial"/>
              </a:rPr>
              <a:t>Dependent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variable</a:t>
            </a:r>
            <a:r>
              <a:rPr dirty="0" sz="1000" spc="-25">
                <a:latin typeface="Arial"/>
                <a:cs typeface="Arial"/>
              </a:rPr>
              <a:t>:</a:t>
            </a:r>
            <a:r>
              <a:rPr dirty="0" sz="1000" spc="110">
                <a:latin typeface="Arial"/>
                <a:cs typeface="Arial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log</a:t>
            </a:r>
            <a:r>
              <a:rPr dirty="0" baseline="-19841" sz="1050">
                <a:latin typeface="Times New Roman"/>
                <a:cs typeface="Times New Roman"/>
              </a:rPr>
              <a:t>10</a:t>
            </a:r>
            <a:r>
              <a:rPr dirty="0" baseline="-19841" sz="1050" spc="30">
                <a:latin typeface="Times New Roman"/>
                <a:cs typeface="Times New Roman"/>
              </a:rPr>
              <a:t> </a:t>
            </a:r>
            <a:r>
              <a:rPr dirty="0" sz="1000" spc="55" i="1">
                <a:latin typeface="Times New Roman"/>
                <a:cs typeface="Times New Roman"/>
              </a:rPr>
              <a:t>N</a:t>
            </a:r>
            <a:r>
              <a:rPr dirty="0" sz="1000" spc="55">
                <a:latin typeface="Times New Roman"/>
                <a:cs typeface="Times New Roman"/>
              </a:rPr>
              <a:t>(</a:t>
            </a:r>
            <a:r>
              <a:rPr dirty="0" sz="1000" spc="55" i="1">
                <a:latin typeface="Times New Roman"/>
                <a:cs typeface="Times New Roman"/>
              </a:rPr>
              <a:t>t</a:t>
            </a:r>
            <a:r>
              <a:rPr dirty="0" sz="1000" spc="55">
                <a:latin typeface="Times New Roman"/>
                <a:cs typeface="Times New Roman"/>
              </a:rPr>
              <a:t>)</a:t>
            </a:r>
            <a:r>
              <a:rPr dirty="0" sz="1000" spc="40">
                <a:latin typeface="Times New Roman"/>
                <a:cs typeface="Times New Roman"/>
              </a:rPr>
              <a:t> </a:t>
            </a:r>
            <a:r>
              <a:rPr dirty="0" sz="1000" spc="-15">
                <a:latin typeface="STXihei"/>
                <a:cs typeface="STXihei"/>
              </a:rPr>
              <a:t>—</a:t>
            </a:r>
            <a:r>
              <a:rPr dirty="0" sz="1000">
                <a:latin typeface="Arial"/>
                <a:cs typeface="Arial"/>
              </a:rPr>
              <a:t>log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microbial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concentration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(log</a:t>
            </a:r>
            <a:r>
              <a:rPr dirty="0" sz="1000" spc="-114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cfu/mL)</a:t>
            </a:r>
            <a:endParaRPr sz="1000">
              <a:latin typeface="Arial"/>
              <a:cs typeface="Arial"/>
            </a:endParaRPr>
          </a:p>
          <a:p>
            <a:pPr marL="163830" indent="-125730">
              <a:lnSpc>
                <a:spcPct val="100000"/>
              </a:lnSpc>
              <a:spcBef>
                <a:spcPts val="2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25" b="1">
                <a:latin typeface="Arial"/>
                <a:cs typeface="Arial"/>
              </a:rPr>
              <a:t>Independent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variable</a:t>
            </a:r>
            <a:r>
              <a:rPr dirty="0" sz="1000" spc="-25">
                <a:latin typeface="Arial"/>
                <a:cs typeface="Arial"/>
              </a:rPr>
              <a:t>:</a:t>
            </a:r>
            <a:r>
              <a:rPr dirty="0" sz="1000" spc="105">
                <a:latin typeface="Arial"/>
                <a:cs typeface="Arial"/>
              </a:rPr>
              <a:t> </a:t>
            </a:r>
            <a:r>
              <a:rPr dirty="0" sz="1000" spc="55" i="1">
                <a:latin typeface="Times New Roman"/>
                <a:cs typeface="Times New Roman"/>
              </a:rPr>
              <a:t>t</a:t>
            </a:r>
            <a:r>
              <a:rPr dirty="0" sz="1000" spc="35" i="1">
                <a:latin typeface="Times New Roman"/>
                <a:cs typeface="Times New Roman"/>
              </a:rPr>
              <a:t> </a:t>
            </a:r>
            <a:r>
              <a:rPr dirty="0" sz="1000" spc="-15">
                <a:latin typeface="STXihei"/>
                <a:cs typeface="STXihei"/>
              </a:rPr>
              <a:t>—</a:t>
            </a:r>
            <a:r>
              <a:rPr dirty="0" sz="1000">
                <a:latin typeface="Arial"/>
                <a:cs typeface="Arial"/>
              </a:rPr>
              <a:t>time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(hr)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25" name="object 25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25" y="0"/>
                  </a:moveTo>
                  <a:lnTo>
                    <a:pt x="2016023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23" y="91287"/>
                  </a:lnTo>
                  <a:lnTo>
                    <a:pt x="3456025" y="91287"/>
                  </a:lnTo>
                  <a:lnTo>
                    <a:pt x="3456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456025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Model</a:t>
            </a:r>
            <a:r>
              <a:rPr dirty="0" spc="-25"/>
              <a:t> </a:t>
            </a:r>
            <a:r>
              <a:rPr dirty="0" spc="-30"/>
              <a:t>Description</a:t>
            </a:r>
            <a:r>
              <a:rPr dirty="0" spc="-15"/>
              <a:t> </a:t>
            </a:r>
            <a:r>
              <a:rPr dirty="0">
                <a:latin typeface="STXihei"/>
                <a:cs typeface="STXihei"/>
              </a:rPr>
              <a:t>—</a:t>
            </a:r>
            <a:r>
              <a:rPr dirty="0"/>
              <a:t>7</a:t>
            </a:r>
            <a:r>
              <a:rPr dirty="0" spc="-20"/>
              <a:t> </a:t>
            </a:r>
            <a:r>
              <a:rPr dirty="0" spc="-45"/>
              <a:t>Candidate</a:t>
            </a:r>
            <a:r>
              <a:rPr dirty="0" spc="-20"/>
              <a:t> </a:t>
            </a:r>
            <a:r>
              <a:rPr dirty="0" spc="-65"/>
              <a:t>Parameters</a:t>
            </a:r>
          </a:p>
        </p:txBody>
      </p:sp>
      <p:sp>
        <p:nvSpPr>
          <p:cNvPr id="9" name="object 9"/>
          <p:cNvSpPr/>
          <p:nvPr/>
        </p:nvSpPr>
        <p:spPr>
          <a:xfrm>
            <a:off x="694105" y="1128674"/>
            <a:ext cx="4371975" cy="0"/>
          </a:xfrm>
          <a:custGeom>
            <a:avLst/>
            <a:gdLst/>
            <a:ahLst/>
            <a:cxnLst/>
            <a:rect l="l" t="t" r="r" b="b"/>
            <a:pathLst>
              <a:path w="4371975" h="0">
                <a:moveTo>
                  <a:pt x="0" y="0"/>
                </a:moveTo>
                <a:lnTo>
                  <a:pt x="4371784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57326" y="1140471"/>
            <a:ext cx="4851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Parameter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8291" y="1140471"/>
            <a:ext cx="3581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Symbol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52833" y="1140471"/>
            <a:ext cx="5321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Description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9179" y="1140471"/>
            <a:ext cx="2609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Units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96270" y="1140471"/>
            <a:ext cx="5715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Arial"/>
                <a:cs typeface="Arial"/>
              </a:rPr>
              <a:t>Initial</a:t>
            </a:r>
            <a:r>
              <a:rPr dirty="0" sz="800" spc="165">
                <a:latin typeface="Arial"/>
                <a:cs typeface="Arial"/>
              </a:rPr>
              <a:t> </a:t>
            </a:r>
            <a:r>
              <a:rPr dirty="0" sz="800" spc="-55">
                <a:latin typeface="Arial"/>
                <a:cs typeface="Arial"/>
              </a:rPr>
              <a:t>Guess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4105" y="1316075"/>
            <a:ext cx="4371975" cy="0"/>
          </a:xfrm>
          <a:custGeom>
            <a:avLst/>
            <a:gdLst/>
            <a:ahLst/>
            <a:cxnLst/>
            <a:rect l="l" t="t" r="r" b="b"/>
            <a:pathLst>
              <a:path w="4371975" h="0">
                <a:moveTo>
                  <a:pt x="0" y="0"/>
                </a:moveTo>
                <a:lnTo>
                  <a:pt x="4371784" y="0"/>
                </a:lnTo>
              </a:path>
            </a:pathLst>
          </a:custGeom>
          <a:ln w="6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33907" y="1325980"/>
            <a:ext cx="325120" cy="8909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18745" marR="104775" indent="10795">
              <a:lnSpc>
                <a:spcPts val="950"/>
              </a:lnSpc>
              <a:spcBef>
                <a:spcPts val="135"/>
              </a:spcBef>
            </a:pPr>
            <a:r>
              <a:rPr dirty="0" sz="800" spc="-50">
                <a:latin typeface="Arial"/>
                <a:cs typeface="Arial"/>
              </a:rPr>
              <a:t>A</a:t>
            </a:r>
            <a:r>
              <a:rPr dirty="0" sz="800" spc="500">
                <a:latin typeface="Arial"/>
                <a:cs typeface="Arial"/>
              </a:rPr>
              <a:t> </a:t>
            </a:r>
            <a:r>
              <a:rPr dirty="0" sz="800" spc="-50">
                <a:latin typeface="Arial"/>
                <a:cs typeface="Arial"/>
              </a:rPr>
              <a:t>C</a:t>
            </a:r>
            <a:r>
              <a:rPr dirty="0" sz="800" spc="20">
                <a:latin typeface="Arial"/>
                <a:cs typeface="Arial"/>
              </a:rPr>
              <a:t> M</a:t>
            </a:r>
            <a:endParaRPr sz="800">
              <a:latin typeface="Arial"/>
              <a:cs typeface="Arial"/>
            </a:endParaRPr>
          </a:p>
          <a:p>
            <a:pPr algn="ctr" marL="137795" marR="123825" indent="-635">
              <a:lnSpc>
                <a:spcPts val="980"/>
              </a:lnSpc>
              <a:spcBef>
                <a:spcPts val="5"/>
              </a:spcBef>
            </a:pPr>
            <a:r>
              <a:rPr dirty="0" sz="800" spc="-50">
                <a:latin typeface="Arial"/>
                <a:cs typeface="Arial"/>
              </a:rPr>
              <a:t>a</a:t>
            </a:r>
            <a:r>
              <a:rPr dirty="0" sz="800" spc="500">
                <a:latin typeface="Arial"/>
                <a:cs typeface="Arial"/>
              </a:rPr>
              <a:t> </a:t>
            </a:r>
            <a:r>
              <a:rPr dirty="0" sz="800" spc="-5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  <a:p>
            <a:pPr algn="ctr" marL="38100" marR="30480">
              <a:lnSpc>
                <a:spcPts val="930"/>
              </a:lnSpc>
              <a:spcBef>
                <a:spcPts val="130"/>
              </a:spcBef>
            </a:pPr>
            <a:r>
              <a:rPr dirty="0" baseline="6944" sz="1200" spc="120" i="1">
                <a:latin typeface="Arial"/>
                <a:cs typeface="Arial"/>
              </a:rPr>
              <a:t>T</a:t>
            </a:r>
            <a:r>
              <a:rPr dirty="0" sz="600" spc="80">
                <a:latin typeface="Times New Roman"/>
                <a:cs typeface="Times New Roman"/>
              </a:rPr>
              <a:t>min </a:t>
            </a:r>
            <a:r>
              <a:rPr dirty="0" baseline="6944" sz="1200" spc="127" i="1">
                <a:latin typeface="Arial"/>
                <a:cs typeface="Arial"/>
              </a:rPr>
              <a:t>T</a:t>
            </a:r>
            <a:r>
              <a:rPr dirty="0" sz="600" spc="85">
                <a:latin typeface="Times New Roman"/>
                <a:cs typeface="Times New Roman"/>
              </a:rPr>
              <a:t>max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1721" y="1325980"/>
            <a:ext cx="325120" cy="8909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16839" marR="102870" indent="8255">
              <a:lnSpc>
                <a:spcPts val="950"/>
              </a:lnSpc>
              <a:spcBef>
                <a:spcPts val="135"/>
              </a:spcBef>
            </a:pPr>
            <a:r>
              <a:rPr dirty="0" sz="800" spc="45" i="1">
                <a:latin typeface="Arial"/>
                <a:cs typeface="Arial"/>
              </a:rPr>
              <a:t>A </a:t>
            </a:r>
            <a:r>
              <a:rPr dirty="0" sz="800" spc="-50" i="1">
                <a:latin typeface="Arial"/>
                <a:cs typeface="Arial"/>
              </a:rPr>
              <a:t>C</a:t>
            </a:r>
            <a:r>
              <a:rPr dirty="0" sz="800" spc="45" i="1">
                <a:latin typeface="Arial"/>
                <a:cs typeface="Arial"/>
              </a:rPr>
              <a:t> M</a:t>
            </a:r>
            <a:endParaRPr sz="800">
              <a:latin typeface="Arial"/>
              <a:cs typeface="Arial"/>
            </a:endParaRPr>
          </a:p>
          <a:p>
            <a:pPr algn="ctr" marL="137795" marR="123825">
              <a:lnSpc>
                <a:spcPts val="980"/>
              </a:lnSpc>
              <a:spcBef>
                <a:spcPts val="5"/>
              </a:spcBef>
            </a:pPr>
            <a:r>
              <a:rPr dirty="0" sz="800" spc="-50" i="1">
                <a:latin typeface="Arial"/>
                <a:cs typeface="Arial"/>
              </a:rPr>
              <a:t>a</a:t>
            </a:r>
            <a:r>
              <a:rPr dirty="0" sz="800" spc="500" i="1">
                <a:latin typeface="Arial"/>
                <a:cs typeface="Arial"/>
              </a:rPr>
              <a:t> </a:t>
            </a:r>
            <a:r>
              <a:rPr dirty="0" sz="800" spc="-50" i="1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  <a:p>
            <a:pPr algn="ctr" marL="37465" marR="30480" indent="-635">
              <a:lnSpc>
                <a:spcPts val="930"/>
              </a:lnSpc>
              <a:spcBef>
                <a:spcPts val="130"/>
              </a:spcBef>
            </a:pPr>
            <a:r>
              <a:rPr dirty="0" baseline="6944" sz="1200" spc="120" i="1">
                <a:latin typeface="Arial"/>
                <a:cs typeface="Arial"/>
              </a:rPr>
              <a:t>T</a:t>
            </a:r>
            <a:r>
              <a:rPr dirty="0" sz="600" spc="80">
                <a:latin typeface="Times New Roman"/>
                <a:cs typeface="Times New Roman"/>
              </a:rPr>
              <a:t>min </a:t>
            </a:r>
            <a:r>
              <a:rPr dirty="0" baseline="6944" sz="1200" spc="127" i="1">
                <a:latin typeface="Arial"/>
                <a:cs typeface="Arial"/>
              </a:rPr>
              <a:t>T</a:t>
            </a:r>
            <a:r>
              <a:rPr dirty="0" sz="600" spc="85">
                <a:latin typeface="Times New Roman"/>
                <a:cs typeface="Times New Roman"/>
              </a:rPr>
              <a:t>max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52929" y="1325980"/>
            <a:ext cx="1544955" cy="8782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>
                <a:latin typeface="Arial"/>
                <a:cs typeface="Arial"/>
              </a:rPr>
              <a:t>Initial</a:t>
            </a:r>
            <a:r>
              <a:rPr dirty="0" sz="800" spc="8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log</a:t>
            </a:r>
            <a:r>
              <a:rPr dirty="0" sz="800" spc="8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microbial</a:t>
            </a:r>
            <a:r>
              <a:rPr dirty="0" sz="800" spc="8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number </a:t>
            </a:r>
            <a:r>
              <a:rPr dirty="0" sz="800" spc="-20">
                <a:latin typeface="Arial"/>
                <a:cs typeface="Arial"/>
              </a:rPr>
              <a:t>Upper–</a:t>
            </a:r>
            <a:r>
              <a:rPr dirty="0" sz="800" spc="-10">
                <a:latin typeface="Arial"/>
                <a:cs typeface="Arial"/>
              </a:rPr>
              <a:t>lower</a:t>
            </a:r>
            <a:r>
              <a:rPr dirty="0" sz="800">
                <a:latin typeface="Arial"/>
                <a:cs typeface="Arial"/>
              </a:rPr>
              <a:t> asymptote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difference</a:t>
            </a:r>
            <a:r>
              <a:rPr dirty="0" sz="800">
                <a:latin typeface="Arial"/>
                <a:cs typeface="Arial"/>
              </a:rPr>
              <a:t> Inflection</a:t>
            </a:r>
            <a:r>
              <a:rPr dirty="0" sz="800" spc="9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point</a:t>
            </a:r>
            <a:r>
              <a:rPr dirty="0" sz="800" spc="9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time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50"/>
              </a:lnSpc>
            </a:pPr>
            <a:r>
              <a:rPr dirty="0" sz="800" spc="-30">
                <a:latin typeface="Arial"/>
                <a:cs typeface="Arial"/>
              </a:rPr>
              <a:t>Secondary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model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coeﬀicient</a:t>
            </a:r>
            <a:endParaRPr sz="800">
              <a:latin typeface="Arial"/>
              <a:cs typeface="Arial"/>
            </a:endParaRPr>
          </a:p>
          <a:p>
            <a:pPr marL="12700" marR="150495">
              <a:lnSpc>
                <a:spcPts val="950"/>
              </a:lnSpc>
              <a:spcBef>
                <a:spcPts val="65"/>
              </a:spcBef>
            </a:pPr>
            <a:r>
              <a:rPr dirty="0" sz="800" spc="-30">
                <a:latin typeface="Arial"/>
                <a:cs typeface="Arial"/>
              </a:rPr>
              <a:t>Secondary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model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coeﬀicient </a:t>
            </a:r>
            <a:r>
              <a:rPr dirty="0" sz="800">
                <a:latin typeface="Arial"/>
                <a:cs typeface="Arial"/>
              </a:rPr>
              <a:t>Minimum</a:t>
            </a:r>
            <a:r>
              <a:rPr dirty="0" sz="800" spc="10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growth</a:t>
            </a:r>
            <a:r>
              <a:rPr dirty="0" sz="800" spc="10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temperature </a:t>
            </a:r>
            <a:r>
              <a:rPr dirty="0" sz="800">
                <a:latin typeface="Arial"/>
                <a:cs typeface="Arial"/>
              </a:rPr>
              <a:t>Maximum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growth</a:t>
            </a:r>
            <a:r>
              <a:rPr dirty="0" sz="800" spc="7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temperature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98583" y="1325980"/>
            <a:ext cx="561340" cy="8426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38735" marR="30480">
              <a:lnSpc>
                <a:spcPts val="950"/>
              </a:lnSpc>
              <a:spcBef>
                <a:spcPts val="135"/>
              </a:spcBef>
            </a:pPr>
            <a:r>
              <a:rPr dirty="0" sz="800" spc="-20">
                <a:latin typeface="Arial"/>
                <a:cs typeface="Arial"/>
              </a:rPr>
              <a:t>log</a:t>
            </a:r>
            <a:r>
              <a:rPr dirty="0" sz="800" spc="-6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cfu/mL </a:t>
            </a:r>
            <a:r>
              <a:rPr dirty="0" sz="800" spc="-20">
                <a:latin typeface="Arial"/>
                <a:cs typeface="Arial"/>
              </a:rPr>
              <a:t>log</a:t>
            </a:r>
            <a:r>
              <a:rPr dirty="0" sz="800" spc="-6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cfu/mL </a:t>
            </a:r>
            <a:r>
              <a:rPr dirty="0" sz="800" spc="-25">
                <a:latin typeface="Arial"/>
                <a:cs typeface="Arial"/>
              </a:rPr>
              <a:t>hr</a:t>
            </a:r>
            <a:endParaRPr sz="800">
              <a:latin typeface="Arial"/>
              <a:cs typeface="Arial"/>
            </a:endParaRPr>
          </a:p>
          <a:p>
            <a:pPr marL="92710" indent="-54610">
              <a:lnSpc>
                <a:spcPts val="665"/>
              </a:lnSpc>
              <a:buSzPct val="62500"/>
              <a:buFont typeface="Times New Roman"/>
              <a:buChar char="◦"/>
              <a:tabLst>
                <a:tab pos="92710" algn="l"/>
              </a:tabLst>
            </a:pPr>
            <a:r>
              <a:rPr dirty="0" baseline="-20833" sz="1200" spc="97">
                <a:latin typeface="Arial"/>
                <a:cs typeface="Arial"/>
              </a:rPr>
              <a:t>C</a:t>
            </a:r>
            <a:r>
              <a:rPr dirty="0" baseline="4629" sz="900" spc="97" i="1">
                <a:latin typeface="Times New Roman"/>
                <a:cs typeface="Times New Roman"/>
              </a:rPr>
              <a:t>−</a:t>
            </a:r>
            <a:r>
              <a:rPr dirty="0" baseline="4629" sz="900" spc="97">
                <a:latin typeface="Times New Roman"/>
                <a:cs typeface="Times New Roman"/>
              </a:rPr>
              <a:t>2</a:t>
            </a:r>
            <a:r>
              <a:rPr dirty="0" baseline="4629" sz="900" spc="67">
                <a:latin typeface="Times New Roman"/>
                <a:cs typeface="Times New Roman"/>
              </a:rPr>
              <a:t> </a:t>
            </a:r>
            <a:r>
              <a:rPr dirty="0" baseline="-20833" sz="1200" spc="60">
                <a:latin typeface="Arial"/>
                <a:cs typeface="Arial"/>
              </a:rPr>
              <a:t>hr</a:t>
            </a:r>
            <a:r>
              <a:rPr dirty="0" baseline="4629" sz="900" spc="60" i="1">
                <a:latin typeface="Times New Roman"/>
                <a:cs typeface="Times New Roman"/>
              </a:rPr>
              <a:t>−</a:t>
            </a:r>
            <a:r>
              <a:rPr dirty="0" baseline="4629" sz="900" spc="60">
                <a:latin typeface="Times New Roman"/>
                <a:cs typeface="Times New Roman"/>
              </a:rPr>
              <a:t>1</a:t>
            </a:r>
            <a:endParaRPr baseline="4629" sz="900">
              <a:latin typeface="Times New Roman"/>
              <a:cs typeface="Times New Roman"/>
            </a:endParaRPr>
          </a:p>
          <a:p>
            <a:pPr lvl="1" marL="210185" indent="-54610">
              <a:lnSpc>
                <a:spcPts val="955"/>
              </a:lnSpc>
              <a:spcBef>
                <a:spcPts val="25"/>
              </a:spcBef>
              <a:buSzPct val="62500"/>
              <a:buFont typeface="Times New Roman"/>
              <a:buChar char="◦"/>
              <a:tabLst>
                <a:tab pos="210185" algn="l"/>
              </a:tabLst>
            </a:pPr>
            <a:r>
              <a:rPr dirty="0" baseline="-20833" sz="1200" spc="60">
                <a:latin typeface="Arial"/>
                <a:cs typeface="Arial"/>
              </a:rPr>
              <a:t>C</a:t>
            </a:r>
            <a:r>
              <a:rPr dirty="0" baseline="4629" sz="900" spc="60" i="1">
                <a:latin typeface="Times New Roman"/>
                <a:cs typeface="Times New Roman"/>
              </a:rPr>
              <a:t>−</a:t>
            </a:r>
            <a:r>
              <a:rPr dirty="0" baseline="4629" sz="900" spc="60">
                <a:latin typeface="Times New Roman"/>
                <a:cs typeface="Times New Roman"/>
              </a:rPr>
              <a:t>1</a:t>
            </a:r>
            <a:endParaRPr baseline="4629" sz="900">
              <a:latin typeface="Times New Roman"/>
              <a:cs typeface="Times New Roman"/>
            </a:endParaRPr>
          </a:p>
          <a:p>
            <a:pPr algn="ctr" lvl="2" marL="55244" indent="-54610">
              <a:lnSpc>
                <a:spcPts val="944"/>
              </a:lnSpc>
              <a:buSzPct val="62500"/>
              <a:buFont typeface="Times New Roman"/>
              <a:buChar char="◦"/>
              <a:tabLst>
                <a:tab pos="55244" algn="l"/>
              </a:tabLst>
            </a:pPr>
            <a:r>
              <a:rPr dirty="0" baseline="-20833" sz="1200" spc="-75">
                <a:latin typeface="Arial"/>
                <a:cs typeface="Arial"/>
              </a:rPr>
              <a:t>C</a:t>
            </a:r>
            <a:endParaRPr baseline="-20833" sz="1200">
              <a:latin typeface="Arial"/>
              <a:cs typeface="Arial"/>
            </a:endParaRPr>
          </a:p>
          <a:p>
            <a:pPr algn="ctr" lvl="2" marL="55244" indent="-54610">
              <a:lnSpc>
                <a:spcPts val="955"/>
              </a:lnSpc>
              <a:buSzPct val="62500"/>
              <a:buFont typeface="Times New Roman"/>
              <a:buChar char="◦"/>
              <a:tabLst>
                <a:tab pos="55244" algn="l"/>
              </a:tabLst>
            </a:pPr>
            <a:r>
              <a:rPr dirty="0" baseline="-20833" sz="1200" spc="-75">
                <a:latin typeface="Arial"/>
                <a:cs typeface="Arial"/>
              </a:rPr>
              <a:t>C</a:t>
            </a:r>
            <a:endParaRPr baseline="-20833"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35844" y="1325980"/>
            <a:ext cx="89217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955"/>
              </a:lnSpc>
              <a:spcBef>
                <a:spcPts val="95"/>
              </a:spcBef>
            </a:pPr>
            <a:r>
              <a:rPr dirty="0" sz="800" spc="20">
                <a:latin typeface="Times New Roman"/>
                <a:cs typeface="Times New Roman"/>
              </a:rPr>
              <a:t>log</a:t>
            </a:r>
            <a:r>
              <a:rPr dirty="0" baseline="-18518" sz="900" spc="30">
                <a:latin typeface="Times New Roman"/>
                <a:cs typeface="Times New Roman"/>
              </a:rPr>
              <a:t>10</a:t>
            </a:r>
            <a:r>
              <a:rPr dirty="0" sz="800" spc="20">
                <a:latin typeface="Times New Roman"/>
                <a:cs typeface="Times New Roman"/>
              </a:rPr>
              <a:t>(400)</a:t>
            </a:r>
            <a:r>
              <a:rPr dirty="0" sz="800" spc="140">
                <a:latin typeface="Times New Roman"/>
                <a:cs typeface="Times New Roman"/>
              </a:rPr>
              <a:t> </a:t>
            </a:r>
            <a:r>
              <a:rPr dirty="0" sz="800" spc="215" i="1">
                <a:latin typeface="Times New Roman"/>
                <a:cs typeface="Times New Roman"/>
              </a:rPr>
              <a:t>≈</a:t>
            </a:r>
            <a:r>
              <a:rPr dirty="0" sz="800" spc="145" i="1">
                <a:latin typeface="Times New Roman"/>
                <a:cs typeface="Times New Roman"/>
              </a:rPr>
              <a:t> </a:t>
            </a:r>
            <a:r>
              <a:rPr dirty="0" sz="800" spc="-20">
                <a:latin typeface="Times New Roman"/>
                <a:cs typeface="Times New Roman"/>
              </a:rPr>
              <a:t>2</a:t>
            </a:r>
            <a:r>
              <a:rPr dirty="0" sz="800" spc="-20" i="1">
                <a:latin typeface="Times New Roman"/>
                <a:cs typeface="Times New Roman"/>
              </a:rPr>
              <a:t>.</a:t>
            </a:r>
            <a:r>
              <a:rPr dirty="0" sz="800" spc="-20">
                <a:latin typeface="Times New Roman"/>
                <a:cs typeface="Times New Roman"/>
              </a:rPr>
              <a:t>60</a:t>
            </a:r>
            <a:endParaRPr sz="800">
              <a:latin typeface="Times New Roman"/>
              <a:cs typeface="Times New Roman"/>
            </a:endParaRPr>
          </a:p>
          <a:p>
            <a:pPr algn="ctr">
              <a:lnSpc>
                <a:spcPts val="944"/>
              </a:lnSpc>
            </a:pPr>
            <a:r>
              <a:rPr dirty="0" sz="800" spc="-25">
                <a:latin typeface="Arial"/>
                <a:cs typeface="Arial"/>
              </a:rPr>
              <a:t>11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955"/>
              </a:lnSpc>
            </a:pPr>
            <a:r>
              <a:rPr dirty="0" sz="800" spc="-25">
                <a:latin typeface="Arial"/>
                <a:cs typeface="Arial"/>
              </a:rPr>
              <a:t>7.5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800" spc="-10">
                <a:latin typeface="Arial"/>
                <a:cs typeface="Arial"/>
              </a:rPr>
              <a:t>0.000338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955"/>
              </a:lnSpc>
              <a:spcBef>
                <a:spcPts val="25"/>
              </a:spcBef>
            </a:pPr>
            <a:r>
              <a:rPr dirty="0" sz="800" spc="-10">
                <a:latin typeface="Arial"/>
                <a:cs typeface="Arial"/>
              </a:rPr>
              <a:t>0.275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944"/>
              </a:lnSpc>
            </a:pPr>
            <a:r>
              <a:rPr dirty="0" sz="800" spc="-50"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955"/>
              </a:lnSpc>
            </a:pPr>
            <a:r>
              <a:rPr dirty="0" sz="800" spc="-20">
                <a:latin typeface="Arial"/>
                <a:cs typeface="Arial"/>
              </a:rPr>
              <a:t>46.3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94105" y="2234412"/>
            <a:ext cx="4371975" cy="0"/>
          </a:xfrm>
          <a:custGeom>
            <a:avLst/>
            <a:gdLst/>
            <a:ahLst/>
            <a:cxnLst/>
            <a:rect l="l" t="t" r="r" b="b"/>
            <a:pathLst>
              <a:path w="4371975" h="0">
                <a:moveTo>
                  <a:pt x="0" y="0"/>
                </a:moveTo>
                <a:lnTo>
                  <a:pt x="4371784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23" name="object 23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38" y="0"/>
                  </a:moveTo>
                  <a:lnTo>
                    <a:pt x="2016036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36" y="91287"/>
                  </a:lnTo>
                  <a:lnTo>
                    <a:pt x="3456038" y="91287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456038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12267" y="209928"/>
            <a:ext cx="112585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Data</a:t>
            </a:r>
            <a:r>
              <a:rPr dirty="0" spc="-15"/>
              <a:t> </a:t>
            </a:r>
            <a:r>
              <a:rPr dirty="0" spc="-60"/>
              <a:t>Overview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62000" y="656633"/>
            <a:ext cx="1485900" cy="1012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3830" indent="-125730">
              <a:lnSpc>
                <a:spcPts val="1200"/>
              </a:lnSpc>
              <a:spcBef>
                <a:spcPts val="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20">
                <a:latin typeface="Arial"/>
                <a:cs typeface="Arial"/>
              </a:rPr>
              <a:t>Growth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data:</a:t>
            </a:r>
            <a:endParaRPr sz="1000">
              <a:latin typeface="Arial"/>
              <a:cs typeface="Arial"/>
            </a:endParaRPr>
          </a:p>
          <a:p>
            <a:pPr marL="164465">
              <a:lnSpc>
                <a:spcPts val="1200"/>
              </a:lnSpc>
            </a:pPr>
            <a:r>
              <a:rPr dirty="0" sz="1000">
                <a:latin typeface="Times New Roman"/>
                <a:cs typeface="Times New Roman"/>
              </a:rPr>
              <a:t>log</a:t>
            </a:r>
            <a:r>
              <a:rPr dirty="0" baseline="-19841" sz="1050">
                <a:latin typeface="Times New Roman"/>
                <a:cs typeface="Times New Roman"/>
              </a:rPr>
              <a:t>10</a:t>
            </a:r>
            <a:r>
              <a:rPr dirty="0" sz="1000">
                <a:latin typeface="Times New Roman"/>
                <a:cs typeface="Times New Roman"/>
              </a:rPr>
              <a:t>(</a:t>
            </a:r>
            <a:r>
              <a:rPr dirty="0" sz="1000">
                <a:latin typeface="Arial"/>
                <a:cs typeface="Arial"/>
              </a:rPr>
              <a:t>CFU/mL</a:t>
            </a:r>
            <a:r>
              <a:rPr dirty="0" sz="1000">
                <a:latin typeface="Times New Roman"/>
                <a:cs typeface="Times New Roman"/>
              </a:rPr>
              <a:t>)</a:t>
            </a:r>
            <a:r>
              <a:rPr dirty="0" sz="1000">
                <a:latin typeface="Arial"/>
                <a:cs typeface="Arial"/>
              </a:rPr>
              <a:t>,</a:t>
            </a:r>
            <a:r>
              <a:rPr dirty="0" sz="1000" spc="120">
                <a:latin typeface="Arial"/>
                <a:cs typeface="Arial"/>
              </a:rPr>
              <a:t> </a:t>
            </a:r>
            <a:r>
              <a:rPr dirty="0" sz="1000" spc="55" i="1">
                <a:latin typeface="Times New Roman"/>
                <a:cs typeface="Times New Roman"/>
              </a:rPr>
              <a:t>n</a:t>
            </a:r>
            <a:r>
              <a:rPr dirty="0" sz="1000" spc="80" i="1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20</a:t>
            </a:r>
            <a:endParaRPr sz="1000">
              <a:latin typeface="Times New Roman"/>
              <a:cs typeface="Times New Roman"/>
            </a:endParaRPr>
          </a:p>
          <a:p>
            <a:pPr marL="163830" indent="-125730">
              <a:lnSpc>
                <a:spcPts val="1200"/>
              </a:lnSpc>
              <a:spcBef>
                <a:spcPts val="2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30">
                <a:latin typeface="Arial"/>
                <a:cs typeface="Arial"/>
              </a:rPr>
              <a:t>Temperature:</a:t>
            </a:r>
            <a:r>
              <a:rPr dirty="0" sz="1000" spc="8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sinusoidal</a:t>
            </a:r>
            <a:endParaRPr sz="1000">
              <a:latin typeface="Arial"/>
              <a:cs typeface="Arial"/>
            </a:endParaRPr>
          </a:p>
          <a:p>
            <a:pPr marL="164465">
              <a:lnSpc>
                <a:spcPts val="1200"/>
              </a:lnSpc>
            </a:pPr>
            <a:r>
              <a:rPr dirty="0" sz="1000" spc="75" i="1">
                <a:latin typeface="Times New Roman"/>
                <a:cs typeface="Times New Roman"/>
              </a:rPr>
              <a:t>T</a:t>
            </a:r>
            <a:r>
              <a:rPr dirty="0" sz="1000" spc="75">
                <a:latin typeface="Times New Roman"/>
                <a:cs typeface="Times New Roman"/>
              </a:rPr>
              <a:t>(</a:t>
            </a:r>
            <a:r>
              <a:rPr dirty="0" sz="1000" spc="75" i="1">
                <a:latin typeface="Times New Roman"/>
                <a:cs typeface="Times New Roman"/>
              </a:rPr>
              <a:t>t</a:t>
            </a:r>
            <a:r>
              <a:rPr dirty="0" sz="1000" spc="75">
                <a:latin typeface="Times New Roman"/>
                <a:cs typeface="Times New Roman"/>
              </a:rPr>
              <a:t>)</a:t>
            </a:r>
            <a:r>
              <a:rPr dirty="0" sz="1000" spc="4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Arial"/>
                <a:cs typeface="Arial"/>
              </a:rPr>
              <a:t>every</a:t>
            </a:r>
            <a:r>
              <a:rPr dirty="0" sz="1000" spc="2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minute</a:t>
            </a:r>
            <a:endParaRPr sz="1000">
              <a:latin typeface="Arial"/>
              <a:cs typeface="Arial"/>
            </a:endParaRPr>
          </a:p>
          <a:p>
            <a:pPr marL="163195" marR="133985" indent="-125730">
              <a:lnSpc>
                <a:spcPct val="100000"/>
              </a:lnSpc>
              <a:spcBef>
                <a:spcPts val="2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4465" algn="l"/>
              </a:tabLst>
            </a:pPr>
            <a:r>
              <a:rPr dirty="0" sz="1000" spc="-25">
                <a:latin typeface="Arial"/>
                <a:cs typeface="Arial"/>
              </a:rPr>
              <a:t>Two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35">
                <a:latin typeface="Arial"/>
                <a:cs typeface="Arial"/>
              </a:rPr>
              <a:t>independent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time </a:t>
            </a:r>
            <a:r>
              <a:rPr dirty="0" sz="1000" spc="-20">
                <a:latin typeface="Arial"/>
                <a:cs typeface="Arial"/>
              </a:rPr>
              <a:t>	</a:t>
            </a:r>
            <a:r>
              <a:rPr dirty="0" sz="1000" spc="-10">
                <a:latin typeface="Arial"/>
                <a:cs typeface="Arial"/>
              </a:rPr>
              <a:t>vectors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311196" y="769836"/>
            <a:ext cx="3175232" cy="190976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283663" y="2739016"/>
            <a:ext cx="323088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Arial"/>
                <a:cs typeface="Arial"/>
              </a:rPr>
              <a:t>Fig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1.</a:t>
            </a:r>
            <a:r>
              <a:rPr dirty="0" sz="900" spc="12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Dual-</a:t>
            </a:r>
            <a:r>
              <a:rPr dirty="0" sz="900">
                <a:latin typeface="Arial"/>
                <a:cs typeface="Arial"/>
              </a:rPr>
              <a:t>axis:</a:t>
            </a:r>
            <a:r>
              <a:rPr dirty="0" sz="900" spc="125">
                <a:latin typeface="Arial"/>
                <a:cs typeface="Arial"/>
              </a:rPr>
              <a:t> </a:t>
            </a:r>
            <a:r>
              <a:rPr dirty="0" sz="900">
                <a:latin typeface="Times New Roman"/>
                <a:cs typeface="Times New Roman"/>
              </a:rPr>
              <a:t>log</a:t>
            </a:r>
            <a:r>
              <a:rPr dirty="0" baseline="-23148" sz="900">
                <a:latin typeface="Times New Roman"/>
                <a:cs typeface="Times New Roman"/>
              </a:rPr>
              <a:t>10</a:t>
            </a:r>
            <a:r>
              <a:rPr dirty="0" baseline="-23148" sz="900" spc="52">
                <a:latin typeface="Times New Roman"/>
                <a:cs typeface="Times New Roman"/>
              </a:rPr>
              <a:t> </a:t>
            </a:r>
            <a:r>
              <a:rPr dirty="0" sz="900" spc="80" i="1">
                <a:latin typeface="Times New Roman"/>
                <a:cs typeface="Times New Roman"/>
              </a:rPr>
              <a:t>N</a:t>
            </a:r>
            <a:r>
              <a:rPr dirty="0" sz="900" spc="55" i="1">
                <a:latin typeface="Times New Roman"/>
                <a:cs typeface="Times New Roman"/>
              </a:rPr>
              <a:t> </a:t>
            </a:r>
            <a:r>
              <a:rPr dirty="0" sz="900" spc="-30">
                <a:latin typeface="Arial"/>
                <a:cs typeface="Arial"/>
              </a:rPr>
              <a:t>(observed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95">
                <a:latin typeface="Arial"/>
                <a:cs typeface="Arial"/>
              </a:rPr>
              <a:t>&amp;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predicted)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and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155" i="1">
                <a:latin typeface="Times New Roman"/>
                <a:cs typeface="Times New Roman"/>
              </a:rPr>
              <a:t>T</a:t>
            </a:r>
            <a:r>
              <a:rPr dirty="0" sz="900" spc="55" i="1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Arial"/>
                <a:cs typeface="Arial"/>
              </a:rPr>
              <a:t>vs.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time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13" name="object 13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25" y="0"/>
                  </a:moveTo>
                  <a:lnTo>
                    <a:pt x="2016023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23" y="91287"/>
                  </a:lnTo>
                  <a:lnTo>
                    <a:pt x="3456025" y="91287"/>
                  </a:lnTo>
                  <a:lnTo>
                    <a:pt x="3456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456025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12267" y="209928"/>
            <a:ext cx="243586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5"/>
              <a:t>F</a:t>
            </a:r>
            <a:r>
              <a:rPr dirty="0" spc="-55"/>
              <a:t>o</a:t>
            </a:r>
            <a:r>
              <a:rPr dirty="0" spc="-55"/>
              <a:t>rward</a:t>
            </a:r>
            <a:r>
              <a:rPr dirty="0" spc="5"/>
              <a:t> </a:t>
            </a:r>
            <a:r>
              <a:rPr dirty="0" spc="-35"/>
              <a:t>Problem</a:t>
            </a:r>
            <a:r>
              <a:rPr dirty="0" spc="10"/>
              <a:t> </a:t>
            </a:r>
            <a:r>
              <a:rPr dirty="0">
                <a:latin typeface="STXihei"/>
                <a:cs typeface="STXihei"/>
              </a:rPr>
              <a:t>—</a:t>
            </a:r>
            <a:r>
              <a:rPr dirty="0"/>
              <a:t>Initial</a:t>
            </a:r>
            <a:r>
              <a:rPr dirty="0" spc="5"/>
              <a:t> </a:t>
            </a:r>
            <a:r>
              <a:rPr dirty="0" spc="-114"/>
              <a:t>Guess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62000" y="620146"/>
            <a:ext cx="1471295" cy="861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3195" marR="331470" indent="-125730">
              <a:lnSpc>
                <a:spcPct val="100000"/>
              </a:lnSpc>
              <a:spcBef>
                <a:spcPts val="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4465" algn="l"/>
              </a:tabLst>
            </a:pPr>
            <a:r>
              <a:rPr dirty="0" sz="1000">
                <a:latin typeface="Arial"/>
                <a:cs typeface="Arial"/>
              </a:rPr>
              <a:t>All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7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 spc="-95">
                <a:latin typeface="Arial"/>
                <a:cs typeface="Arial"/>
              </a:rPr>
              <a:t>guesses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from </a:t>
            </a:r>
            <a:r>
              <a:rPr dirty="0" sz="1000" spc="-20">
                <a:latin typeface="Arial"/>
                <a:cs typeface="Arial"/>
              </a:rPr>
              <a:t>	</a:t>
            </a:r>
            <a:r>
              <a:rPr dirty="0" sz="1000" spc="-10">
                <a:latin typeface="Arial"/>
                <a:cs typeface="Arial"/>
              </a:rPr>
              <a:t>literature</a:t>
            </a:r>
            <a:endParaRPr sz="1000">
              <a:latin typeface="Arial"/>
              <a:cs typeface="Arial"/>
            </a:endParaRPr>
          </a:p>
          <a:p>
            <a:pPr marL="163830" indent="-125730">
              <a:lnSpc>
                <a:spcPct val="100000"/>
              </a:lnSpc>
              <a:spcBef>
                <a:spcPts val="290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10">
                <a:latin typeface="Arial"/>
                <a:cs typeface="Arial"/>
              </a:rPr>
              <a:t>ODE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 spc="-55">
                <a:latin typeface="Arial"/>
                <a:cs typeface="Arial"/>
              </a:rPr>
              <a:t>solved</a:t>
            </a:r>
            <a:r>
              <a:rPr dirty="0" sz="1000" spc="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with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 spc="-25">
                <a:latin typeface="Courier New"/>
                <a:cs typeface="Courier New"/>
              </a:rPr>
              <a:t>ode45</a:t>
            </a:r>
            <a:endParaRPr sz="1000">
              <a:latin typeface="Courier New"/>
              <a:cs typeface="Courier New"/>
            </a:endParaRPr>
          </a:p>
          <a:p>
            <a:pPr marL="163830" indent="-125730">
              <a:lnSpc>
                <a:spcPts val="1200"/>
              </a:lnSpc>
              <a:spcBef>
                <a:spcPts val="2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75" i="1">
                <a:latin typeface="Times New Roman"/>
                <a:cs typeface="Times New Roman"/>
              </a:rPr>
              <a:t>T</a:t>
            </a:r>
            <a:r>
              <a:rPr dirty="0" sz="1000" spc="75">
                <a:latin typeface="Times New Roman"/>
                <a:cs typeface="Times New Roman"/>
              </a:rPr>
              <a:t>(</a:t>
            </a:r>
            <a:r>
              <a:rPr dirty="0" sz="1000" spc="75" i="1">
                <a:latin typeface="Times New Roman"/>
                <a:cs typeface="Times New Roman"/>
              </a:rPr>
              <a:t>t</a:t>
            </a:r>
            <a:r>
              <a:rPr dirty="0" sz="1000" spc="75">
                <a:latin typeface="Times New Roman"/>
                <a:cs typeface="Times New Roman"/>
              </a:rPr>
              <a:t>)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Arial"/>
                <a:cs typeface="Arial"/>
              </a:rPr>
              <a:t>interpolated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via</a:t>
            </a:r>
            <a:endParaRPr sz="1000">
              <a:latin typeface="Arial"/>
              <a:cs typeface="Arial"/>
            </a:endParaRPr>
          </a:p>
          <a:p>
            <a:pPr marL="164465">
              <a:lnSpc>
                <a:spcPts val="1200"/>
              </a:lnSpc>
            </a:pPr>
            <a:r>
              <a:rPr dirty="0" sz="1000" spc="-10">
                <a:latin typeface="Courier New"/>
                <a:cs typeface="Courier New"/>
              </a:rPr>
              <a:t>interp1</a:t>
            </a:r>
            <a:endParaRPr sz="100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60003" y="733458"/>
            <a:ext cx="3326426" cy="200069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11970" y="2793575"/>
            <a:ext cx="182245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Arial"/>
                <a:cs typeface="Arial"/>
              </a:rPr>
              <a:t>Fig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2.</a:t>
            </a:r>
            <a:r>
              <a:rPr dirty="0" sz="900" spc="114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Initial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70">
                <a:latin typeface="Arial"/>
                <a:cs typeface="Arial"/>
              </a:rPr>
              <a:t>guess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vs.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observed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13" name="object 13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25" y="0"/>
                  </a:moveTo>
                  <a:lnTo>
                    <a:pt x="2016023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23" y="91287"/>
                  </a:lnTo>
                  <a:lnTo>
                    <a:pt x="3456025" y="91287"/>
                  </a:lnTo>
                  <a:lnTo>
                    <a:pt x="3456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456025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11965" y="3126226"/>
            <a:ext cx="205104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dirty="0" sz="5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 spc="125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5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 spc="-25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pc="-135"/>
              <a:t>SSC</a:t>
            </a:r>
            <a:r>
              <a:rPr dirty="0" spc="35"/>
              <a:t> </a:t>
            </a:r>
            <a:r>
              <a:rPr dirty="0" spc="-50"/>
              <a:t>Analysis</a:t>
            </a:r>
            <a:r>
              <a:rPr dirty="0" spc="-10"/>
              <a:t> </a:t>
            </a:r>
            <a:r>
              <a:rPr dirty="0">
                <a:latin typeface="STXihei"/>
                <a:cs typeface="STXihei"/>
              </a:rPr>
              <a:t>—</a:t>
            </a:r>
            <a:r>
              <a:rPr dirty="0"/>
              <a:t>All</a:t>
            </a:r>
            <a:r>
              <a:rPr dirty="0" spc="10"/>
              <a:t> </a:t>
            </a:r>
            <a:r>
              <a:rPr dirty="0"/>
              <a:t>7</a:t>
            </a:r>
            <a:r>
              <a:rPr dirty="0" spc="15"/>
              <a:t> </a:t>
            </a:r>
            <a:r>
              <a:rPr dirty="0" spc="-65"/>
              <a:t>Parameters</a:t>
            </a:r>
            <a:r>
              <a:rPr dirty="0" spc="10"/>
              <a:t> </a:t>
            </a:r>
            <a:r>
              <a:rPr dirty="0" spc="-10"/>
              <a:t>(Step</a:t>
            </a:r>
            <a:r>
              <a:rPr dirty="0" spc="10"/>
              <a:t> </a:t>
            </a:r>
            <a:r>
              <a:rPr dirty="0" spc="-25"/>
              <a:t>1)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0908" y="616765"/>
            <a:ext cx="45974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 b="1">
                <a:latin typeface="Arial"/>
                <a:cs typeface="Arial"/>
              </a:rPr>
              <a:t>Max</a:t>
            </a:r>
            <a:r>
              <a:rPr dirty="0" sz="700" spc="-50" i="1">
                <a:latin typeface="JetBrainsMono Nerd Font ExtraLight"/>
                <a:cs typeface="JetBrainsMono Nerd Font ExtraLight"/>
              </a:rPr>
              <a:t>|</a:t>
            </a:r>
            <a:r>
              <a:rPr dirty="0" sz="700" spc="-50" b="1">
                <a:latin typeface="Arial"/>
                <a:cs typeface="Arial"/>
              </a:rPr>
              <a:t>SSC</a:t>
            </a:r>
            <a:r>
              <a:rPr dirty="0" sz="700" spc="-50" i="1">
                <a:latin typeface="JetBrainsMono Nerd Font ExtraLight"/>
                <a:cs typeface="JetBrainsMono Nerd Font ExtraLight"/>
              </a:rPr>
              <a:t>|</a:t>
            </a:r>
            <a:r>
              <a:rPr dirty="0" sz="700" spc="-50">
                <a:latin typeface="Arial"/>
                <a:cs typeface="Arial"/>
              </a:rPr>
              <a:t>: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3631" y="876820"/>
            <a:ext cx="951230" cy="0"/>
          </a:xfrm>
          <a:custGeom>
            <a:avLst/>
            <a:gdLst/>
            <a:ahLst/>
            <a:cxnLst/>
            <a:rect l="l" t="t" r="r" b="b"/>
            <a:pathLst>
              <a:path w="951230" h="0">
                <a:moveTo>
                  <a:pt x="0" y="0"/>
                </a:moveTo>
                <a:lnTo>
                  <a:pt x="951141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66851" y="887986"/>
            <a:ext cx="2774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latin typeface="Arial"/>
                <a:cs typeface="Arial"/>
              </a:rPr>
              <a:t>Param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0718" y="887986"/>
            <a:ext cx="4210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60">
                <a:latin typeface="Arial"/>
                <a:cs typeface="Arial"/>
              </a:rPr>
              <a:t>Max</a:t>
            </a:r>
            <a:r>
              <a:rPr dirty="0" sz="700" spc="-60" i="1">
                <a:latin typeface="JetBrainsMono Nerd Font ExtraLight"/>
                <a:cs typeface="JetBrainsMono Nerd Font ExtraLight"/>
              </a:rPr>
              <a:t>|</a:t>
            </a:r>
            <a:r>
              <a:rPr dirty="0" sz="700" spc="-60">
                <a:latin typeface="Arial"/>
                <a:cs typeface="Arial"/>
              </a:rPr>
              <a:t>SSC</a:t>
            </a:r>
            <a:r>
              <a:rPr dirty="0" sz="700" spc="-60" i="1">
                <a:latin typeface="JetBrainsMono Nerd Font ExtraLight"/>
                <a:cs typeface="JetBrainsMono Nerd Font ExtraLight"/>
              </a:rPr>
              <a:t>|</a:t>
            </a:r>
            <a:endParaRPr sz="700">
              <a:latin typeface="JetBrainsMono Nerd Font ExtraLight"/>
              <a:cs typeface="JetBrainsMono Nerd Font ExtraLigh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3631" y="1045260"/>
            <a:ext cx="951230" cy="0"/>
          </a:xfrm>
          <a:custGeom>
            <a:avLst/>
            <a:gdLst/>
            <a:ahLst/>
            <a:cxnLst/>
            <a:rect l="l" t="t" r="r" b="b"/>
            <a:pathLst>
              <a:path w="951230" h="0">
                <a:moveTo>
                  <a:pt x="0" y="0"/>
                </a:moveTo>
                <a:lnTo>
                  <a:pt x="951141" y="0"/>
                </a:lnTo>
              </a:path>
            </a:pathLst>
          </a:custGeom>
          <a:ln w="6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48347" y="1054521"/>
            <a:ext cx="308610" cy="75184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L="115570" marR="102870" indent="9525">
              <a:lnSpc>
                <a:spcPts val="800"/>
              </a:lnSpc>
              <a:spcBef>
                <a:spcPts val="155"/>
              </a:spcBef>
            </a:pPr>
            <a:r>
              <a:rPr dirty="0" sz="700" spc="-50">
                <a:latin typeface="Arial"/>
                <a:cs typeface="Arial"/>
              </a:rPr>
              <a:t>A</a:t>
            </a:r>
            <a:r>
              <a:rPr dirty="0" sz="700" spc="500">
                <a:latin typeface="Arial"/>
                <a:cs typeface="Arial"/>
              </a:rPr>
              <a:t> </a:t>
            </a:r>
            <a:r>
              <a:rPr dirty="0" sz="700" spc="-50">
                <a:latin typeface="Arial"/>
                <a:cs typeface="Arial"/>
              </a:rPr>
              <a:t>C</a:t>
            </a:r>
            <a:r>
              <a:rPr dirty="0" sz="700" spc="5">
                <a:latin typeface="Arial"/>
                <a:cs typeface="Arial"/>
              </a:rPr>
              <a:t> M</a:t>
            </a:r>
            <a:endParaRPr sz="700">
              <a:latin typeface="Arial"/>
              <a:cs typeface="Arial"/>
            </a:endParaRPr>
          </a:p>
          <a:p>
            <a:pPr algn="ctr" marL="5715">
              <a:lnSpc>
                <a:spcPts val="750"/>
              </a:lnSpc>
            </a:pPr>
            <a:r>
              <a:rPr dirty="0" sz="700" spc="-50">
                <a:latin typeface="Arial"/>
                <a:cs typeface="Arial"/>
              </a:rPr>
              <a:t>a</a:t>
            </a:r>
            <a:endParaRPr sz="700">
              <a:latin typeface="Arial"/>
              <a:cs typeface="Arial"/>
            </a:endParaRPr>
          </a:p>
          <a:p>
            <a:pPr algn="ctr" marL="5715">
              <a:lnSpc>
                <a:spcPts val="819"/>
              </a:lnSpc>
            </a:pPr>
            <a:r>
              <a:rPr dirty="0" sz="700" spc="-50">
                <a:latin typeface="Arial"/>
                <a:cs typeface="Arial"/>
              </a:rPr>
              <a:t>b</a:t>
            </a:r>
            <a:endParaRPr sz="700">
              <a:latin typeface="Arial"/>
              <a:cs typeface="Arial"/>
            </a:endParaRPr>
          </a:p>
          <a:p>
            <a:pPr algn="ctr" marL="38100" marR="30480">
              <a:lnSpc>
                <a:spcPts val="800"/>
              </a:lnSpc>
              <a:spcBef>
                <a:spcPts val="120"/>
              </a:spcBef>
            </a:pPr>
            <a:r>
              <a:rPr dirty="0" baseline="7936" sz="1050" spc="165" i="1">
                <a:latin typeface="Times New Roman"/>
                <a:cs typeface="Times New Roman"/>
              </a:rPr>
              <a:t>T</a:t>
            </a:r>
            <a:r>
              <a:rPr dirty="0" sz="500" spc="110">
                <a:latin typeface="Times New Roman"/>
                <a:cs typeface="Times New Roman"/>
              </a:rPr>
              <a:t>min </a:t>
            </a:r>
            <a:r>
              <a:rPr dirty="0" baseline="7936" sz="1050" spc="179" i="1">
                <a:latin typeface="Times New Roman"/>
                <a:cs typeface="Times New Roman"/>
              </a:rPr>
              <a:t>T</a:t>
            </a:r>
            <a:r>
              <a:rPr dirty="0" sz="500" spc="120">
                <a:latin typeface="Times New Roman"/>
                <a:cs typeface="Times New Roman"/>
              </a:rPr>
              <a:t>max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1836" y="1054521"/>
            <a:ext cx="198755" cy="739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ts val="819"/>
              </a:lnSpc>
              <a:spcBef>
                <a:spcPts val="95"/>
              </a:spcBef>
            </a:pPr>
            <a:r>
              <a:rPr dirty="0" sz="700" spc="-20">
                <a:latin typeface="Arial"/>
                <a:cs typeface="Arial"/>
              </a:rPr>
              <a:t>2.61</a:t>
            </a:r>
            <a:endParaRPr sz="700">
              <a:latin typeface="Arial"/>
              <a:cs typeface="Arial"/>
            </a:endParaRPr>
          </a:p>
          <a:p>
            <a:pPr marL="15240">
              <a:lnSpc>
                <a:spcPts val="795"/>
              </a:lnSpc>
            </a:pPr>
            <a:r>
              <a:rPr dirty="0" sz="700" spc="-20">
                <a:latin typeface="Arial"/>
                <a:cs typeface="Arial"/>
              </a:rPr>
              <a:t>5.11</a:t>
            </a:r>
            <a:endParaRPr sz="700">
              <a:latin typeface="Arial"/>
              <a:cs typeface="Arial"/>
            </a:endParaRPr>
          </a:p>
          <a:p>
            <a:pPr marL="15240">
              <a:lnSpc>
                <a:spcPts val="795"/>
              </a:lnSpc>
            </a:pPr>
            <a:r>
              <a:rPr dirty="0" sz="700" spc="-20">
                <a:latin typeface="Arial"/>
                <a:cs typeface="Arial"/>
              </a:rPr>
              <a:t>5.45</a:t>
            </a:r>
            <a:endParaRPr sz="700">
              <a:latin typeface="Arial"/>
              <a:cs typeface="Arial"/>
            </a:endParaRPr>
          </a:p>
          <a:p>
            <a:pPr marL="15240">
              <a:lnSpc>
                <a:spcPts val="795"/>
              </a:lnSpc>
            </a:pPr>
            <a:r>
              <a:rPr dirty="0" sz="700" spc="-20">
                <a:latin typeface="Arial"/>
                <a:cs typeface="Arial"/>
              </a:rPr>
              <a:t>2.20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795"/>
              </a:lnSpc>
            </a:pPr>
            <a:r>
              <a:rPr dirty="0" sz="700" spc="-20" b="1">
                <a:latin typeface="Arial"/>
                <a:cs typeface="Arial"/>
              </a:rPr>
              <a:t>0.88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795"/>
              </a:lnSpc>
            </a:pPr>
            <a:r>
              <a:rPr dirty="0" sz="700" spc="-20" b="1">
                <a:latin typeface="Arial"/>
                <a:cs typeface="Arial"/>
              </a:rPr>
              <a:t>0.83</a:t>
            </a:r>
            <a:endParaRPr sz="700">
              <a:latin typeface="Arial"/>
              <a:cs typeface="Arial"/>
            </a:endParaRPr>
          </a:p>
          <a:p>
            <a:pPr marL="15240">
              <a:lnSpc>
                <a:spcPts val="819"/>
              </a:lnSpc>
            </a:pPr>
            <a:r>
              <a:rPr dirty="0" sz="700" spc="-20">
                <a:latin typeface="Arial"/>
                <a:cs typeface="Arial"/>
              </a:rPr>
              <a:t>9.02</a:t>
            </a:r>
            <a:endParaRPr sz="7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3631" y="1821014"/>
            <a:ext cx="951230" cy="0"/>
          </a:xfrm>
          <a:custGeom>
            <a:avLst/>
            <a:gdLst/>
            <a:ahLst/>
            <a:cxnLst/>
            <a:rect l="l" t="t" r="r" b="b"/>
            <a:pathLst>
              <a:path w="951230" h="0">
                <a:moveTo>
                  <a:pt x="0" y="0"/>
                </a:moveTo>
                <a:lnTo>
                  <a:pt x="951141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222808" y="2037422"/>
            <a:ext cx="1513205" cy="402590"/>
            <a:chOff x="222808" y="2037422"/>
            <a:chExt cx="1513205" cy="402590"/>
          </a:xfrm>
        </p:grpSpPr>
        <p:sp>
          <p:nvSpPr>
            <p:cNvPr id="18" name="object 18"/>
            <p:cNvSpPr/>
            <p:nvPr/>
          </p:nvSpPr>
          <p:spPr>
            <a:xfrm>
              <a:off x="222808" y="2037422"/>
              <a:ext cx="1513205" cy="144145"/>
            </a:xfrm>
            <a:custGeom>
              <a:avLst/>
              <a:gdLst/>
              <a:ahLst/>
              <a:cxnLst/>
              <a:rect l="l" t="t" r="r" b="b"/>
              <a:pathLst>
                <a:path w="1513205" h="144144">
                  <a:moveTo>
                    <a:pt x="146201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43851"/>
                  </a:lnTo>
                  <a:lnTo>
                    <a:pt x="1512813" y="143851"/>
                  </a:lnTo>
                  <a:lnTo>
                    <a:pt x="1512813" y="50800"/>
                  </a:lnTo>
                  <a:lnTo>
                    <a:pt x="1508804" y="31075"/>
                  </a:lnTo>
                  <a:lnTo>
                    <a:pt x="1497890" y="14922"/>
                  </a:lnTo>
                  <a:lnTo>
                    <a:pt x="1481737" y="4008"/>
                  </a:lnTo>
                  <a:lnTo>
                    <a:pt x="1462012" y="0"/>
                  </a:lnTo>
                  <a:close/>
                </a:path>
              </a:pathLst>
            </a:custGeom>
            <a:solidFill>
              <a:srgbClr val="002F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2808" y="2168613"/>
              <a:ext cx="1512813" cy="506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22808" y="2212897"/>
              <a:ext cx="1513205" cy="226695"/>
            </a:xfrm>
            <a:custGeom>
              <a:avLst/>
              <a:gdLst/>
              <a:ahLst/>
              <a:cxnLst/>
              <a:rect l="l" t="t" r="r" b="b"/>
              <a:pathLst>
                <a:path w="1513205" h="226694">
                  <a:moveTo>
                    <a:pt x="1512813" y="0"/>
                  </a:moveTo>
                  <a:lnTo>
                    <a:pt x="0" y="0"/>
                  </a:lnTo>
                  <a:lnTo>
                    <a:pt x="0" y="175807"/>
                  </a:lnTo>
                  <a:lnTo>
                    <a:pt x="4008" y="195532"/>
                  </a:lnTo>
                  <a:lnTo>
                    <a:pt x="14922" y="211685"/>
                  </a:lnTo>
                  <a:lnTo>
                    <a:pt x="31075" y="222599"/>
                  </a:lnTo>
                  <a:lnTo>
                    <a:pt x="50800" y="226608"/>
                  </a:lnTo>
                  <a:lnTo>
                    <a:pt x="1462012" y="226608"/>
                  </a:lnTo>
                  <a:lnTo>
                    <a:pt x="1481737" y="222599"/>
                  </a:lnTo>
                  <a:lnTo>
                    <a:pt x="1497890" y="211685"/>
                  </a:lnTo>
                  <a:lnTo>
                    <a:pt x="1508804" y="195532"/>
                  </a:lnTo>
                  <a:lnTo>
                    <a:pt x="1512813" y="175807"/>
                  </a:lnTo>
                  <a:lnTo>
                    <a:pt x="1512813" y="0"/>
                  </a:lnTo>
                  <a:close/>
                </a:path>
              </a:pathLst>
            </a:custGeom>
            <a:solidFill>
              <a:srgbClr val="E5EA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222808" y="2035711"/>
            <a:ext cx="1450975" cy="365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FFFFFF"/>
                </a:solidFill>
                <a:latin typeface="Arial"/>
                <a:cs typeface="Arial"/>
              </a:rPr>
              <a:t>Decision</a:t>
            </a:r>
            <a:endParaRPr sz="7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530"/>
              </a:spcBef>
            </a:pPr>
            <a:r>
              <a:rPr dirty="0" sz="500" spc="120" i="1">
                <a:latin typeface="Times New Roman"/>
                <a:cs typeface="Times New Roman"/>
              </a:rPr>
              <a:t>T</a:t>
            </a:r>
            <a:r>
              <a:rPr dirty="0" baseline="-16666" sz="750" spc="179">
                <a:latin typeface="Times New Roman"/>
                <a:cs typeface="Times New Roman"/>
              </a:rPr>
              <a:t>min</a:t>
            </a:r>
            <a:r>
              <a:rPr dirty="0" baseline="-16666" sz="750" spc="165">
                <a:latin typeface="Times New Roman"/>
                <a:cs typeface="Times New Roman"/>
              </a:rPr>
              <a:t> </a:t>
            </a:r>
            <a:r>
              <a:rPr dirty="0" sz="500">
                <a:latin typeface="Arial"/>
                <a:cs typeface="Arial"/>
              </a:rPr>
              <a:t>(0.83)</a:t>
            </a:r>
            <a:r>
              <a:rPr dirty="0" sz="500" spc="45">
                <a:latin typeface="Arial"/>
                <a:cs typeface="Arial"/>
              </a:rPr>
              <a:t> </a:t>
            </a:r>
            <a:r>
              <a:rPr dirty="0" sz="500">
                <a:latin typeface="Arial"/>
                <a:cs typeface="Arial"/>
              </a:rPr>
              <a:t>and</a:t>
            </a:r>
            <a:r>
              <a:rPr dirty="0" sz="500" spc="45">
                <a:latin typeface="Arial"/>
                <a:cs typeface="Arial"/>
              </a:rPr>
              <a:t> </a:t>
            </a:r>
            <a:r>
              <a:rPr dirty="0" sz="500" i="1">
                <a:latin typeface="Times New Roman"/>
                <a:cs typeface="Times New Roman"/>
              </a:rPr>
              <a:t>b</a:t>
            </a:r>
            <a:r>
              <a:rPr dirty="0" sz="500" spc="55" i="1">
                <a:latin typeface="Times New Roman"/>
                <a:cs typeface="Times New Roman"/>
              </a:rPr>
              <a:t> </a:t>
            </a:r>
            <a:r>
              <a:rPr dirty="0" sz="500">
                <a:latin typeface="Arial"/>
                <a:cs typeface="Arial"/>
              </a:rPr>
              <a:t>(0.88):</a:t>
            </a:r>
            <a:r>
              <a:rPr dirty="0" sz="500" spc="105">
                <a:latin typeface="Arial"/>
                <a:cs typeface="Arial"/>
              </a:rPr>
              <a:t> </a:t>
            </a:r>
            <a:r>
              <a:rPr dirty="0" sz="500" spc="-10">
                <a:latin typeface="Arial"/>
                <a:cs typeface="Arial"/>
              </a:rPr>
              <a:t>lowest</a:t>
            </a:r>
            <a:r>
              <a:rPr dirty="0" sz="500" spc="45">
                <a:latin typeface="Arial"/>
                <a:cs typeface="Arial"/>
              </a:rPr>
              <a:t> </a:t>
            </a:r>
            <a:r>
              <a:rPr dirty="0" sz="500" spc="-25">
                <a:latin typeface="Arial"/>
                <a:cs typeface="Arial"/>
              </a:rPr>
              <a:t>SSC</a:t>
            </a:r>
            <a:r>
              <a:rPr dirty="0" sz="500" spc="45">
                <a:latin typeface="Arial"/>
                <a:cs typeface="Arial"/>
              </a:rPr>
              <a:t> </a:t>
            </a:r>
            <a:r>
              <a:rPr dirty="0" sz="500" spc="375" i="1">
                <a:latin typeface="JetBrainsMono Nerd Font ExtraLight"/>
                <a:cs typeface="JetBrainsMono Nerd Font ExtraLight"/>
              </a:rPr>
              <a:t>⇒</a:t>
            </a:r>
            <a:r>
              <a:rPr dirty="0" sz="500" spc="-120" i="1">
                <a:latin typeface="JetBrainsMono Nerd Font ExtraLight"/>
                <a:cs typeface="JetBrainsMono Nerd Font ExtraLight"/>
              </a:rPr>
              <a:t> </a:t>
            </a:r>
            <a:r>
              <a:rPr dirty="0" sz="500" spc="-20" b="1">
                <a:latin typeface="Arial"/>
                <a:cs typeface="Arial"/>
              </a:rPr>
              <a:t>fix</a:t>
            </a:r>
            <a:r>
              <a:rPr dirty="0" sz="500" spc="-20">
                <a:latin typeface="Arial"/>
                <a:cs typeface="Arial"/>
              </a:rPr>
              <a:t>:</a:t>
            </a:r>
            <a:endParaRPr sz="5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dirty="0" sz="500" spc="120" i="1">
                <a:latin typeface="Times New Roman"/>
                <a:cs typeface="Times New Roman"/>
              </a:rPr>
              <a:t>T</a:t>
            </a:r>
            <a:r>
              <a:rPr dirty="0" baseline="-16666" sz="750" spc="179">
                <a:latin typeface="Times New Roman"/>
                <a:cs typeface="Times New Roman"/>
              </a:rPr>
              <a:t>min</a:t>
            </a:r>
            <a:r>
              <a:rPr dirty="0" baseline="-16666" sz="750" spc="37">
                <a:latin typeface="Times New Roman"/>
                <a:cs typeface="Times New Roman"/>
              </a:rPr>
              <a:t> </a:t>
            </a:r>
            <a:r>
              <a:rPr dirty="0" sz="500" spc="220">
                <a:latin typeface="Times New Roman"/>
                <a:cs typeface="Times New Roman"/>
              </a:rPr>
              <a:t>=</a:t>
            </a:r>
            <a:r>
              <a:rPr dirty="0" sz="500" spc="-30">
                <a:latin typeface="Times New Roman"/>
                <a:cs typeface="Times New Roman"/>
              </a:rPr>
              <a:t> </a:t>
            </a:r>
            <a:r>
              <a:rPr dirty="0" sz="500" spc="85">
                <a:latin typeface="Times New Roman"/>
                <a:cs typeface="Times New Roman"/>
              </a:rPr>
              <a:t>6</a:t>
            </a:r>
            <a:r>
              <a:rPr dirty="0" sz="500" spc="20">
                <a:latin typeface="Times New Roman"/>
                <a:cs typeface="Times New Roman"/>
              </a:rPr>
              <a:t> </a:t>
            </a:r>
            <a:r>
              <a:rPr dirty="0" baseline="22222" sz="750" i="1">
                <a:latin typeface="JetBrainsMono Nerd Font ExtraLight"/>
                <a:cs typeface="JetBrainsMono Nerd Font ExtraLight"/>
              </a:rPr>
              <a:t>◦</a:t>
            </a:r>
            <a:r>
              <a:rPr dirty="0" sz="500">
                <a:latin typeface="Arial"/>
                <a:cs typeface="Arial"/>
              </a:rPr>
              <a:t>C,</a:t>
            </a:r>
            <a:r>
              <a:rPr dirty="0" sz="500" spc="65">
                <a:latin typeface="Arial"/>
                <a:cs typeface="Arial"/>
              </a:rPr>
              <a:t> </a:t>
            </a:r>
            <a:r>
              <a:rPr dirty="0" sz="500" i="1">
                <a:latin typeface="Times New Roman"/>
                <a:cs typeface="Times New Roman"/>
              </a:rPr>
              <a:t>b</a:t>
            </a:r>
            <a:r>
              <a:rPr dirty="0" sz="500" spc="-30" i="1">
                <a:latin typeface="Times New Roman"/>
                <a:cs typeface="Times New Roman"/>
              </a:rPr>
              <a:t> </a:t>
            </a:r>
            <a:r>
              <a:rPr dirty="0" sz="500" spc="220">
                <a:latin typeface="Times New Roman"/>
                <a:cs typeface="Times New Roman"/>
              </a:rPr>
              <a:t>=</a:t>
            </a:r>
            <a:r>
              <a:rPr dirty="0" sz="500" spc="-30">
                <a:latin typeface="Times New Roman"/>
                <a:cs typeface="Times New Roman"/>
              </a:rPr>
              <a:t> </a:t>
            </a:r>
            <a:r>
              <a:rPr dirty="0" sz="500" spc="65">
                <a:latin typeface="Times New Roman"/>
                <a:cs typeface="Times New Roman"/>
              </a:rPr>
              <a:t>0</a:t>
            </a:r>
            <a:r>
              <a:rPr dirty="0" sz="500" spc="65" i="1">
                <a:latin typeface="Times New Roman"/>
                <a:cs typeface="Times New Roman"/>
              </a:rPr>
              <a:t>.</a:t>
            </a:r>
            <a:r>
              <a:rPr dirty="0" sz="500" spc="65">
                <a:latin typeface="Times New Roman"/>
                <a:cs typeface="Times New Roman"/>
              </a:rPr>
              <a:t>275</a:t>
            </a:r>
            <a:r>
              <a:rPr dirty="0" sz="500" spc="65">
                <a:latin typeface="Arial"/>
                <a:cs typeface="Arial"/>
              </a:rPr>
              <a:t>.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099525" y="752875"/>
            <a:ext cx="3245747" cy="1952173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943656" y="2764467"/>
            <a:ext cx="155765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Arial"/>
                <a:cs typeface="Arial"/>
              </a:rPr>
              <a:t>Fig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3.</a:t>
            </a:r>
            <a:r>
              <a:rPr dirty="0" sz="900" spc="110">
                <a:latin typeface="Arial"/>
                <a:cs typeface="Arial"/>
              </a:rPr>
              <a:t> </a:t>
            </a:r>
            <a:r>
              <a:rPr dirty="0" sz="900" spc="-70">
                <a:latin typeface="Arial"/>
                <a:cs typeface="Arial"/>
              </a:rPr>
              <a:t>SSC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all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7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parameters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25" name="object 25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25" y="0"/>
                  </a:moveTo>
                  <a:lnTo>
                    <a:pt x="2016023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23" y="91287"/>
                  </a:lnTo>
                  <a:lnTo>
                    <a:pt x="3456025" y="91287"/>
                  </a:lnTo>
                  <a:lnTo>
                    <a:pt x="3456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456025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6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6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6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6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6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8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12267" y="209928"/>
            <a:ext cx="226568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5"/>
              <a:t>Parameter</a:t>
            </a:r>
            <a:r>
              <a:rPr dirty="0" spc="-20"/>
              <a:t> </a:t>
            </a:r>
            <a:r>
              <a:rPr dirty="0" spc="-45"/>
              <a:t>Selection</a:t>
            </a:r>
            <a:r>
              <a:rPr dirty="0" spc="-20"/>
              <a:t> </a:t>
            </a:r>
            <a:r>
              <a:rPr dirty="0" spc="-60"/>
              <a:t>Summary</a:t>
            </a:r>
          </a:p>
        </p:txBody>
      </p:sp>
      <p:sp>
        <p:nvSpPr>
          <p:cNvPr id="9" name="object 9"/>
          <p:cNvSpPr/>
          <p:nvPr/>
        </p:nvSpPr>
        <p:spPr>
          <a:xfrm>
            <a:off x="1137005" y="953477"/>
            <a:ext cx="3486150" cy="0"/>
          </a:xfrm>
          <a:custGeom>
            <a:avLst/>
            <a:gdLst/>
            <a:ahLst/>
            <a:cxnLst/>
            <a:rect l="l" t="t" r="r" b="b"/>
            <a:pathLst>
              <a:path w="3486150" h="0">
                <a:moveTo>
                  <a:pt x="0" y="0"/>
                </a:moveTo>
                <a:lnTo>
                  <a:pt x="3485997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00213" y="965274"/>
            <a:ext cx="4851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Parameter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1280" y="965274"/>
            <a:ext cx="468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Max</a:t>
            </a:r>
            <a:r>
              <a:rPr dirty="0" sz="800" spc="-10" i="1">
                <a:latin typeface="Times New Roman"/>
                <a:cs typeface="Times New Roman"/>
              </a:rPr>
              <a:t>|</a:t>
            </a:r>
            <a:r>
              <a:rPr dirty="0" sz="800" spc="-10">
                <a:latin typeface="Arial"/>
                <a:cs typeface="Arial"/>
              </a:rPr>
              <a:t>SSC</a:t>
            </a:r>
            <a:r>
              <a:rPr dirty="0" sz="800" spc="-10" i="1">
                <a:latin typeface="Times New Roman"/>
                <a:cs typeface="Times New Roman"/>
              </a:rPr>
              <a:t>|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60459" y="965274"/>
            <a:ext cx="5676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Identifiable?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94493" y="965274"/>
            <a:ext cx="3155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Action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6560" y="965274"/>
            <a:ext cx="5289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Value </a:t>
            </a:r>
            <a:r>
              <a:rPr dirty="0" sz="800" spc="-30">
                <a:latin typeface="Arial"/>
                <a:cs typeface="Arial"/>
              </a:rPr>
              <a:t>Used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37005" y="1140891"/>
            <a:ext cx="3486150" cy="0"/>
          </a:xfrm>
          <a:custGeom>
            <a:avLst/>
            <a:gdLst/>
            <a:ahLst/>
            <a:cxnLst/>
            <a:rect l="l" t="t" r="r" b="b"/>
            <a:pathLst>
              <a:path w="3486150" h="0">
                <a:moveTo>
                  <a:pt x="0" y="0"/>
                </a:moveTo>
                <a:lnTo>
                  <a:pt x="3485997" y="0"/>
                </a:lnTo>
              </a:path>
            </a:pathLst>
          </a:custGeom>
          <a:ln w="6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276807" y="1150783"/>
            <a:ext cx="325120" cy="8858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18745" marR="104775" indent="10795">
              <a:lnSpc>
                <a:spcPts val="950"/>
              </a:lnSpc>
              <a:spcBef>
                <a:spcPts val="135"/>
              </a:spcBef>
            </a:pPr>
            <a:r>
              <a:rPr dirty="0" sz="800" spc="-50">
                <a:latin typeface="Arial"/>
                <a:cs typeface="Arial"/>
              </a:rPr>
              <a:t>A</a:t>
            </a:r>
            <a:r>
              <a:rPr dirty="0" sz="800" spc="500">
                <a:latin typeface="Arial"/>
                <a:cs typeface="Arial"/>
              </a:rPr>
              <a:t> </a:t>
            </a:r>
            <a:r>
              <a:rPr dirty="0" sz="800" spc="-50">
                <a:latin typeface="Arial"/>
                <a:cs typeface="Arial"/>
              </a:rPr>
              <a:t>C</a:t>
            </a:r>
            <a:r>
              <a:rPr dirty="0" sz="800" spc="20">
                <a:latin typeface="Arial"/>
                <a:cs typeface="Arial"/>
              </a:rPr>
              <a:t> M</a:t>
            </a:r>
            <a:endParaRPr sz="800">
              <a:latin typeface="Arial"/>
              <a:cs typeface="Arial"/>
            </a:endParaRPr>
          </a:p>
          <a:p>
            <a:pPr algn="ctr" marL="5715">
              <a:lnSpc>
                <a:spcPts val="910"/>
              </a:lnSpc>
            </a:pPr>
            <a:r>
              <a:rPr dirty="0" sz="800" spc="-50" i="1">
                <a:latin typeface="Arial"/>
                <a:cs typeface="Arial"/>
              </a:rPr>
              <a:t>a</a:t>
            </a:r>
            <a:endParaRPr sz="800">
              <a:latin typeface="Arial"/>
              <a:cs typeface="Arial"/>
            </a:endParaRPr>
          </a:p>
          <a:p>
            <a:pPr algn="ctr" marL="5715">
              <a:lnSpc>
                <a:spcPct val="100000"/>
              </a:lnSpc>
              <a:spcBef>
                <a:spcPts val="25"/>
              </a:spcBef>
            </a:pPr>
            <a:r>
              <a:rPr dirty="0" sz="800" spc="-50" i="1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  <a:p>
            <a:pPr algn="ctr" marL="38100" marR="30480">
              <a:lnSpc>
                <a:spcPts val="930"/>
              </a:lnSpc>
              <a:spcBef>
                <a:spcPts val="165"/>
              </a:spcBef>
            </a:pPr>
            <a:r>
              <a:rPr dirty="0" baseline="6944" sz="1200" spc="120" i="1">
                <a:latin typeface="Arial"/>
                <a:cs typeface="Arial"/>
              </a:rPr>
              <a:t>T</a:t>
            </a:r>
            <a:r>
              <a:rPr dirty="0" sz="600" spc="80">
                <a:latin typeface="Times New Roman"/>
                <a:cs typeface="Times New Roman"/>
              </a:rPr>
              <a:t>min </a:t>
            </a:r>
            <a:r>
              <a:rPr dirty="0" baseline="6944" sz="1200" spc="127" i="1">
                <a:latin typeface="Arial"/>
                <a:cs typeface="Arial"/>
              </a:rPr>
              <a:t>T</a:t>
            </a:r>
            <a:r>
              <a:rPr dirty="0" sz="600" spc="85">
                <a:latin typeface="Times New Roman"/>
                <a:cs typeface="Times New Roman"/>
              </a:rPr>
              <a:t>max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37219" y="1150783"/>
            <a:ext cx="216535" cy="873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55"/>
              </a:lnSpc>
              <a:spcBef>
                <a:spcPts val="95"/>
              </a:spcBef>
            </a:pPr>
            <a:r>
              <a:rPr dirty="0" sz="800" spc="-20">
                <a:latin typeface="Arial"/>
                <a:cs typeface="Arial"/>
              </a:rPr>
              <a:t>2.61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44"/>
              </a:lnSpc>
            </a:pPr>
            <a:r>
              <a:rPr dirty="0" sz="800" spc="-20">
                <a:latin typeface="Arial"/>
                <a:cs typeface="Arial"/>
              </a:rPr>
              <a:t>5.11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44"/>
              </a:lnSpc>
            </a:pPr>
            <a:r>
              <a:rPr dirty="0" sz="800" spc="-20">
                <a:latin typeface="Arial"/>
                <a:cs typeface="Arial"/>
              </a:rPr>
              <a:t>5.45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55"/>
              </a:lnSpc>
            </a:pPr>
            <a:r>
              <a:rPr dirty="0" sz="800" spc="-20">
                <a:latin typeface="Arial"/>
                <a:cs typeface="Arial"/>
              </a:rPr>
              <a:t>2.20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55"/>
              </a:lnSpc>
              <a:spcBef>
                <a:spcPts val="25"/>
              </a:spcBef>
            </a:pPr>
            <a:r>
              <a:rPr dirty="0" sz="800" spc="-20">
                <a:latin typeface="Arial"/>
                <a:cs typeface="Arial"/>
              </a:rPr>
              <a:t>0.88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44"/>
              </a:lnSpc>
            </a:pPr>
            <a:r>
              <a:rPr dirty="0" sz="800" spc="-20">
                <a:latin typeface="Arial"/>
                <a:cs typeface="Arial"/>
              </a:rPr>
              <a:t>0.83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55"/>
              </a:lnSpc>
            </a:pPr>
            <a:r>
              <a:rPr dirty="0" sz="800" spc="-20">
                <a:latin typeface="Arial"/>
                <a:cs typeface="Arial"/>
              </a:rPr>
              <a:t>9.02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06091" y="1150783"/>
            <a:ext cx="676910" cy="873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3530" indent="-83820">
              <a:lnSpc>
                <a:spcPts val="955"/>
              </a:lnSpc>
              <a:spcBef>
                <a:spcPts val="95"/>
              </a:spcBef>
              <a:buSzPct val="87500"/>
              <a:buFont typeface="Lucida Grande"/>
              <a:buChar char="✓"/>
              <a:tabLst>
                <a:tab pos="303530" algn="l"/>
              </a:tabLst>
            </a:pPr>
            <a:r>
              <a:rPr dirty="0" sz="800" spc="-25">
                <a:latin typeface="Arial"/>
                <a:cs typeface="Arial"/>
              </a:rPr>
              <a:t>Yes</a:t>
            </a:r>
            <a:endParaRPr sz="800">
              <a:latin typeface="Arial"/>
              <a:cs typeface="Arial"/>
            </a:endParaRPr>
          </a:p>
          <a:p>
            <a:pPr marL="303530" indent="-83820">
              <a:lnSpc>
                <a:spcPts val="944"/>
              </a:lnSpc>
              <a:buSzPct val="87500"/>
              <a:buFont typeface="Lucida Grande"/>
              <a:buChar char="✓"/>
              <a:tabLst>
                <a:tab pos="303530" algn="l"/>
              </a:tabLst>
            </a:pPr>
            <a:r>
              <a:rPr dirty="0" sz="800" spc="-25">
                <a:latin typeface="Arial"/>
                <a:cs typeface="Arial"/>
              </a:rPr>
              <a:t>Yes</a:t>
            </a:r>
            <a:endParaRPr sz="800">
              <a:latin typeface="Arial"/>
              <a:cs typeface="Arial"/>
            </a:endParaRPr>
          </a:p>
          <a:p>
            <a:pPr marL="303530" indent="-83820">
              <a:lnSpc>
                <a:spcPts val="944"/>
              </a:lnSpc>
              <a:buSzPct val="87500"/>
              <a:buFont typeface="Lucida Grande"/>
              <a:buChar char="✓"/>
              <a:tabLst>
                <a:tab pos="303530" algn="l"/>
              </a:tabLst>
            </a:pPr>
            <a:r>
              <a:rPr dirty="0" sz="800" spc="-25">
                <a:latin typeface="Arial"/>
                <a:cs typeface="Arial"/>
              </a:rPr>
              <a:t>Yes</a:t>
            </a:r>
            <a:endParaRPr sz="800">
              <a:latin typeface="Arial"/>
              <a:cs typeface="Arial"/>
            </a:endParaRPr>
          </a:p>
          <a:p>
            <a:pPr marL="303530" indent="-83820">
              <a:lnSpc>
                <a:spcPts val="955"/>
              </a:lnSpc>
              <a:buSzPct val="87500"/>
              <a:buFont typeface="Lucida Grande"/>
              <a:buChar char="✓"/>
              <a:tabLst>
                <a:tab pos="303530" algn="l"/>
              </a:tabLst>
            </a:pPr>
            <a:r>
              <a:rPr dirty="0" sz="800" spc="-25">
                <a:latin typeface="Arial"/>
                <a:cs typeface="Arial"/>
              </a:rPr>
              <a:t>Yes</a:t>
            </a:r>
            <a:endParaRPr sz="800">
              <a:latin typeface="Arial"/>
              <a:cs typeface="Arial"/>
            </a:endParaRPr>
          </a:p>
          <a:p>
            <a:pPr marL="74930">
              <a:lnSpc>
                <a:spcPts val="955"/>
              </a:lnSpc>
              <a:spcBef>
                <a:spcPts val="25"/>
              </a:spcBef>
            </a:pPr>
            <a:r>
              <a:rPr dirty="0" sz="800" spc="114" i="1">
                <a:latin typeface="Times New Roman"/>
                <a:cs typeface="Times New Roman"/>
              </a:rPr>
              <a:t>×</a:t>
            </a:r>
            <a:r>
              <a:rPr dirty="0" sz="800" spc="60" i="1">
                <a:latin typeface="Times New Roman"/>
                <a:cs typeface="Times New Roman"/>
              </a:rPr>
              <a:t> </a:t>
            </a:r>
            <a:r>
              <a:rPr dirty="0" sz="800">
                <a:latin typeface="Arial"/>
                <a:cs typeface="Arial"/>
              </a:rPr>
              <a:t>Low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SSC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44"/>
              </a:lnSpc>
            </a:pPr>
            <a:r>
              <a:rPr dirty="0" sz="800" spc="114" i="1">
                <a:latin typeface="Times New Roman"/>
                <a:cs typeface="Times New Roman"/>
              </a:rPr>
              <a:t>×</a:t>
            </a:r>
            <a:r>
              <a:rPr dirty="0" sz="800" spc="40" i="1">
                <a:latin typeface="Times New Roman"/>
                <a:cs typeface="Times New Roman"/>
              </a:rPr>
              <a:t> </a:t>
            </a:r>
            <a:r>
              <a:rPr dirty="0" sz="800" spc="-10">
                <a:latin typeface="Arial"/>
                <a:cs typeface="Arial"/>
              </a:rPr>
              <a:t>Lowest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40">
                <a:latin typeface="Arial"/>
                <a:cs typeface="Arial"/>
              </a:rPr>
              <a:t>SSC</a:t>
            </a:r>
            <a:endParaRPr sz="800">
              <a:latin typeface="Arial"/>
              <a:cs typeface="Arial"/>
            </a:endParaRPr>
          </a:p>
          <a:p>
            <a:pPr marL="303530" indent="-83820">
              <a:lnSpc>
                <a:spcPts val="955"/>
              </a:lnSpc>
              <a:buSzPct val="87500"/>
              <a:buFont typeface="Lucida Grande"/>
              <a:buChar char="✓"/>
              <a:tabLst>
                <a:tab pos="303530" algn="l"/>
              </a:tabLst>
            </a:pPr>
            <a:r>
              <a:rPr dirty="0" sz="800" spc="-25">
                <a:latin typeface="Arial"/>
                <a:cs typeface="Arial"/>
              </a:rPr>
              <a:t>Yes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08852" y="1150783"/>
            <a:ext cx="687070" cy="8731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39065" marR="131445">
              <a:lnSpc>
                <a:spcPts val="950"/>
              </a:lnSpc>
              <a:spcBef>
                <a:spcPts val="135"/>
              </a:spcBef>
            </a:pPr>
            <a:r>
              <a:rPr dirty="0" sz="800" spc="-30" b="1">
                <a:latin typeface="Arial"/>
                <a:cs typeface="Arial"/>
              </a:rPr>
              <a:t>Estimate</a:t>
            </a:r>
            <a:r>
              <a:rPr dirty="0" sz="800" spc="500" b="1">
                <a:latin typeface="Arial"/>
                <a:cs typeface="Arial"/>
              </a:rPr>
              <a:t> </a:t>
            </a:r>
            <a:r>
              <a:rPr dirty="0" sz="800" spc="-30" b="1">
                <a:latin typeface="Arial"/>
                <a:cs typeface="Arial"/>
              </a:rPr>
              <a:t>Estimate</a:t>
            </a:r>
            <a:r>
              <a:rPr dirty="0" sz="800" spc="500" b="1">
                <a:latin typeface="Arial"/>
                <a:cs typeface="Arial"/>
              </a:rPr>
              <a:t> </a:t>
            </a:r>
            <a:r>
              <a:rPr dirty="0" sz="800" spc="-30" b="1">
                <a:latin typeface="Arial"/>
                <a:cs typeface="Arial"/>
              </a:rPr>
              <a:t>Estimate</a:t>
            </a:r>
            <a:r>
              <a:rPr dirty="0" sz="800" spc="500" b="1">
                <a:latin typeface="Arial"/>
                <a:cs typeface="Arial"/>
              </a:rPr>
              <a:t> </a:t>
            </a:r>
            <a:r>
              <a:rPr dirty="0" sz="800" spc="-30" b="1">
                <a:latin typeface="Arial"/>
                <a:cs typeface="Arial"/>
              </a:rPr>
              <a:t>Estimate</a:t>
            </a:r>
            <a:endParaRPr sz="800">
              <a:latin typeface="Arial"/>
              <a:cs typeface="Arial"/>
            </a:endParaRPr>
          </a:p>
          <a:p>
            <a:pPr algn="ctr" marL="12700" marR="5080" indent="-635">
              <a:lnSpc>
                <a:spcPts val="950"/>
              </a:lnSpc>
              <a:spcBef>
                <a:spcPts val="25"/>
              </a:spcBef>
            </a:pPr>
            <a:r>
              <a:rPr dirty="0" sz="800">
                <a:latin typeface="Arial"/>
                <a:cs typeface="Arial"/>
              </a:rPr>
              <a:t>Fix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(literature) </a:t>
            </a:r>
            <a:r>
              <a:rPr dirty="0" sz="800">
                <a:latin typeface="Arial"/>
                <a:cs typeface="Arial"/>
              </a:rPr>
              <a:t>Fix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(literature) </a:t>
            </a:r>
            <a:r>
              <a:rPr dirty="0" sz="800" spc="-10" b="1">
                <a:latin typeface="Arial"/>
                <a:cs typeface="Arial"/>
              </a:rPr>
              <a:t>Estimate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96715" y="1150783"/>
            <a:ext cx="582295" cy="8731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53975" marR="40640">
              <a:lnSpc>
                <a:spcPts val="950"/>
              </a:lnSpc>
              <a:spcBef>
                <a:spcPts val="135"/>
              </a:spcBef>
            </a:pPr>
            <a:r>
              <a:rPr dirty="0" sz="800">
                <a:latin typeface="Arial"/>
                <a:cs typeface="Arial"/>
              </a:rPr>
              <a:t>OLS</a:t>
            </a:r>
            <a:r>
              <a:rPr dirty="0" sz="800" spc="-10">
                <a:latin typeface="Arial"/>
                <a:cs typeface="Arial"/>
              </a:rPr>
              <a:t> result </a:t>
            </a:r>
            <a:r>
              <a:rPr dirty="0" sz="800">
                <a:latin typeface="Arial"/>
                <a:cs typeface="Arial"/>
              </a:rPr>
              <a:t>OLS</a:t>
            </a:r>
            <a:r>
              <a:rPr dirty="0" sz="800" spc="-10">
                <a:latin typeface="Arial"/>
                <a:cs typeface="Arial"/>
              </a:rPr>
              <a:t> result </a:t>
            </a:r>
            <a:r>
              <a:rPr dirty="0" sz="800">
                <a:latin typeface="Arial"/>
                <a:cs typeface="Arial"/>
              </a:rPr>
              <a:t>OLS</a:t>
            </a:r>
            <a:r>
              <a:rPr dirty="0" sz="800" spc="-10">
                <a:latin typeface="Arial"/>
                <a:cs typeface="Arial"/>
              </a:rPr>
              <a:t> result </a:t>
            </a:r>
            <a:r>
              <a:rPr dirty="0" sz="800">
                <a:latin typeface="Arial"/>
                <a:cs typeface="Arial"/>
              </a:rPr>
              <a:t>OLS</a:t>
            </a:r>
            <a:r>
              <a:rPr dirty="0" sz="800" spc="-10">
                <a:latin typeface="Arial"/>
                <a:cs typeface="Arial"/>
              </a:rPr>
              <a:t> result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ts val="935"/>
              </a:lnSpc>
            </a:pPr>
            <a:r>
              <a:rPr dirty="0" sz="800">
                <a:latin typeface="Times New Roman"/>
                <a:cs typeface="Times New Roman"/>
              </a:rPr>
              <a:t>0</a:t>
            </a:r>
            <a:r>
              <a:rPr dirty="0" sz="800" i="1">
                <a:latin typeface="Times New Roman"/>
                <a:cs typeface="Times New Roman"/>
              </a:rPr>
              <a:t>.</a:t>
            </a:r>
            <a:r>
              <a:rPr dirty="0" sz="800">
                <a:latin typeface="Times New Roman"/>
                <a:cs typeface="Times New Roman"/>
              </a:rPr>
              <a:t>275</a:t>
            </a:r>
            <a:r>
              <a:rPr dirty="0" sz="800" spc="50">
                <a:latin typeface="Times New Roman"/>
                <a:cs typeface="Times New Roman"/>
              </a:rPr>
              <a:t> </a:t>
            </a:r>
            <a:r>
              <a:rPr dirty="0" baseline="27777" sz="900" spc="120" i="1">
                <a:latin typeface="Times New Roman"/>
                <a:cs typeface="Times New Roman"/>
              </a:rPr>
              <a:t>◦</a:t>
            </a:r>
            <a:r>
              <a:rPr dirty="0" sz="800" spc="80">
                <a:latin typeface="Arial"/>
                <a:cs typeface="Arial"/>
              </a:rPr>
              <a:t>C</a:t>
            </a:r>
            <a:r>
              <a:rPr dirty="0" baseline="27777" sz="900" spc="120" i="1">
                <a:latin typeface="Times New Roman"/>
                <a:cs typeface="Times New Roman"/>
              </a:rPr>
              <a:t>−</a:t>
            </a:r>
            <a:r>
              <a:rPr dirty="0" baseline="27777" sz="900" spc="120">
                <a:latin typeface="Times New Roman"/>
                <a:cs typeface="Times New Roman"/>
              </a:rPr>
              <a:t>1</a:t>
            </a:r>
            <a:endParaRPr baseline="27777" sz="900">
              <a:latin typeface="Times New Roman"/>
              <a:cs typeface="Times New Roman"/>
            </a:endParaRPr>
          </a:p>
          <a:p>
            <a:pPr marL="53975" marR="40640" indent="141605">
              <a:lnSpc>
                <a:spcPts val="950"/>
              </a:lnSpc>
              <a:spcBef>
                <a:spcPts val="35"/>
              </a:spcBef>
            </a:pPr>
            <a:r>
              <a:rPr dirty="0" sz="800">
                <a:latin typeface="Times New Roman"/>
                <a:cs typeface="Times New Roman"/>
              </a:rPr>
              <a:t>6</a:t>
            </a:r>
            <a:r>
              <a:rPr dirty="0" sz="800" spc="-40">
                <a:latin typeface="Times New Roman"/>
                <a:cs typeface="Times New Roman"/>
              </a:rPr>
              <a:t> </a:t>
            </a:r>
            <a:r>
              <a:rPr dirty="0" baseline="27777" sz="900" spc="97" i="1">
                <a:latin typeface="Times New Roman"/>
                <a:cs typeface="Times New Roman"/>
              </a:rPr>
              <a:t>◦</a:t>
            </a:r>
            <a:r>
              <a:rPr dirty="0" sz="800" spc="65">
                <a:latin typeface="Arial"/>
                <a:cs typeface="Arial"/>
              </a:rPr>
              <a:t>C </a:t>
            </a:r>
            <a:r>
              <a:rPr dirty="0" sz="800">
                <a:latin typeface="Arial"/>
                <a:cs typeface="Arial"/>
              </a:rPr>
              <a:t>OLS</a:t>
            </a:r>
            <a:r>
              <a:rPr dirty="0" sz="800" spc="-10">
                <a:latin typeface="Arial"/>
                <a:cs typeface="Arial"/>
              </a:rPr>
              <a:t> result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37005" y="2054351"/>
            <a:ext cx="3486150" cy="0"/>
          </a:xfrm>
          <a:custGeom>
            <a:avLst/>
            <a:gdLst/>
            <a:ahLst/>
            <a:cxnLst/>
            <a:rect l="l" t="t" r="r" b="b"/>
            <a:pathLst>
              <a:path w="3486150" h="0">
                <a:moveTo>
                  <a:pt x="0" y="0"/>
                </a:moveTo>
                <a:lnTo>
                  <a:pt x="3485997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48424" y="2166918"/>
            <a:ext cx="2972435" cy="40513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63830" indent="-125730">
              <a:lnSpc>
                <a:spcPct val="100000"/>
              </a:lnSpc>
              <a:spcBef>
                <a:spcPts val="3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b="1">
                <a:latin typeface="Arial"/>
                <a:cs typeface="Arial"/>
              </a:rPr>
              <a:t>Direct</a:t>
            </a:r>
            <a:r>
              <a:rPr dirty="0" sz="1000" spc="3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elimination</a:t>
            </a:r>
            <a:r>
              <a:rPr dirty="0" sz="1000" spc="-20">
                <a:latin typeface="Arial"/>
                <a:cs typeface="Arial"/>
              </a:rPr>
              <a:t>:</a:t>
            </a:r>
            <a:r>
              <a:rPr dirty="0" sz="1000" spc="130">
                <a:latin typeface="Arial"/>
                <a:cs typeface="Arial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7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395" i="1">
                <a:latin typeface="JetBrainsMono Nerd Font ExtraLight"/>
                <a:cs typeface="JetBrainsMono Nerd Font ExtraLight"/>
              </a:rPr>
              <a:t>→</a:t>
            </a:r>
            <a:r>
              <a:rPr dirty="0" sz="1000" spc="-325" i="1">
                <a:latin typeface="JetBrainsMono Nerd Font ExtraLight"/>
                <a:cs typeface="JetBrainsMono Nerd Font ExtraLight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5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STXihei"/>
                <a:cs typeface="STXihei"/>
              </a:rPr>
              <a:t>—</a:t>
            </a:r>
            <a:r>
              <a:rPr dirty="0" sz="1000">
                <a:latin typeface="Arial"/>
                <a:cs typeface="Arial"/>
              </a:rPr>
              <a:t>fix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 spc="80" i="1">
                <a:latin typeface="Times New Roman"/>
                <a:cs typeface="Times New Roman"/>
              </a:rPr>
              <a:t>T</a:t>
            </a:r>
            <a:r>
              <a:rPr dirty="0" baseline="-11904" sz="1050" spc="120">
                <a:latin typeface="Times New Roman"/>
                <a:cs typeface="Times New Roman"/>
              </a:rPr>
              <a:t>min</a:t>
            </a:r>
            <a:r>
              <a:rPr dirty="0" sz="1000" spc="80">
                <a:latin typeface="Arial"/>
                <a:cs typeface="Arial"/>
              </a:rPr>
              <a:t>,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b</a:t>
            </a:r>
            <a:r>
              <a:rPr dirty="0" sz="1000" spc="60" i="1">
                <a:latin typeface="Times New Roman"/>
                <a:cs typeface="Times New Roman"/>
              </a:rPr>
              <a:t> </a:t>
            </a:r>
            <a:r>
              <a:rPr dirty="0" sz="1000">
                <a:latin typeface="Arial"/>
                <a:cs typeface="Arial"/>
              </a:rPr>
              <a:t>(low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SSC)</a:t>
            </a:r>
            <a:endParaRPr sz="1000">
              <a:latin typeface="Arial"/>
              <a:cs typeface="Arial"/>
            </a:endParaRPr>
          </a:p>
          <a:p>
            <a:pPr marL="163830" indent="-125730">
              <a:lnSpc>
                <a:spcPct val="100000"/>
              </a:lnSpc>
              <a:spcBef>
                <a:spcPts val="2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10" b="1">
                <a:latin typeface="Arial"/>
                <a:cs typeface="Arial"/>
              </a:rPr>
              <a:t>Final</a:t>
            </a:r>
            <a:r>
              <a:rPr dirty="0" sz="1000" spc="45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estimable</a:t>
            </a:r>
            <a:r>
              <a:rPr dirty="0" sz="1000" spc="7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parameters</a:t>
            </a:r>
            <a:r>
              <a:rPr dirty="0" sz="1000" spc="-25">
                <a:latin typeface="Arial"/>
                <a:cs typeface="Arial"/>
              </a:rPr>
              <a:t>:</a:t>
            </a:r>
            <a:r>
              <a:rPr dirty="0" sz="1000" spc="145">
                <a:latin typeface="Arial"/>
                <a:cs typeface="Arial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[</a:t>
            </a:r>
            <a:r>
              <a:rPr dirty="0" sz="1000" i="1">
                <a:latin typeface="Times New Roman"/>
                <a:cs typeface="Times New Roman"/>
              </a:rPr>
              <a:t>A</a:t>
            </a:r>
            <a:r>
              <a:rPr dirty="0" sz="1000" i="1">
                <a:latin typeface="Arial"/>
                <a:cs typeface="Arial"/>
              </a:rPr>
              <a:t>,</a:t>
            </a:r>
            <a:r>
              <a:rPr dirty="0" sz="1000" spc="-114" i="1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C</a:t>
            </a:r>
            <a:r>
              <a:rPr dirty="0" sz="1000" i="1">
                <a:latin typeface="Arial"/>
                <a:cs typeface="Arial"/>
              </a:rPr>
              <a:t>,</a:t>
            </a:r>
            <a:r>
              <a:rPr dirty="0" sz="1000" spc="-114" i="1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M</a:t>
            </a:r>
            <a:r>
              <a:rPr dirty="0" sz="1000" i="1">
                <a:latin typeface="Arial"/>
                <a:cs typeface="Arial"/>
              </a:rPr>
              <a:t>,</a:t>
            </a:r>
            <a:r>
              <a:rPr dirty="0" sz="1000" spc="-114" i="1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a</a:t>
            </a:r>
            <a:r>
              <a:rPr dirty="0" sz="1000" i="1">
                <a:latin typeface="Arial"/>
                <a:cs typeface="Arial"/>
              </a:rPr>
              <a:t>,</a:t>
            </a:r>
            <a:r>
              <a:rPr dirty="0" sz="1000" spc="-114" i="1">
                <a:latin typeface="Arial"/>
                <a:cs typeface="Arial"/>
              </a:rPr>
              <a:t> </a:t>
            </a:r>
            <a:r>
              <a:rPr dirty="0" sz="1000" spc="55" i="1">
                <a:latin typeface="Times New Roman"/>
                <a:cs typeface="Times New Roman"/>
              </a:rPr>
              <a:t>T</a:t>
            </a:r>
            <a:r>
              <a:rPr dirty="0" baseline="-11904" sz="1050" spc="82">
                <a:latin typeface="Times New Roman"/>
                <a:cs typeface="Times New Roman"/>
              </a:rPr>
              <a:t>max</a:t>
            </a:r>
            <a:r>
              <a:rPr dirty="0" sz="1000" spc="55">
                <a:latin typeface="Times New Roman"/>
                <a:cs typeface="Times New Roman"/>
              </a:rPr>
              <a:t>]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24" name="object 24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38" y="0"/>
                  </a:moveTo>
                  <a:lnTo>
                    <a:pt x="2016036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36" y="91287"/>
                  </a:lnTo>
                  <a:lnTo>
                    <a:pt x="3456038" y="91287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456038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8</a:t>
            </a:fld>
            <a:r>
              <a:rPr dirty="0" spc="30"/>
              <a:t> </a:t>
            </a:r>
            <a:r>
              <a:rPr dirty="0" spc="125"/>
              <a:t>/</a:t>
            </a:r>
            <a:r>
              <a:rPr dirty="0" spc="30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pc="-50"/>
              <a:t>OLS </a:t>
            </a:r>
            <a:r>
              <a:rPr dirty="0" spc="-80"/>
              <a:t>Inverse</a:t>
            </a:r>
            <a:r>
              <a:rPr dirty="0" spc="-15"/>
              <a:t> </a:t>
            </a:r>
            <a:r>
              <a:rPr dirty="0" spc="-35"/>
              <a:t>Problem</a:t>
            </a:r>
            <a:r>
              <a:rPr dirty="0" spc="20"/>
              <a:t> </a:t>
            </a:r>
            <a:r>
              <a:rPr dirty="0">
                <a:latin typeface="STXihei"/>
                <a:cs typeface="STXihei"/>
              </a:rPr>
              <a:t>—</a:t>
            </a:r>
            <a:r>
              <a:rPr dirty="0" spc="-10"/>
              <a:t>Final</a:t>
            </a:r>
            <a:r>
              <a:rPr dirty="0" spc="20"/>
              <a:t> </a:t>
            </a:r>
            <a:r>
              <a:rPr dirty="0" spc="-60"/>
              <a:t>Results</a:t>
            </a:r>
            <a:r>
              <a:rPr dirty="0" spc="25"/>
              <a:t> </a:t>
            </a:r>
            <a:r>
              <a:rPr dirty="0" spc="55"/>
              <a:t>(</a:t>
            </a:r>
            <a:r>
              <a:rPr dirty="0" spc="55">
                <a:latin typeface="Times New Roman"/>
                <a:cs typeface="Times New Roman"/>
              </a:rPr>
              <a:t>[</a:t>
            </a:r>
            <a:r>
              <a:rPr dirty="0" spc="55" i="1">
                <a:latin typeface="Times New Roman"/>
                <a:cs typeface="Times New Roman"/>
              </a:rPr>
              <a:t>A,</a:t>
            </a:r>
            <a:r>
              <a:rPr dirty="0" spc="-110" i="1">
                <a:latin typeface="Times New Roman"/>
                <a:cs typeface="Times New Roman"/>
              </a:rPr>
              <a:t> </a:t>
            </a:r>
            <a:r>
              <a:rPr dirty="0" spc="50" i="1">
                <a:latin typeface="Times New Roman"/>
                <a:cs typeface="Times New Roman"/>
              </a:rPr>
              <a:t>C,</a:t>
            </a:r>
            <a:r>
              <a:rPr dirty="0" spc="-110" i="1">
                <a:latin typeface="Times New Roman"/>
                <a:cs typeface="Times New Roman"/>
              </a:rPr>
              <a:t> </a:t>
            </a:r>
            <a:r>
              <a:rPr dirty="0" spc="60" i="1">
                <a:latin typeface="Times New Roman"/>
                <a:cs typeface="Times New Roman"/>
              </a:rPr>
              <a:t>M,</a:t>
            </a:r>
            <a:r>
              <a:rPr dirty="0" spc="-1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a,</a:t>
            </a:r>
            <a:r>
              <a:rPr dirty="0" spc="-110" i="1">
                <a:latin typeface="Times New Roman"/>
                <a:cs typeface="Times New Roman"/>
              </a:rPr>
              <a:t> </a:t>
            </a:r>
            <a:r>
              <a:rPr dirty="0" spc="55" i="1">
                <a:latin typeface="Times New Roman"/>
                <a:cs typeface="Times New Roman"/>
              </a:rPr>
              <a:t>T</a:t>
            </a:r>
            <a:r>
              <a:rPr dirty="0" baseline="-11111" sz="1500" spc="82">
                <a:latin typeface="Times New Roman"/>
                <a:cs typeface="Times New Roman"/>
              </a:rPr>
              <a:t>max</a:t>
            </a:r>
            <a:r>
              <a:rPr dirty="0" sz="1400" spc="55">
                <a:latin typeface="Times New Roman"/>
                <a:cs typeface="Times New Roman"/>
              </a:rPr>
              <a:t>]</a:t>
            </a:r>
            <a:r>
              <a:rPr dirty="0" sz="1400" spc="55"/>
              <a:t>)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524863" y="934884"/>
          <a:ext cx="2787015" cy="854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055"/>
                <a:gridCol w="545465"/>
                <a:gridCol w="426084"/>
                <a:gridCol w="467995"/>
                <a:gridCol w="828675"/>
              </a:tblGrid>
              <a:tr h="187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Param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Estimate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 spc="30" i="1">
                          <a:latin typeface="Times New Roman"/>
                          <a:cs typeface="Times New Roman"/>
                        </a:rPr>
                        <a:t>σ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Rel</a:t>
                      </a:r>
                      <a:r>
                        <a:rPr dirty="0" sz="8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Err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95%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CI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0970"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175"/>
                        </a:spcBef>
                      </a:pPr>
                      <a:r>
                        <a:rPr dirty="0" sz="800" spc="45" i="1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175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2.358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175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0.146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175"/>
                        </a:spcBef>
                      </a:pPr>
                      <a:r>
                        <a:rPr dirty="0" sz="800" spc="-20">
                          <a:latin typeface="Arial"/>
                          <a:cs typeface="Arial"/>
                        </a:rPr>
                        <a:t>6.2%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175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[2.046,</a:t>
                      </a:r>
                      <a:r>
                        <a:rPr dirty="0" sz="8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2.670]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20014"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50" i="1">
                          <a:latin typeface="Arial"/>
                          <a:cs typeface="Arial"/>
                        </a:rPr>
                        <a:t>C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11.062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2.013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18.2%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[6.771,</a:t>
                      </a:r>
                      <a:r>
                        <a:rPr dirty="0" sz="8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15.354]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</a:tr>
              <a:tr h="120014"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45" i="1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5.541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0.528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20">
                          <a:latin typeface="Arial"/>
                          <a:cs typeface="Arial"/>
                        </a:rPr>
                        <a:t>9.5%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[4.414,</a:t>
                      </a:r>
                      <a:r>
                        <a:rPr dirty="0" sz="8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6.667]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</a:tr>
              <a:tr h="120014"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50" i="1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Arial"/>
                          <a:cs typeface="Arial"/>
                        </a:rPr>
                        <a:t>3.0e-</a:t>
                      </a:r>
                      <a:r>
                        <a:rPr dirty="0" sz="800" spc="-50">
                          <a:latin typeface="Arial"/>
                          <a:cs typeface="Arial"/>
                        </a:rPr>
                        <a:t>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25">
                          <a:latin typeface="Arial"/>
                          <a:cs typeface="Arial"/>
                        </a:rPr>
                        <a:t>1.1e-</a:t>
                      </a:r>
                      <a:r>
                        <a:rPr dirty="0" sz="800" spc="-50">
                          <a:latin typeface="Arial"/>
                          <a:cs typeface="Arial"/>
                        </a:rPr>
                        <a:t>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38.3%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dirty="0" sz="800" spc="-20">
                          <a:latin typeface="Arial"/>
                          <a:cs typeface="Arial"/>
                        </a:rPr>
                        <a:t>[1.0e-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4,</a:t>
                      </a:r>
                      <a:r>
                        <a:rPr dirty="0" sz="8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6.0e-4]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/>
                </a:tc>
              </a:tr>
              <a:tr h="165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baseline="6944" sz="1200" spc="127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600" spc="85">
                          <a:latin typeface="Times New Roman"/>
                          <a:cs typeface="Times New Roman"/>
                        </a:rPr>
                        <a:t>max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45.72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20">
                          <a:latin typeface="Arial"/>
                          <a:cs typeface="Arial"/>
                        </a:rPr>
                        <a:t>9.15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 spc="-10">
                          <a:latin typeface="Arial"/>
                          <a:cs typeface="Arial"/>
                        </a:rPr>
                        <a:t>20.0%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00">
                          <a:latin typeface="Arial"/>
                          <a:cs typeface="Arial"/>
                        </a:rPr>
                        <a:t>[26.23,</a:t>
                      </a:r>
                      <a:r>
                        <a:rPr dirty="0" sz="8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65.22]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448424" y="1877752"/>
            <a:ext cx="4991735" cy="74676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63830" indent="-125730">
              <a:lnSpc>
                <a:spcPct val="100000"/>
              </a:lnSpc>
              <a:spcBef>
                <a:spcPts val="3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20">
                <a:latin typeface="Arial"/>
                <a:cs typeface="Arial"/>
              </a:rPr>
              <a:t>Fixed:</a:t>
            </a:r>
            <a:r>
              <a:rPr dirty="0" sz="1000" spc="110">
                <a:latin typeface="Arial"/>
                <a:cs typeface="Arial"/>
              </a:rPr>
              <a:t> </a:t>
            </a:r>
            <a:r>
              <a:rPr dirty="0" sz="1000" spc="90" i="1">
                <a:latin typeface="Times New Roman"/>
                <a:cs typeface="Times New Roman"/>
              </a:rPr>
              <a:t>T</a:t>
            </a:r>
            <a:r>
              <a:rPr dirty="0" baseline="-11904" sz="1050" spc="135">
                <a:latin typeface="Times New Roman"/>
                <a:cs typeface="Times New Roman"/>
              </a:rPr>
              <a:t>min</a:t>
            </a:r>
            <a:r>
              <a:rPr dirty="0" baseline="-11904" sz="1050" spc="187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6</a:t>
            </a:r>
            <a:r>
              <a:rPr dirty="0" sz="1000" spc="-85">
                <a:latin typeface="Times New Roman"/>
                <a:cs typeface="Times New Roman"/>
              </a:rPr>
              <a:t> </a:t>
            </a:r>
            <a:r>
              <a:rPr dirty="0" baseline="27777" sz="1050" i="1">
                <a:latin typeface="JetBrainsMono Nerd Font ExtraLight"/>
                <a:cs typeface="JetBrainsMono Nerd Font ExtraLight"/>
              </a:rPr>
              <a:t>◦</a:t>
            </a:r>
            <a:r>
              <a:rPr dirty="0" sz="1000">
                <a:latin typeface="Arial"/>
                <a:cs typeface="Arial"/>
              </a:rPr>
              <a:t>C,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b</a:t>
            </a:r>
            <a:r>
              <a:rPr dirty="0" sz="1000" spc="5" i="1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>
                <a:latin typeface="Times New Roman"/>
                <a:cs typeface="Times New Roman"/>
              </a:rPr>
              <a:t> 0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275</a:t>
            </a:r>
            <a:r>
              <a:rPr dirty="0" sz="1000" spc="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Arial"/>
                <a:cs typeface="Arial"/>
              </a:rPr>
              <a:t>(literature)</a:t>
            </a:r>
            <a:endParaRPr sz="1000">
              <a:latin typeface="Arial"/>
              <a:cs typeface="Arial"/>
            </a:endParaRPr>
          </a:p>
          <a:p>
            <a:pPr marL="163830" indent="-125730">
              <a:lnSpc>
                <a:spcPct val="100000"/>
              </a:lnSpc>
              <a:spcBef>
                <a:spcPts val="2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  <a:tab pos="1436370" algn="l"/>
              </a:tabLst>
            </a:pPr>
            <a:r>
              <a:rPr dirty="0" sz="1000">
                <a:latin typeface="Arial"/>
                <a:cs typeface="Arial"/>
              </a:rPr>
              <a:t>cond</a:t>
            </a:r>
            <a:r>
              <a:rPr dirty="0" sz="1000">
                <a:latin typeface="Times New Roman"/>
                <a:cs typeface="Times New Roman"/>
              </a:rPr>
              <a:t>(J)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3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14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170" i="1">
                <a:latin typeface="JetBrainsMono Nerd Font ExtraLight"/>
                <a:cs typeface="JetBrainsMono Nerd Font ExtraLight"/>
              </a:rPr>
              <a:t>×</a:t>
            </a:r>
            <a:r>
              <a:rPr dirty="0" sz="1000" spc="-375" i="1">
                <a:latin typeface="JetBrainsMono Nerd Font ExtraLight"/>
                <a:cs typeface="JetBrainsMono Nerd Font ExtraLight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10</a:t>
            </a:r>
            <a:r>
              <a:rPr dirty="0" baseline="27777" sz="1050" spc="-37">
                <a:latin typeface="Times New Roman"/>
                <a:cs typeface="Times New Roman"/>
              </a:rPr>
              <a:t>5</a:t>
            </a:r>
            <a:r>
              <a:rPr dirty="0" baseline="27777" sz="1050">
                <a:latin typeface="Times New Roman"/>
                <a:cs typeface="Times New Roman"/>
              </a:rPr>
              <a:t>	</a:t>
            </a:r>
            <a:r>
              <a:rPr dirty="0" sz="1000" spc="-45">
                <a:latin typeface="Arial"/>
                <a:cs typeface="Arial"/>
              </a:rPr>
              <a:t>RMSE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0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232</a:t>
            </a:r>
            <a:r>
              <a:rPr dirty="0" sz="1000" spc="225">
                <a:latin typeface="Times New Roman"/>
                <a:cs typeface="Times New Roman"/>
              </a:rPr>
              <a:t>  </a:t>
            </a:r>
            <a:r>
              <a:rPr dirty="0" sz="1000" spc="-35">
                <a:latin typeface="Arial"/>
                <a:cs typeface="Arial"/>
              </a:rPr>
              <a:t>relRMSE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3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84%</a:t>
            </a:r>
            <a:r>
              <a:rPr dirty="0" sz="1000" spc="225">
                <a:latin typeface="Times New Roman"/>
                <a:cs typeface="Times New Roman"/>
              </a:rPr>
              <a:t>  </a:t>
            </a:r>
            <a:r>
              <a:rPr dirty="0" sz="1000" spc="75" i="1">
                <a:latin typeface="Times New Roman"/>
                <a:cs typeface="Times New Roman"/>
              </a:rPr>
              <a:t>R</a:t>
            </a:r>
            <a:r>
              <a:rPr dirty="0" baseline="27777" sz="1050" spc="112">
                <a:latin typeface="Times New Roman"/>
                <a:cs typeface="Times New Roman"/>
              </a:rPr>
              <a:t>2</a:t>
            </a:r>
            <a:r>
              <a:rPr dirty="0" baseline="27777" sz="1050" spc="209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0</a:t>
            </a:r>
            <a:r>
              <a:rPr dirty="0" sz="1000" spc="-10" i="1">
                <a:latin typeface="Arial"/>
                <a:cs typeface="Arial"/>
              </a:rPr>
              <a:t>.</a:t>
            </a:r>
            <a:r>
              <a:rPr dirty="0" sz="1000" spc="-10">
                <a:latin typeface="Times New Roman"/>
                <a:cs typeface="Times New Roman"/>
              </a:rPr>
              <a:t>989</a:t>
            </a:r>
            <a:endParaRPr sz="1000">
              <a:latin typeface="Times New Roman"/>
              <a:cs typeface="Times New Roman"/>
            </a:endParaRPr>
          </a:p>
          <a:p>
            <a:pPr marL="163830" indent="-125730">
              <a:lnSpc>
                <a:spcPts val="1200"/>
              </a:lnSpc>
              <a:spcBef>
                <a:spcPts val="290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35">
                <a:latin typeface="Arial"/>
                <a:cs typeface="Arial"/>
              </a:rPr>
              <a:t>Correlations:</a:t>
            </a:r>
            <a:r>
              <a:rPr dirty="0" sz="1000" spc="260">
                <a:latin typeface="Arial"/>
                <a:cs typeface="Arial"/>
              </a:rPr>
              <a:t> </a:t>
            </a:r>
            <a:r>
              <a:rPr dirty="0" sz="1000" spc="50" i="1">
                <a:latin typeface="Times New Roman"/>
                <a:cs typeface="Times New Roman"/>
              </a:rPr>
              <a:t>R</a:t>
            </a:r>
            <a:r>
              <a:rPr dirty="0" sz="1000" spc="50">
                <a:latin typeface="Times New Roman"/>
                <a:cs typeface="Times New Roman"/>
              </a:rPr>
              <a:t>(</a:t>
            </a:r>
            <a:r>
              <a:rPr dirty="0" sz="1000" spc="50" i="1">
                <a:latin typeface="Times New Roman"/>
                <a:cs typeface="Times New Roman"/>
              </a:rPr>
              <a:t>C</a:t>
            </a:r>
            <a:r>
              <a:rPr dirty="0" sz="1000" spc="50" i="1">
                <a:latin typeface="Arial"/>
                <a:cs typeface="Arial"/>
              </a:rPr>
              <a:t>,</a:t>
            </a:r>
            <a:r>
              <a:rPr dirty="0" sz="1000" spc="-80" i="1">
                <a:latin typeface="Arial"/>
                <a:cs typeface="Arial"/>
              </a:rPr>
              <a:t> </a:t>
            </a:r>
            <a:r>
              <a:rPr dirty="0" sz="1000" spc="100" i="1">
                <a:latin typeface="Times New Roman"/>
                <a:cs typeface="Times New Roman"/>
              </a:rPr>
              <a:t>T</a:t>
            </a:r>
            <a:r>
              <a:rPr dirty="0" baseline="-11904" sz="1050" spc="150">
                <a:latin typeface="Times New Roman"/>
                <a:cs typeface="Times New Roman"/>
              </a:rPr>
              <a:t>max</a:t>
            </a:r>
            <a:r>
              <a:rPr dirty="0" sz="1000" spc="100">
                <a:latin typeface="Times New Roman"/>
                <a:cs typeface="Times New Roman"/>
              </a:rPr>
              <a:t>)</a:t>
            </a:r>
            <a:r>
              <a:rPr dirty="0" sz="1000" spc="-110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-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0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98</a:t>
            </a:r>
            <a:r>
              <a:rPr dirty="0" sz="1000">
                <a:latin typeface="Arial"/>
                <a:cs typeface="Arial"/>
              </a:rPr>
              <a:t>,</a:t>
            </a:r>
            <a:r>
              <a:rPr dirty="0" sz="1000" spc="125">
                <a:latin typeface="Arial"/>
                <a:cs typeface="Arial"/>
              </a:rPr>
              <a:t> </a:t>
            </a:r>
            <a:r>
              <a:rPr dirty="0" sz="1000" spc="50" i="1">
                <a:latin typeface="Times New Roman"/>
                <a:cs typeface="Times New Roman"/>
              </a:rPr>
              <a:t>R</a:t>
            </a:r>
            <a:r>
              <a:rPr dirty="0" sz="1000" spc="50">
                <a:latin typeface="Times New Roman"/>
                <a:cs typeface="Times New Roman"/>
              </a:rPr>
              <a:t>(</a:t>
            </a:r>
            <a:r>
              <a:rPr dirty="0" sz="1000" spc="50" i="1">
                <a:latin typeface="Times New Roman"/>
                <a:cs typeface="Times New Roman"/>
              </a:rPr>
              <a:t>C</a:t>
            </a:r>
            <a:r>
              <a:rPr dirty="0" sz="1000" spc="50" i="1">
                <a:latin typeface="Arial"/>
                <a:cs typeface="Arial"/>
              </a:rPr>
              <a:t>,</a:t>
            </a:r>
            <a:r>
              <a:rPr dirty="0" sz="1000" spc="-75" i="1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a</a:t>
            </a:r>
            <a:r>
              <a:rPr dirty="0" sz="1000">
                <a:latin typeface="Times New Roman"/>
                <a:cs typeface="Times New Roman"/>
              </a:rPr>
              <a:t>)</a:t>
            </a:r>
            <a:r>
              <a:rPr dirty="0" sz="1000" spc="-114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-110">
                <a:latin typeface="Times New Roman"/>
                <a:cs typeface="Times New Roman"/>
              </a:rPr>
              <a:t> </a:t>
            </a:r>
            <a:r>
              <a:rPr dirty="0" sz="1000" i="1">
                <a:latin typeface="JetBrainsMono Nerd Font ExtraLight"/>
                <a:cs typeface="JetBrainsMono Nerd Font ExtraLight"/>
              </a:rPr>
              <a:t>−</a:t>
            </a:r>
            <a:r>
              <a:rPr dirty="0" sz="1000">
                <a:latin typeface="Times New Roman"/>
                <a:cs typeface="Times New Roman"/>
              </a:rPr>
              <a:t>0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97</a:t>
            </a:r>
            <a:r>
              <a:rPr dirty="0" sz="1000">
                <a:latin typeface="Arial"/>
                <a:cs typeface="Arial"/>
              </a:rPr>
              <a:t>,</a:t>
            </a:r>
            <a:r>
              <a:rPr dirty="0" sz="1000" spc="120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R</a:t>
            </a:r>
            <a:r>
              <a:rPr dirty="0" sz="1000">
                <a:latin typeface="Times New Roman"/>
                <a:cs typeface="Times New Roman"/>
              </a:rPr>
              <a:t>(</a:t>
            </a:r>
            <a:r>
              <a:rPr dirty="0" sz="1000" i="1">
                <a:latin typeface="Times New Roman"/>
                <a:cs typeface="Times New Roman"/>
              </a:rPr>
              <a:t>a</a:t>
            </a:r>
            <a:r>
              <a:rPr dirty="0" sz="1000" i="1">
                <a:latin typeface="Arial"/>
                <a:cs typeface="Arial"/>
              </a:rPr>
              <a:t>,</a:t>
            </a:r>
            <a:r>
              <a:rPr dirty="0" sz="1000" spc="-75" i="1">
                <a:latin typeface="Arial"/>
                <a:cs typeface="Arial"/>
              </a:rPr>
              <a:t> </a:t>
            </a:r>
            <a:r>
              <a:rPr dirty="0" sz="1000" spc="100" i="1">
                <a:latin typeface="Times New Roman"/>
                <a:cs typeface="Times New Roman"/>
              </a:rPr>
              <a:t>T</a:t>
            </a:r>
            <a:r>
              <a:rPr dirty="0" baseline="-11904" sz="1050" spc="150">
                <a:latin typeface="Times New Roman"/>
                <a:cs typeface="Times New Roman"/>
              </a:rPr>
              <a:t>max</a:t>
            </a:r>
            <a:r>
              <a:rPr dirty="0" sz="1000" spc="100">
                <a:latin typeface="Times New Roman"/>
                <a:cs typeface="Times New Roman"/>
              </a:rPr>
              <a:t>)</a:t>
            </a:r>
            <a:r>
              <a:rPr dirty="0" sz="1000" spc="-114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-110">
                <a:latin typeface="Times New Roman"/>
                <a:cs typeface="Times New Roman"/>
              </a:rPr>
              <a:t> </a:t>
            </a:r>
            <a:r>
              <a:rPr dirty="0" sz="1000" i="1">
                <a:latin typeface="JetBrainsMono Nerd Font ExtraLight"/>
                <a:cs typeface="JetBrainsMono Nerd Font ExtraLight"/>
              </a:rPr>
              <a:t>−</a:t>
            </a:r>
            <a:r>
              <a:rPr dirty="0" sz="1000">
                <a:latin typeface="Times New Roman"/>
                <a:cs typeface="Times New Roman"/>
              </a:rPr>
              <a:t>0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94</a:t>
            </a:r>
            <a:r>
              <a:rPr dirty="0" sz="1000">
                <a:latin typeface="Arial"/>
                <a:cs typeface="Arial"/>
              </a:rPr>
              <a:t>,</a:t>
            </a:r>
            <a:r>
              <a:rPr dirty="0" sz="1000" spc="125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R</a:t>
            </a:r>
            <a:r>
              <a:rPr dirty="0" sz="1000">
                <a:latin typeface="Times New Roman"/>
                <a:cs typeface="Times New Roman"/>
              </a:rPr>
              <a:t>(</a:t>
            </a:r>
            <a:r>
              <a:rPr dirty="0" sz="1000" i="1">
                <a:latin typeface="Times New Roman"/>
                <a:cs typeface="Times New Roman"/>
              </a:rPr>
              <a:t>C</a:t>
            </a:r>
            <a:r>
              <a:rPr dirty="0" sz="1000" i="1">
                <a:latin typeface="Arial"/>
                <a:cs typeface="Arial"/>
              </a:rPr>
              <a:t>,</a:t>
            </a:r>
            <a:r>
              <a:rPr dirty="0" sz="1000" spc="-80" i="1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M</a:t>
            </a:r>
            <a:r>
              <a:rPr dirty="0" sz="1000">
                <a:latin typeface="Times New Roman"/>
                <a:cs typeface="Times New Roman"/>
              </a:rPr>
              <a:t>)</a:t>
            </a:r>
            <a:r>
              <a:rPr dirty="0" sz="1000" spc="-110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-114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0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92</a:t>
            </a:r>
            <a:r>
              <a:rPr dirty="0" sz="1000" spc="15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STXihei"/>
                <a:cs typeface="STXihei"/>
              </a:rPr>
              <a:t>—</a:t>
            </a:r>
            <a:endParaRPr sz="1000">
              <a:latin typeface="STXihei"/>
              <a:cs typeface="STXihei"/>
            </a:endParaRPr>
          </a:p>
          <a:p>
            <a:pPr marL="164465">
              <a:lnSpc>
                <a:spcPts val="1200"/>
              </a:lnSpc>
            </a:pPr>
            <a:r>
              <a:rPr dirty="0" sz="1000">
                <a:latin typeface="Arial"/>
                <a:cs typeface="Arial"/>
              </a:rPr>
              <a:t>all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40">
                <a:latin typeface="Arial"/>
                <a:cs typeface="Arial"/>
              </a:rPr>
              <a:t>95%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CI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45">
                <a:latin typeface="Arial"/>
                <a:cs typeface="Arial"/>
              </a:rPr>
              <a:t>exclude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zero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12" name="object 12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38" y="0"/>
                  </a:moveTo>
                  <a:lnTo>
                    <a:pt x="2016036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36" y="91287"/>
                  </a:lnTo>
                  <a:lnTo>
                    <a:pt x="3456038" y="91287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456038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Fitted</a:t>
            </a:r>
            <a:r>
              <a:rPr dirty="0" spc="5"/>
              <a:t> </a:t>
            </a:r>
            <a:r>
              <a:rPr dirty="0" spc="-60"/>
              <a:t>Curve</a:t>
            </a:r>
            <a:r>
              <a:rPr dirty="0" spc="10"/>
              <a:t> </a:t>
            </a:r>
            <a:r>
              <a:rPr dirty="0"/>
              <a:t>with</a:t>
            </a:r>
            <a:r>
              <a:rPr dirty="0" spc="10"/>
              <a:t> </a:t>
            </a:r>
            <a:r>
              <a:rPr dirty="0" spc="-20"/>
              <a:t>Asymptotic</a:t>
            </a:r>
            <a:r>
              <a:rPr dirty="0" spc="5"/>
              <a:t> </a:t>
            </a:r>
            <a:r>
              <a:rPr dirty="0"/>
              <a:t>CB</a:t>
            </a:r>
            <a:r>
              <a:rPr dirty="0" spc="10"/>
              <a:t> </a:t>
            </a:r>
            <a:r>
              <a:rPr dirty="0" spc="-30"/>
              <a:t>and</a:t>
            </a:r>
            <a:r>
              <a:rPr dirty="0" spc="10"/>
              <a:t> </a:t>
            </a:r>
            <a:r>
              <a:rPr dirty="0" spc="-25"/>
              <a:t>PB</a:t>
            </a:r>
          </a:p>
        </p:txBody>
      </p:sp>
      <p:pic>
        <p:nvPicPr>
          <p:cNvPr id="9" name="object 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42009" y="655280"/>
            <a:ext cx="3275977" cy="197035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87577" y="2685054"/>
            <a:ext cx="438531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Arial"/>
                <a:cs typeface="Arial"/>
              </a:rPr>
              <a:t>Fig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6.</a:t>
            </a:r>
            <a:r>
              <a:rPr dirty="0" sz="900" spc="114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OLS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fit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with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95%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simultaneous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confidence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bands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(CB)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and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prediction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bands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(PB)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12" name="object 12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38" y="0"/>
                  </a:moveTo>
                  <a:lnTo>
                    <a:pt x="2016036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36" y="91287"/>
                  </a:lnTo>
                  <a:lnTo>
                    <a:pt x="3456038" y="91287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456038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pc="-70"/>
              <a:t>Residual</a:t>
            </a:r>
            <a:r>
              <a:rPr dirty="0" spc="-20"/>
              <a:t> </a:t>
            </a:r>
            <a:r>
              <a:rPr dirty="0" spc="-60"/>
              <a:t>Analysis</a:t>
            </a:r>
          </a:p>
        </p:txBody>
      </p:sp>
      <p:pic>
        <p:nvPicPr>
          <p:cNvPr id="9" name="object 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08470" y="925731"/>
            <a:ext cx="2124215" cy="13691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47294" y="2300557"/>
            <a:ext cx="2133600" cy="54546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614045">
              <a:lnSpc>
                <a:spcPct val="100000"/>
              </a:lnSpc>
              <a:spcBef>
                <a:spcPts val="520"/>
              </a:spcBef>
            </a:pPr>
            <a:r>
              <a:rPr dirty="0" sz="900">
                <a:latin typeface="Arial"/>
                <a:cs typeface="Arial"/>
              </a:rPr>
              <a:t>Fig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7.</a:t>
            </a:r>
            <a:r>
              <a:rPr dirty="0" sz="900" spc="10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Residual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scatter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00" b="1">
                <a:latin typeface="Arial"/>
                <a:cs typeface="Arial"/>
              </a:rPr>
              <a:t>5</a:t>
            </a:r>
            <a:r>
              <a:rPr dirty="0" sz="900" spc="10" b="1">
                <a:latin typeface="Arial"/>
                <a:cs typeface="Arial"/>
              </a:rPr>
              <a:t> </a:t>
            </a:r>
            <a:r>
              <a:rPr dirty="0" sz="900" spc="-45" b="1">
                <a:latin typeface="Arial"/>
                <a:cs typeface="Arial"/>
              </a:rPr>
              <a:t>Assumptions</a:t>
            </a:r>
            <a:r>
              <a:rPr dirty="0" sz="900" spc="-45">
                <a:latin typeface="Arial"/>
                <a:cs typeface="Arial"/>
              </a:rPr>
              <a:t>:</a:t>
            </a:r>
            <a:r>
              <a:rPr dirty="0" sz="900" spc="130">
                <a:latin typeface="Arial"/>
                <a:cs typeface="Arial"/>
              </a:rPr>
              <a:t> </a:t>
            </a:r>
            <a:r>
              <a:rPr dirty="0" sz="900" spc="55">
                <a:latin typeface="Lucida Grande"/>
                <a:cs typeface="Lucida Grande"/>
              </a:rPr>
              <a:t>✓</a:t>
            </a:r>
            <a:r>
              <a:rPr dirty="0" sz="900">
                <a:latin typeface="Lucida Grande"/>
                <a:cs typeface="Lucida Grande"/>
              </a:rPr>
              <a:t> </a:t>
            </a:r>
            <a:r>
              <a:rPr dirty="0" sz="900" spc="-10">
                <a:latin typeface="Arial"/>
                <a:cs typeface="Arial"/>
              </a:rPr>
              <a:t>Zero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mean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135">
                <a:latin typeface="Arial"/>
                <a:cs typeface="Arial"/>
              </a:rPr>
              <a:t>(</a:t>
            </a:r>
            <a:r>
              <a:rPr dirty="0" sz="900" spc="-135">
                <a:latin typeface="Times New Roman"/>
                <a:cs typeface="Times New Roman"/>
              </a:rPr>
              <a:t>¯</a:t>
            </a:r>
            <a:r>
              <a:rPr dirty="0" sz="900" spc="-135" i="1">
                <a:latin typeface="Times New Roman"/>
                <a:cs typeface="Times New Roman"/>
              </a:rPr>
              <a:t>e</a:t>
            </a:r>
            <a:r>
              <a:rPr dirty="0" sz="900" spc="30" i="1">
                <a:latin typeface="Times New Roman"/>
                <a:cs typeface="Times New Roman"/>
              </a:rPr>
              <a:t> </a:t>
            </a:r>
            <a:r>
              <a:rPr dirty="0" sz="900" spc="175" i="1">
                <a:latin typeface="JetBrainsMono Nerd Font ExtraLight"/>
                <a:cs typeface="JetBrainsMono Nerd Font ExtraLight"/>
              </a:rPr>
              <a:t>≈</a:t>
            </a:r>
            <a:r>
              <a:rPr dirty="0" sz="900" spc="-285" i="1">
                <a:latin typeface="JetBrainsMono Nerd Font ExtraLight"/>
                <a:cs typeface="JetBrainsMono Nerd Font ExtraLight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0</a:t>
            </a:r>
            <a:r>
              <a:rPr dirty="0" sz="900" spc="-10" i="1">
                <a:latin typeface="Times New Roman"/>
                <a:cs typeface="Times New Roman"/>
              </a:rPr>
              <a:t>.</a:t>
            </a:r>
            <a:r>
              <a:rPr dirty="0" sz="900" spc="-10">
                <a:latin typeface="Times New Roman"/>
                <a:cs typeface="Times New Roman"/>
              </a:rPr>
              <a:t>000</a:t>
            </a:r>
            <a:r>
              <a:rPr dirty="0" sz="900" spc="-1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15"/>
              </a:spcBef>
              <a:buFont typeface="Lucida Grande"/>
              <a:buChar char="✓"/>
              <a:tabLst>
                <a:tab pos="146050" algn="l"/>
              </a:tabLst>
            </a:pPr>
            <a:r>
              <a:rPr dirty="0" sz="900">
                <a:latin typeface="Arial"/>
                <a:cs typeface="Arial"/>
              </a:rPr>
              <a:t>Normality</a:t>
            </a:r>
            <a:r>
              <a:rPr dirty="0" sz="900" spc="140">
                <a:latin typeface="Arial"/>
                <a:cs typeface="Arial"/>
              </a:rPr>
              <a:t>  </a:t>
            </a:r>
            <a:r>
              <a:rPr dirty="0" sz="900" spc="55">
                <a:latin typeface="Lucida Grande"/>
                <a:cs typeface="Lucida Grande"/>
              </a:rPr>
              <a:t>✓</a:t>
            </a:r>
            <a:r>
              <a:rPr dirty="0" sz="900" spc="-20">
                <a:latin typeface="Lucida Grande"/>
                <a:cs typeface="Lucida Grande"/>
              </a:rPr>
              <a:t> </a:t>
            </a:r>
            <a:r>
              <a:rPr dirty="0" sz="900" spc="-10">
                <a:latin typeface="Arial"/>
                <a:cs typeface="Arial"/>
              </a:rPr>
              <a:t>Correct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model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033610" y="839882"/>
            <a:ext cx="2419184" cy="145503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69311" y="2300557"/>
            <a:ext cx="2840355" cy="4064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042669">
              <a:lnSpc>
                <a:spcPct val="100000"/>
              </a:lnSpc>
              <a:spcBef>
                <a:spcPts val="520"/>
              </a:spcBef>
            </a:pPr>
            <a:r>
              <a:rPr dirty="0" sz="900">
                <a:latin typeface="Arial"/>
                <a:cs typeface="Arial"/>
              </a:rPr>
              <a:t>Fig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8.</a:t>
            </a:r>
            <a:r>
              <a:rPr dirty="0" sz="900" spc="11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Residual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histogram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900" spc="275" i="1">
                <a:latin typeface="JetBrainsMono Nerd Font ExtraLight"/>
                <a:cs typeface="JetBrainsMono Nerd Font ExtraLight"/>
              </a:rPr>
              <a:t>△</a:t>
            </a:r>
            <a:r>
              <a:rPr dirty="0" sz="900" spc="-235" i="1">
                <a:latin typeface="JetBrainsMono Nerd Font ExtraLight"/>
                <a:cs typeface="JetBrainsMono Nerd Font ExtraLight"/>
              </a:rPr>
              <a:t> </a:t>
            </a:r>
            <a:r>
              <a:rPr dirty="0" sz="900" spc="-10">
                <a:latin typeface="Arial"/>
                <a:cs typeface="Arial"/>
              </a:rPr>
              <a:t>Constant</a:t>
            </a:r>
            <a:r>
              <a:rPr dirty="0" sz="900" spc="-5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variance</a:t>
            </a:r>
            <a:r>
              <a:rPr dirty="0" sz="900" spc="125">
                <a:latin typeface="Arial"/>
                <a:cs typeface="Arial"/>
              </a:rPr>
              <a:t>  </a:t>
            </a:r>
            <a:r>
              <a:rPr dirty="0" sz="900" spc="275" i="1">
                <a:latin typeface="JetBrainsMono Nerd Font ExtraLight"/>
                <a:cs typeface="JetBrainsMono Nerd Font ExtraLight"/>
              </a:rPr>
              <a:t>△</a:t>
            </a:r>
            <a:r>
              <a:rPr dirty="0" sz="900" spc="-235" i="1">
                <a:latin typeface="JetBrainsMono Nerd Font ExtraLight"/>
                <a:cs typeface="JetBrainsMono Nerd Font ExtraLight"/>
              </a:rPr>
              <a:t> </a:t>
            </a:r>
            <a:r>
              <a:rPr dirty="0" sz="900" spc="-25">
                <a:latin typeface="Arial"/>
                <a:cs typeface="Arial"/>
              </a:rPr>
              <a:t>Uncorrelated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(runs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195">
                <a:latin typeface="Times New Roman"/>
                <a:cs typeface="Times New Roman"/>
              </a:rPr>
              <a:t>=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6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95" i="1">
                <a:latin typeface="Times New Roman"/>
                <a:cs typeface="Times New Roman"/>
              </a:rPr>
              <a:t>&lt;</a:t>
            </a:r>
            <a:r>
              <a:rPr dirty="0" sz="900" spc="-5" i="1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10</a:t>
            </a:r>
            <a:r>
              <a:rPr dirty="0" sz="900" spc="-20" i="1">
                <a:latin typeface="Times New Roman"/>
                <a:cs typeface="Times New Roman"/>
              </a:rPr>
              <a:t>.</a:t>
            </a:r>
            <a:r>
              <a:rPr dirty="0" sz="900" spc="-20">
                <a:latin typeface="Times New Roman"/>
                <a:cs typeface="Times New Roman"/>
              </a:rPr>
              <a:t>5</a:t>
            </a:r>
            <a:r>
              <a:rPr dirty="0" sz="900" spc="-2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14" name="object 14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25" y="0"/>
                  </a:moveTo>
                  <a:lnTo>
                    <a:pt x="2016023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23" y="91287"/>
                  </a:lnTo>
                  <a:lnTo>
                    <a:pt x="3456025" y="91287"/>
                  </a:lnTo>
                  <a:lnTo>
                    <a:pt x="3456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456025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6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6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6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6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6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12267" y="209928"/>
            <a:ext cx="353504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35"/>
              <a:t>SSC</a:t>
            </a:r>
            <a:r>
              <a:rPr dirty="0" spc="40"/>
              <a:t> </a:t>
            </a:r>
            <a:r>
              <a:rPr dirty="0" spc="-85"/>
              <a:t>Convergence</a:t>
            </a:r>
            <a:r>
              <a:rPr dirty="0" spc="45"/>
              <a:t> </a:t>
            </a:r>
            <a:r>
              <a:rPr dirty="0">
                <a:latin typeface="STXihei"/>
                <a:cs typeface="STXihei"/>
              </a:rPr>
              <a:t>—</a:t>
            </a:r>
            <a:r>
              <a:rPr dirty="0" spc="-45"/>
              <a:t>Before</a:t>
            </a:r>
            <a:r>
              <a:rPr dirty="0" spc="40"/>
              <a:t> </a:t>
            </a:r>
            <a:r>
              <a:rPr dirty="0" spc="120"/>
              <a:t>&amp;</a:t>
            </a:r>
            <a:r>
              <a:rPr dirty="0" spc="45"/>
              <a:t> </a:t>
            </a:r>
            <a:r>
              <a:rPr dirty="0"/>
              <a:t>After</a:t>
            </a:r>
            <a:r>
              <a:rPr dirty="0" spc="40"/>
              <a:t> </a:t>
            </a:r>
            <a:r>
              <a:rPr dirty="0" spc="-10"/>
              <a:t>Estimation</a:t>
            </a:r>
          </a:p>
        </p:txBody>
      </p:sp>
      <p:pic>
        <p:nvPicPr>
          <p:cNvPr id="9" name="object 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50565" y="797118"/>
            <a:ext cx="2104135" cy="13123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82967" y="2194143"/>
            <a:ext cx="106807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Arial"/>
                <a:cs typeface="Arial"/>
              </a:rPr>
              <a:t>Fig</a:t>
            </a:r>
            <a:r>
              <a:rPr dirty="0" sz="700" spc="6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9a.</a:t>
            </a:r>
            <a:r>
              <a:rPr dirty="0" sz="700" spc="165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SSC</a:t>
            </a:r>
            <a:r>
              <a:rPr dirty="0" sz="700" spc="6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(initial</a:t>
            </a:r>
            <a:r>
              <a:rPr dirty="0" sz="700" spc="65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guess)</a:t>
            </a:r>
            <a:endParaRPr sz="7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130372" y="770791"/>
            <a:ext cx="2225645" cy="133862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743680" y="2194143"/>
            <a:ext cx="99949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Arial"/>
                <a:cs typeface="Arial"/>
              </a:rPr>
              <a:t>Fig</a:t>
            </a:r>
            <a:r>
              <a:rPr dirty="0" sz="700" spc="4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9b.</a:t>
            </a:r>
            <a:r>
              <a:rPr dirty="0" sz="700" spc="130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SSC</a:t>
            </a:r>
            <a:r>
              <a:rPr dirty="0" sz="700" spc="4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(after</a:t>
            </a:r>
            <a:r>
              <a:rPr dirty="0" sz="700" spc="45">
                <a:latin typeface="Arial"/>
                <a:cs typeface="Arial"/>
              </a:rPr>
              <a:t> </a:t>
            </a:r>
            <a:r>
              <a:rPr dirty="0" sz="700" spc="-20">
                <a:latin typeface="Arial"/>
                <a:cs typeface="Arial"/>
              </a:rPr>
              <a:t>OLS)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9193" y="2490304"/>
            <a:ext cx="5142230" cy="422275"/>
            <a:chOff x="309193" y="2490304"/>
            <a:chExt cx="5142230" cy="422275"/>
          </a:xfrm>
        </p:grpSpPr>
        <p:sp>
          <p:nvSpPr>
            <p:cNvPr id="14" name="object 14"/>
            <p:cNvSpPr/>
            <p:nvPr/>
          </p:nvSpPr>
          <p:spPr>
            <a:xfrm>
              <a:off x="309193" y="2490304"/>
              <a:ext cx="5142230" cy="152400"/>
            </a:xfrm>
            <a:custGeom>
              <a:avLst/>
              <a:gdLst/>
              <a:ahLst/>
              <a:cxnLst/>
              <a:rect l="l" t="t" r="r" b="b"/>
              <a:pathLst>
                <a:path w="5142230" h="15240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51974"/>
                  </a:lnTo>
                  <a:lnTo>
                    <a:pt x="5141666" y="151974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002F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9193" y="2629623"/>
              <a:ext cx="5141666" cy="5060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9193" y="2673908"/>
              <a:ext cx="5142230" cy="238760"/>
            </a:xfrm>
            <a:custGeom>
              <a:avLst/>
              <a:gdLst/>
              <a:ahLst/>
              <a:cxnLst/>
              <a:rect l="l" t="t" r="r" b="b"/>
              <a:pathLst>
                <a:path w="5142230" h="238760">
                  <a:moveTo>
                    <a:pt x="5141666" y="0"/>
                  </a:moveTo>
                  <a:lnTo>
                    <a:pt x="0" y="0"/>
                  </a:lnTo>
                  <a:lnTo>
                    <a:pt x="0" y="187554"/>
                  </a:lnTo>
                  <a:lnTo>
                    <a:pt x="4008" y="207278"/>
                  </a:lnTo>
                  <a:lnTo>
                    <a:pt x="14922" y="223431"/>
                  </a:lnTo>
                  <a:lnTo>
                    <a:pt x="31075" y="234346"/>
                  </a:lnTo>
                  <a:lnTo>
                    <a:pt x="50800" y="238354"/>
                  </a:lnTo>
                  <a:lnTo>
                    <a:pt x="5090865" y="238354"/>
                  </a:lnTo>
                  <a:lnTo>
                    <a:pt x="5110590" y="234346"/>
                  </a:lnTo>
                  <a:lnTo>
                    <a:pt x="5126743" y="223431"/>
                  </a:lnTo>
                  <a:lnTo>
                    <a:pt x="5137657" y="207278"/>
                  </a:lnTo>
                  <a:lnTo>
                    <a:pt x="5141666" y="18755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5EA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09194" y="2493571"/>
            <a:ext cx="4792980" cy="403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FFFFFF"/>
                </a:solidFill>
                <a:latin typeface="Arial"/>
                <a:cs typeface="Arial"/>
              </a:rPr>
              <a:t>Double-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check</a:t>
            </a:r>
            <a:r>
              <a:rPr dirty="0" sz="7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(per</a:t>
            </a:r>
            <a:r>
              <a:rPr dirty="0" sz="7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Arial"/>
                <a:cs typeface="Arial"/>
              </a:rPr>
              <a:t>inv_soln5)</a:t>
            </a:r>
            <a:endParaRPr sz="700">
              <a:latin typeface="Arial"/>
              <a:cs typeface="Arial"/>
            </a:endParaRPr>
          </a:p>
          <a:p>
            <a:pPr marL="50800">
              <a:lnSpc>
                <a:spcPts val="770"/>
              </a:lnSpc>
              <a:spcBef>
                <a:spcPts val="605"/>
              </a:spcBef>
            </a:pPr>
            <a:r>
              <a:rPr dirty="0" baseline="7936" sz="1050" spc="135" i="1">
                <a:latin typeface="Times New Roman"/>
                <a:cs typeface="Times New Roman"/>
              </a:rPr>
              <a:t>A</a:t>
            </a:r>
            <a:r>
              <a:rPr dirty="0" baseline="7936" sz="1050" spc="135">
                <a:latin typeface="Arial"/>
                <a:cs typeface="Arial"/>
              </a:rPr>
              <a:t>,</a:t>
            </a:r>
            <a:r>
              <a:rPr dirty="0" baseline="7936" sz="1050" spc="89">
                <a:latin typeface="Arial"/>
                <a:cs typeface="Arial"/>
              </a:rPr>
              <a:t> </a:t>
            </a:r>
            <a:r>
              <a:rPr dirty="0" baseline="7936" sz="1050" spc="89" i="1">
                <a:latin typeface="Times New Roman"/>
                <a:cs typeface="Times New Roman"/>
              </a:rPr>
              <a:t>C</a:t>
            </a:r>
            <a:r>
              <a:rPr dirty="0" baseline="7936" sz="1050" spc="89">
                <a:latin typeface="Arial"/>
                <a:cs typeface="Arial"/>
              </a:rPr>
              <a:t>,</a:t>
            </a:r>
            <a:r>
              <a:rPr dirty="0" baseline="7936" sz="1050" spc="97">
                <a:latin typeface="Arial"/>
                <a:cs typeface="Arial"/>
              </a:rPr>
              <a:t> </a:t>
            </a:r>
            <a:r>
              <a:rPr dirty="0" baseline="7936" sz="1050" spc="97" i="1">
                <a:latin typeface="Times New Roman"/>
                <a:cs typeface="Times New Roman"/>
              </a:rPr>
              <a:t>M</a:t>
            </a:r>
            <a:r>
              <a:rPr dirty="0" baseline="7936" sz="1050" spc="97">
                <a:latin typeface="Arial"/>
                <a:cs typeface="Arial"/>
              </a:rPr>
              <a:t>:</a:t>
            </a:r>
            <a:r>
              <a:rPr dirty="0" baseline="7936" sz="1050" spc="232">
                <a:latin typeface="Arial"/>
                <a:cs typeface="Arial"/>
              </a:rPr>
              <a:t> </a:t>
            </a:r>
            <a:r>
              <a:rPr dirty="0" baseline="7936" sz="1050">
                <a:latin typeface="Arial"/>
                <a:cs typeface="Arial"/>
              </a:rPr>
              <a:t>stable.</a:t>
            </a:r>
            <a:r>
              <a:rPr dirty="0" baseline="7936" sz="1050" spc="89">
                <a:latin typeface="Arial"/>
                <a:cs typeface="Arial"/>
              </a:rPr>
              <a:t> </a:t>
            </a:r>
            <a:r>
              <a:rPr dirty="0" baseline="7936" sz="1050" spc="104" i="1">
                <a:latin typeface="Times New Roman"/>
                <a:cs typeface="Times New Roman"/>
              </a:rPr>
              <a:t>a</a:t>
            </a:r>
            <a:r>
              <a:rPr dirty="0" baseline="7936" sz="1050" spc="127" i="1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Arial"/>
                <a:cs typeface="Arial"/>
              </a:rPr>
              <a:t>and</a:t>
            </a:r>
            <a:r>
              <a:rPr dirty="0" baseline="7936" sz="1050" spc="97">
                <a:latin typeface="Arial"/>
                <a:cs typeface="Arial"/>
              </a:rPr>
              <a:t> </a:t>
            </a:r>
            <a:r>
              <a:rPr dirty="0" baseline="7936" sz="1050" spc="209" i="1">
                <a:latin typeface="Times New Roman"/>
                <a:cs typeface="Times New Roman"/>
              </a:rPr>
              <a:t>T</a:t>
            </a:r>
            <a:r>
              <a:rPr dirty="0" sz="500" spc="140">
                <a:latin typeface="Times New Roman"/>
                <a:cs typeface="Times New Roman"/>
              </a:rPr>
              <a:t>max</a:t>
            </a:r>
            <a:r>
              <a:rPr dirty="0" sz="500" spc="185">
                <a:latin typeface="Times New Roman"/>
                <a:cs typeface="Times New Roman"/>
              </a:rPr>
              <a:t> </a:t>
            </a:r>
            <a:r>
              <a:rPr dirty="0" baseline="7936" sz="1050" spc="-15">
                <a:latin typeface="Arial"/>
                <a:cs typeface="Arial"/>
              </a:rPr>
              <a:t>reduced</a:t>
            </a:r>
            <a:r>
              <a:rPr dirty="0" baseline="7936" sz="1050" spc="89">
                <a:latin typeface="Arial"/>
                <a:cs typeface="Arial"/>
              </a:rPr>
              <a:t> </a:t>
            </a:r>
            <a:r>
              <a:rPr dirty="0" baseline="7936" sz="1050" i="1">
                <a:latin typeface="JetBrainsMono Nerd Font ExtraLight"/>
                <a:cs typeface="JetBrainsMono Nerd Font ExtraLight"/>
              </a:rPr>
              <a:t>∼</a:t>
            </a:r>
            <a:r>
              <a:rPr dirty="0" baseline="7936" sz="1050">
                <a:latin typeface="Arial"/>
                <a:cs typeface="Arial"/>
              </a:rPr>
              <a:t>50%</a:t>
            </a:r>
            <a:r>
              <a:rPr dirty="0" baseline="7936" sz="1050" spc="97">
                <a:latin typeface="Arial"/>
                <a:cs typeface="Arial"/>
              </a:rPr>
              <a:t> </a:t>
            </a:r>
            <a:r>
              <a:rPr dirty="0" baseline="7936" sz="1050">
                <a:latin typeface="Arial"/>
                <a:cs typeface="Arial"/>
              </a:rPr>
              <a:t>(initial</a:t>
            </a:r>
            <a:r>
              <a:rPr dirty="0" baseline="7936" sz="1050" spc="97">
                <a:latin typeface="Arial"/>
                <a:cs typeface="Arial"/>
              </a:rPr>
              <a:t> </a:t>
            </a:r>
            <a:r>
              <a:rPr dirty="0" baseline="7936" sz="1050" spc="-52">
                <a:latin typeface="Arial"/>
                <a:cs typeface="Arial"/>
              </a:rPr>
              <a:t>guess</a:t>
            </a:r>
            <a:r>
              <a:rPr dirty="0" baseline="7936" sz="1050" spc="97">
                <a:latin typeface="Arial"/>
                <a:cs typeface="Arial"/>
              </a:rPr>
              <a:t> </a:t>
            </a:r>
            <a:r>
              <a:rPr dirty="0" baseline="7936" sz="1050">
                <a:latin typeface="Arial"/>
                <a:cs typeface="Arial"/>
              </a:rPr>
              <a:t>far</a:t>
            </a:r>
            <a:r>
              <a:rPr dirty="0" baseline="7936" sz="1050" spc="89">
                <a:latin typeface="Arial"/>
                <a:cs typeface="Arial"/>
              </a:rPr>
              <a:t> </a:t>
            </a:r>
            <a:r>
              <a:rPr dirty="0" baseline="7936" sz="1050">
                <a:latin typeface="Arial"/>
                <a:cs typeface="Arial"/>
              </a:rPr>
              <a:t>from</a:t>
            </a:r>
            <a:r>
              <a:rPr dirty="0" baseline="7936" sz="1050" spc="97">
                <a:latin typeface="Arial"/>
                <a:cs typeface="Arial"/>
              </a:rPr>
              <a:t> </a:t>
            </a:r>
            <a:r>
              <a:rPr dirty="0" baseline="7936" sz="1050">
                <a:latin typeface="Arial"/>
                <a:cs typeface="Arial"/>
              </a:rPr>
              <a:t>estimate),</a:t>
            </a:r>
            <a:r>
              <a:rPr dirty="0" baseline="7936" sz="1050" spc="97">
                <a:latin typeface="Arial"/>
                <a:cs typeface="Arial"/>
              </a:rPr>
              <a:t> </a:t>
            </a:r>
            <a:r>
              <a:rPr dirty="0" baseline="7936" sz="1050">
                <a:latin typeface="Arial"/>
                <a:cs typeface="Arial"/>
              </a:rPr>
              <a:t>but</a:t>
            </a:r>
            <a:r>
              <a:rPr dirty="0" baseline="7936" sz="1050" spc="89">
                <a:latin typeface="Arial"/>
                <a:cs typeface="Arial"/>
              </a:rPr>
              <a:t> </a:t>
            </a:r>
            <a:r>
              <a:rPr dirty="0" baseline="7936" sz="1050">
                <a:latin typeface="Arial"/>
                <a:cs typeface="Arial"/>
              </a:rPr>
              <a:t>all</a:t>
            </a:r>
            <a:r>
              <a:rPr dirty="0" baseline="7936" sz="1050" spc="97">
                <a:latin typeface="Arial"/>
                <a:cs typeface="Arial"/>
              </a:rPr>
              <a:t> </a:t>
            </a:r>
            <a:r>
              <a:rPr dirty="0" baseline="7936" sz="1050" spc="-104">
                <a:latin typeface="Arial"/>
                <a:cs typeface="Arial"/>
              </a:rPr>
              <a:t>Max</a:t>
            </a:r>
            <a:r>
              <a:rPr dirty="0" baseline="7936" sz="1050" spc="-104" i="1">
                <a:latin typeface="JetBrainsMono Nerd Font ExtraLight"/>
                <a:cs typeface="JetBrainsMono Nerd Font ExtraLight"/>
              </a:rPr>
              <a:t>|</a:t>
            </a:r>
            <a:r>
              <a:rPr dirty="0" baseline="7936" sz="1050" spc="-104">
                <a:latin typeface="Arial"/>
                <a:cs typeface="Arial"/>
              </a:rPr>
              <a:t>SSC</a:t>
            </a:r>
            <a:r>
              <a:rPr dirty="0" baseline="7936" sz="1050" spc="-104" i="1">
                <a:latin typeface="JetBrainsMono Nerd Font ExtraLight"/>
                <a:cs typeface="JetBrainsMono Nerd Font ExtraLight"/>
              </a:rPr>
              <a:t>|</a:t>
            </a:r>
            <a:r>
              <a:rPr dirty="0" baseline="7936" sz="1050" spc="-270" i="1">
                <a:latin typeface="JetBrainsMono Nerd Font ExtraLight"/>
                <a:cs typeface="JetBrainsMono Nerd Font ExtraLight"/>
              </a:rPr>
              <a:t> </a:t>
            </a:r>
            <a:r>
              <a:rPr dirty="0" baseline="7936" sz="1050" spc="292" i="1">
                <a:latin typeface="JetBrainsMono Nerd Font ExtraLight"/>
                <a:cs typeface="JetBrainsMono Nerd Font ExtraLight"/>
              </a:rPr>
              <a:t>≥</a:t>
            </a:r>
            <a:r>
              <a:rPr dirty="0" baseline="7936" sz="1050" spc="-277" i="1">
                <a:latin typeface="JetBrainsMono Nerd Font ExtraLight"/>
                <a:cs typeface="JetBrainsMono Nerd Font ExtraLight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1</a:t>
            </a:r>
            <a:r>
              <a:rPr dirty="0" baseline="7936" sz="1050" spc="127">
                <a:latin typeface="Times New Roman"/>
                <a:cs typeface="Times New Roman"/>
              </a:rPr>
              <a:t> </a:t>
            </a:r>
            <a:r>
              <a:rPr dirty="0" baseline="7936" sz="1050" spc="547" i="1">
                <a:latin typeface="JetBrainsMono Nerd Font ExtraLight"/>
                <a:cs typeface="JetBrainsMono Nerd Font ExtraLight"/>
              </a:rPr>
              <a:t>⇒</a:t>
            </a:r>
            <a:r>
              <a:rPr dirty="0" baseline="7936" sz="1050" spc="-247" i="1">
                <a:latin typeface="JetBrainsMono Nerd Font ExtraLight"/>
                <a:cs typeface="JetBrainsMono Nerd Font ExtraLight"/>
              </a:rPr>
              <a:t> </a:t>
            </a:r>
            <a:r>
              <a:rPr dirty="0" baseline="7936" sz="1050" spc="-15">
                <a:latin typeface="Arial"/>
                <a:cs typeface="Arial"/>
              </a:rPr>
              <a:t>identifiability</a:t>
            </a:r>
            <a:endParaRPr baseline="7936" sz="1050">
              <a:latin typeface="Arial"/>
              <a:cs typeface="Arial"/>
            </a:endParaRPr>
          </a:p>
          <a:p>
            <a:pPr marL="50800">
              <a:lnSpc>
                <a:spcPts val="770"/>
              </a:lnSpc>
            </a:pPr>
            <a:r>
              <a:rPr dirty="0" sz="700" spc="-10" b="1">
                <a:latin typeface="Arial"/>
                <a:cs typeface="Arial"/>
              </a:rPr>
              <a:t>confirmed</a:t>
            </a:r>
            <a:r>
              <a:rPr dirty="0" sz="700" spc="-10">
                <a:latin typeface="Arial"/>
                <a:cs typeface="Arial"/>
              </a:rPr>
              <a:t>.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19" name="object 19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25" y="0"/>
                  </a:moveTo>
                  <a:lnTo>
                    <a:pt x="2016023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23" y="91287"/>
                  </a:lnTo>
                  <a:lnTo>
                    <a:pt x="3456025" y="91287"/>
                  </a:lnTo>
                  <a:lnTo>
                    <a:pt x="3456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456025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7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7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7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7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7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  <a:tabLst>
                <a:tab pos="370205" algn="l"/>
              </a:tabLst>
            </a:pPr>
            <a:r>
              <a:rPr dirty="0" sz="500" spc="-20">
                <a:solidFill>
                  <a:srgbClr val="FFFFF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Optimal</a:t>
            </a:r>
            <a:r>
              <a:rPr dirty="0" spc="-25"/>
              <a:t> </a:t>
            </a:r>
            <a:r>
              <a:rPr dirty="0" spc="-40"/>
              <a:t>Experimental</a:t>
            </a:r>
            <a:r>
              <a:rPr dirty="0" spc="-20"/>
              <a:t> </a:t>
            </a:r>
            <a:r>
              <a:rPr dirty="0" spc="-60"/>
              <a:t>Design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62038" y="849381"/>
            <a:ext cx="19431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3830" indent="-125730">
              <a:lnSpc>
                <a:spcPct val="100000"/>
              </a:lnSpc>
              <a:spcBef>
                <a:spcPts val="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25">
                <a:latin typeface="Arial"/>
                <a:cs typeface="Arial"/>
              </a:rPr>
              <a:t>Beck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85">
                <a:latin typeface="Arial"/>
                <a:cs typeface="Arial"/>
              </a:rPr>
              <a:t>&amp;</a:t>
            </a:r>
            <a:r>
              <a:rPr dirty="0" sz="1000" spc="-10">
                <a:latin typeface="Arial"/>
                <a:cs typeface="Arial"/>
              </a:rPr>
              <a:t> Arnold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(1977) </a:t>
            </a:r>
            <a:r>
              <a:rPr dirty="0" sz="1000">
                <a:latin typeface="Arial"/>
                <a:cs typeface="Arial"/>
              </a:rPr>
              <a:t>Eq.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8.3.5: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4545" y="1076594"/>
            <a:ext cx="908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30" i="1">
                <a:latin typeface="Times New Roman"/>
                <a:cs typeface="Times New Roman"/>
              </a:rPr>
              <a:t>ij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13066" y="1127251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431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87069" y="917732"/>
            <a:ext cx="857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40">
                <a:latin typeface="Times New Roman"/>
                <a:cs typeface="Times New Roman"/>
              </a:rPr>
              <a:t>∫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1422" y="986970"/>
            <a:ext cx="609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25" i="1">
                <a:latin typeface="Times New Roman"/>
                <a:cs typeface="Times New Roman"/>
              </a:rPr>
              <a:t>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0366" y="1011697"/>
            <a:ext cx="5156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0360" algn="l"/>
              </a:tabLst>
            </a:pPr>
            <a:r>
              <a:rPr dirty="0" baseline="3968" sz="1050" spc="-75">
                <a:latin typeface="Times New Roman"/>
                <a:cs typeface="Times New Roman"/>
              </a:rPr>
              <a:t>1</a:t>
            </a:r>
            <a:r>
              <a:rPr dirty="0" baseline="3968" sz="1050">
                <a:latin typeface="Times New Roman"/>
                <a:cs typeface="Times New Roman"/>
              </a:rPr>
              <a:t>	</a:t>
            </a:r>
            <a:r>
              <a:rPr dirty="0" sz="700" i="1">
                <a:latin typeface="JetBrainsMono Nerd Font ExtraLight"/>
                <a:cs typeface="JetBrainsMono Nerd Font ExtraLight"/>
              </a:rPr>
              <a:t>′</a:t>
            </a:r>
            <a:r>
              <a:rPr dirty="0" sz="700" spc="200" i="1">
                <a:latin typeface="JetBrainsMono Nerd Font ExtraLight"/>
                <a:cs typeface="JetBrainsMono Nerd Font ExtraLight"/>
              </a:rPr>
              <a:t> </a:t>
            </a:r>
            <a:r>
              <a:rPr dirty="0" sz="700" spc="-155" i="1">
                <a:latin typeface="JetBrainsMono Nerd Font ExtraLight"/>
                <a:cs typeface="JetBrainsMono Nerd Font ExtraLight"/>
              </a:rPr>
              <a:t>′</a:t>
            </a:r>
            <a:endParaRPr sz="700">
              <a:latin typeface="JetBrainsMono Nerd Font ExtraLight"/>
              <a:cs typeface="JetBrainsMono Nerd Font Extra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82548" y="1102603"/>
            <a:ext cx="5619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58140" algn="l"/>
              </a:tabLst>
            </a:pPr>
            <a:r>
              <a:rPr dirty="0" sz="700" spc="75" i="1">
                <a:latin typeface="Times New Roman"/>
                <a:cs typeface="Times New Roman"/>
              </a:rPr>
              <a:t>t</a:t>
            </a:r>
            <a:r>
              <a:rPr dirty="0" sz="700" spc="229" i="1">
                <a:latin typeface="Times New Roman"/>
                <a:cs typeface="Times New Roman"/>
              </a:rPr>
              <a:t>  </a:t>
            </a:r>
            <a:r>
              <a:rPr dirty="0" sz="700" spc="-50">
                <a:latin typeface="Times New Roman"/>
                <a:cs typeface="Times New Roman"/>
              </a:rPr>
              <a:t>0</a:t>
            </a:r>
            <a:r>
              <a:rPr dirty="0" sz="700">
                <a:latin typeface="Times New Roman"/>
                <a:cs typeface="Times New Roman"/>
              </a:rPr>
              <a:t>	</a:t>
            </a:r>
            <a:r>
              <a:rPr dirty="0" baseline="7936" sz="1050" spc="82" i="1">
                <a:latin typeface="Times New Roman"/>
                <a:cs typeface="Times New Roman"/>
              </a:rPr>
              <a:t>i</a:t>
            </a:r>
            <a:r>
              <a:rPr dirty="0" baseline="7936" sz="1050" spc="330" i="1">
                <a:latin typeface="Times New Roman"/>
                <a:cs typeface="Times New Roman"/>
              </a:rPr>
              <a:t>  </a:t>
            </a:r>
            <a:r>
              <a:rPr dirty="0" baseline="7936" sz="1050" spc="7" i="1">
                <a:latin typeface="Times New Roman"/>
                <a:cs typeface="Times New Roman"/>
              </a:rPr>
              <a:t>j</a:t>
            </a:r>
            <a:endParaRPr baseline="7936" sz="1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3956" y="1019662"/>
            <a:ext cx="10972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155" algn="l"/>
              </a:tabLst>
            </a:pPr>
            <a:r>
              <a:rPr dirty="0" sz="1000" i="1">
                <a:latin typeface="Times New Roman"/>
                <a:cs typeface="Times New Roman"/>
              </a:rPr>
              <a:t>C</a:t>
            </a:r>
            <a:r>
              <a:rPr dirty="0" sz="1000" spc="434" i="1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</a:t>
            </a:r>
            <a:r>
              <a:rPr dirty="0" sz="1000" i="1">
                <a:latin typeface="Times New Roman"/>
                <a:cs typeface="Times New Roman"/>
              </a:rPr>
              <a:t>t</a:t>
            </a:r>
            <a:r>
              <a:rPr dirty="0" sz="1000">
                <a:latin typeface="Times New Roman"/>
                <a:cs typeface="Times New Roman"/>
              </a:rPr>
              <a:t>)</a:t>
            </a:r>
            <a:r>
              <a:rPr dirty="0" sz="1000" spc="90">
                <a:latin typeface="Times New Roman"/>
                <a:cs typeface="Times New Roman"/>
              </a:rPr>
              <a:t> </a:t>
            </a:r>
            <a:r>
              <a:rPr dirty="0" sz="1000" spc="155">
                <a:latin typeface="Times New Roman"/>
                <a:cs typeface="Times New Roman"/>
              </a:rPr>
              <a:t>=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120" i="1">
                <a:latin typeface="Times New Roman"/>
                <a:cs typeface="Times New Roman"/>
              </a:rPr>
              <a:t>X</a:t>
            </a:r>
            <a:r>
              <a:rPr dirty="0" sz="1000" spc="45" i="1">
                <a:latin typeface="Times New Roman"/>
                <a:cs typeface="Times New Roman"/>
              </a:rPr>
              <a:t> </a:t>
            </a:r>
            <a:r>
              <a:rPr dirty="0" sz="1000" spc="120" i="1">
                <a:latin typeface="Times New Roman"/>
                <a:cs typeface="Times New Roman"/>
              </a:rPr>
              <a:t>X</a:t>
            </a:r>
            <a:r>
              <a:rPr dirty="0" sz="1000" spc="225" i="1">
                <a:latin typeface="Times New Roman"/>
                <a:cs typeface="Times New Roman"/>
              </a:rPr>
              <a:t> </a:t>
            </a:r>
            <a:r>
              <a:rPr dirty="0" sz="1000" spc="-50" i="1">
                <a:latin typeface="Times New Roman"/>
                <a:cs typeface="Times New Roman"/>
              </a:rPr>
              <a:t>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5671" y="1019662"/>
            <a:ext cx="1308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0" i="1">
                <a:latin typeface="Arial"/>
                <a:cs typeface="Arial"/>
              </a:rPr>
              <a:t>τ</a:t>
            </a:r>
            <a:r>
              <a:rPr dirty="0" sz="1000" spc="-165" i="1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,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9338" y="1133532"/>
            <a:ext cx="1958339" cy="89852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395"/>
              </a:spcBef>
            </a:pPr>
            <a:r>
              <a:rPr dirty="0" sz="1000" spc="210">
                <a:latin typeface="Times New Roman"/>
                <a:cs typeface="Times New Roman"/>
              </a:rPr>
              <a:t>∆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det(</a:t>
            </a:r>
            <a:r>
              <a:rPr dirty="0" sz="1000" spc="-10" i="1">
                <a:latin typeface="Times New Roman"/>
                <a:cs typeface="Times New Roman"/>
              </a:rPr>
              <a:t>C</a:t>
            </a:r>
            <a:r>
              <a:rPr dirty="0" sz="1000" spc="-10">
                <a:latin typeface="Times New Roman"/>
                <a:cs typeface="Times New Roman"/>
              </a:rPr>
              <a:t>)</a:t>
            </a:r>
            <a:endParaRPr sz="1000">
              <a:latin typeface="Times New Roman"/>
              <a:cs typeface="Times New Roman"/>
            </a:endParaRPr>
          </a:p>
          <a:p>
            <a:pPr marL="175895" marR="43180" indent="-125730">
              <a:lnSpc>
                <a:spcPct val="100000"/>
              </a:lnSpc>
              <a:spcBef>
                <a:spcPts val="2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77165" algn="l"/>
              </a:tabLst>
            </a:pPr>
            <a:r>
              <a:rPr dirty="0" sz="1000" spc="210">
                <a:latin typeface="Times New Roman"/>
                <a:cs typeface="Times New Roman"/>
              </a:rPr>
              <a:t>∆</a:t>
            </a:r>
            <a:r>
              <a:rPr dirty="0" sz="1000" spc="60">
                <a:latin typeface="Times New Roman"/>
                <a:cs typeface="Times New Roman"/>
              </a:rPr>
              <a:t> </a:t>
            </a:r>
            <a:r>
              <a:rPr dirty="0" sz="1000" spc="-60">
                <a:latin typeface="Arial"/>
                <a:cs typeface="Arial"/>
              </a:rPr>
              <a:t>peaks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at</a:t>
            </a:r>
            <a:r>
              <a:rPr dirty="0" sz="1000" spc="45">
                <a:latin typeface="Arial"/>
                <a:cs typeface="Arial"/>
              </a:rPr>
              <a:t> </a:t>
            </a:r>
            <a:r>
              <a:rPr dirty="0" sz="1000" spc="55" i="1">
                <a:latin typeface="Times New Roman"/>
                <a:cs typeface="Times New Roman"/>
              </a:rPr>
              <a:t>t</a:t>
            </a:r>
            <a:r>
              <a:rPr dirty="0" sz="1000" spc="20" i="1">
                <a:latin typeface="Times New Roman"/>
                <a:cs typeface="Times New Roman"/>
              </a:rPr>
              <a:t> </a:t>
            </a:r>
            <a:r>
              <a:rPr dirty="0" sz="1000" spc="170" i="1">
                <a:latin typeface="JetBrainsMono Nerd Font ExtraLight"/>
                <a:cs typeface="JetBrainsMono Nerd Font ExtraLight"/>
              </a:rPr>
              <a:t>≈</a:t>
            </a:r>
            <a:r>
              <a:rPr dirty="0" sz="1000" spc="-325" i="1">
                <a:latin typeface="JetBrainsMono Nerd Font ExtraLight"/>
                <a:cs typeface="JetBrainsMono Nerd Font ExtraLight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17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Arial"/>
                <a:cs typeface="Arial"/>
              </a:rPr>
              <a:t>hr</a:t>
            </a:r>
            <a:r>
              <a:rPr dirty="0" sz="1000" spc="45">
                <a:latin typeface="Arial"/>
                <a:cs typeface="Arial"/>
              </a:rPr>
              <a:t> </a:t>
            </a:r>
            <a:r>
              <a:rPr dirty="0" sz="1000" spc="395" i="1">
                <a:latin typeface="JetBrainsMono Nerd Font ExtraLight"/>
                <a:cs typeface="JetBrainsMono Nerd Font ExtraLight"/>
              </a:rPr>
              <a:t>⇒</a:t>
            </a:r>
            <a:r>
              <a:rPr dirty="0" sz="1000" spc="-27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 spc="-10">
                <a:latin typeface="Arial"/>
                <a:cs typeface="Arial"/>
              </a:rPr>
              <a:t>optimal </a:t>
            </a:r>
            <a:r>
              <a:rPr dirty="0" sz="1000" spc="-10">
                <a:latin typeface="Arial"/>
                <a:cs typeface="Arial"/>
              </a:rPr>
              <a:t>	</a:t>
            </a:r>
            <a:r>
              <a:rPr dirty="0" sz="1000" spc="-35">
                <a:latin typeface="Arial"/>
                <a:cs typeface="Arial"/>
              </a:rPr>
              <a:t>experiment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duration</a:t>
            </a:r>
            <a:endParaRPr sz="1000">
              <a:latin typeface="Arial"/>
              <a:cs typeface="Arial"/>
            </a:endParaRPr>
          </a:p>
          <a:p>
            <a:pPr marL="176530" indent="-125730">
              <a:lnSpc>
                <a:spcPts val="1200"/>
              </a:lnSpc>
              <a:spcBef>
                <a:spcPts val="290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76530" algn="l"/>
              </a:tabLst>
            </a:pPr>
            <a:r>
              <a:rPr dirty="0" sz="1000" spc="50" i="1">
                <a:latin typeface="Times New Roman"/>
                <a:cs typeface="Times New Roman"/>
              </a:rPr>
              <a:t>C</a:t>
            </a:r>
            <a:r>
              <a:rPr dirty="0" baseline="-11904" sz="1050" spc="75" i="1">
                <a:latin typeface="Times New Roman"/>
                <a:cs typeface="Times New Roman"/>
              </a:rPr>
              <a:t>ii</a:t>
            </a:r>
            <a:r>
              <a:rPr dirty="0" sz="1000" spc="50">
                <a:latin typeface="Arial"/>
                <a:cs typeface="Arial"/>
              </a:rPr>
              <a:t>:</a:t>
            </a:r>
            <a:r>
              <a:rPr dirty="0" sz="1000" spc="110">
                <a:latin typeface="Arial"/>
                <a:cs typeface="Arial"/>
              </a:rPr>
              <a:t> </a:t>
            </a:r>
            <a:r>
              <a:rPr dirty="0" sz="1000" spc="50" i="1">
                <a:latin typeface="Times New Roman"/>
                <a:cs typeface="Times New Roman"/>
              </a:rPr>
              <a:t>M</a:t>
            </a:r>
            <a:r>
              <a:rPr dirty="0" sz="1000" spc="45" i="1">
                <a:latin typeface="Times New Roman"/>
                <a:cs typeface="Times New Roman"/>
              </a:rPr>
              <a:t> </a:t>
            </a:r>
            <a:r>
              <a:rPr dirty="0" sz="1000" spc="-60">
                <a:latin typeface="Arial"/>
                <a:cs typeface="Arial"/>
              </a:rPr>
              <a:t>peaks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then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 spc="-45">
                <a:latin typeface="Arial"/>
                <a:cs typeface="Arial"/>
              </a:rPr>
              <a:t>declines;</a:t>
            </a:r>
            <a:r>
              <a:rPr dirty="0" sz="1000" spc="15">
                <a:latin typeface="Arial"/>
                <a:cs typeface="Arial"/>
              </a:rPr>
              <a:t> </a:t>
            </a:r>
            <a:r>
              <a:rPr dirty="0" sz="1000" spc="-50" i="1">
                <a:latin typeface="Times New Roman"/>
                <a:cs typeface="Times New Roman"/>
              </a:rPr>
              <a:t>C</a:t>
            </a:r>
            <a:endParaRPr sz="1000">
              <a:latin typeface="Times New Roman"/>
              <a:cs typeface="Times New Roman"/>
            </a:endParaRPr>
          </a:p>
          <a:p>
            <a:pPr marL="177165">
              <a:lnSpc>
                <a:spcPts val="1200"/>
              </a:lnSpc>
            </a:pPr>
            <a:r>
              <a:rPr dirty="0" sz="1000" spc="-40">
                <a:latin typeface="Arial"/>
                <a:cs typeface="Arial"/>
              </a:rPr>
              <a:t>grows;</a:t>
            </a:r>
            <a:r>
              <a:rPr dirty="0" sz="1000" spc="20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a</a:t>
            </a:r>
            <a:r>
              <a:rPr dirty="0" sz="1000" spc="55" i="1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Arial"/>
                <a:cs typeface="Arial"/>
              </a:rPr>
              <a:t>lowest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563177" y="830442"/>
            <a:ext cx="2923216" cy="175818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107817" y="2660695"/>
            <a:ext cx="1834514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6172" sz="1350">
                <a:latin typeface="Arial"/>
                <a:cs typeface="Arial"/>
              </a:rPr>
              <a:t>Fig 10.</a:t>
            </a:r>
            <a:r>
              <a:rPr dirty="0" baseline="6172" sz="1350" spc="142">
                <a:latin typeface="Arial"/>
                <a:cs typeface="Arial"/>
              </a:rPr>
              <a:t> </a:t>
            </a:r>
            <a:r>
              <a:rPr dirty="0" baseline="6172" sz="1350" spc="315">
                <a:latin typeface="Times New Roman"/>
                <a:cs typeface="Times New Roman"/>
              </a:rPr>
              <a:t>∆</a:t>
            </a:r>
            <a:r>
              <a:rPr dirty="0" baseline="6172" sz="1350" spc="37">
                <a:latin typeface="Times New Roman"/>
                <a:cs typeface="Times New Roman"/>
              </a:rPr>
              <a:t> </a:t>
            </a:r>
            <a:r>
              <a:rPr dirty="0" baseline="6172" sz="1350">
                <a:latin typeface="Arial"/>
                <a:cs typeface="Arial"/>
              </a:rPr>
              <a:t>criterion</a:t>
            </a:r>
            <a:r>
              <a:rPr dirty="0" baseline="6172" sz="1350" spc="7">
                <a:latin typeface="Arial"/>
                <a:cs typeface="Arial"/>
              </a:rPr>
              <a:t> </a:t>
            </a:r>
            <a:r>
              <a:rPr dirty="0" baseline="6172" sz="1350">
                <a:latin typeface="Arial"/>
                <a:cs typeface="Arial"/>
              </a:rPr>
              <a:t>and</a:t>
            </a:r>
            <a:r>
              <a:rPr dirty="0" baseline="6172" sz="1350" spc="7">
                <a:latin typeface="Arial"/>
                <a:cs typeface="Arial"/>
              </a:rPr>
              <a:t> </a:t>
            </a:r>
            <a:r>
              <a:rPr dirty="0" baseline="6172" sz="1350" spc="82" i="1">
                <a:latin typeface="Times New Roman"/>
                <a:cs typeface="Times New Roman"/>
              </a:rPr>
              <a:t>C</a:t>
            </a:r>
            <a:r>
              <a:rPr dirty="0" sz="600" spc="55" i="1">
                <a:latin typeface="Times New Roman"/>
                <a:cs typeface="Times New Roman"/>
              </a:rPr>
              <a:t>ii</a:t>
            </a:r>
            <a:r>
              <a:rPr dirty="0" sz="600" spc="145" i="1">
                <a:latin typeface="Times New Roman"/>
                <a:cs typeface="Times New Roman"/>
              </a:rPr>
              <a:t> </a:t>
            </a:r>
            <a:r>
              <a:rPr dirty="0" baseline="6172" sz="1350" spc="-15">
                <a:latin typeface="Arial"/>
                <a:cs typeface="Arial"/>
              </a:rPr>
              <a:t>vs.</a:t>
            </a:r>
            <a:r>
              <a:rPr dirty="0" baseline="6172" sz="1350" spc="7">
                <a:latin typeface="Arial"/>
                <a:cs typeface="Arial"/>
              </a:rPr>
              <a:t> </a:t>
            </a:r>
            <a:r>
              <a:rPr dirty="0" baseline="6172" sz="1350" spc="-30">
                <a:latin typeface="Arial"/>
                <a:cs typeface="Arial"/>
              </a:rPr>
              <a:t>time</a:t>
            </a:r>
            <a:endParaRPr baseline="6172" sz="13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22" name="object 22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25" y="0"/>
                  </a:moveTo>
                  <a:lnTo>
                    <a:pt x="2016023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23" y="91287"/>
                  </a:lnTo>
                  <a:lnTo>
                    <a:pt x="3456025" y="91287"/>
                  </a:lnTo>
                  <a:lnTo>
                    <a:pt x="3456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456025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31877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7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Bootstrapping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 spc="-80"/>
              <a:t>Residuals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0908" y="751838"/>
            <a:ext cx="211010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>
                <a:latin typeface="Arial"/>
                <a:cs typeface="Arial"/>
              </a:rPr>
              <a:t>600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bootstrap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iterations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(residual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resampling), </a:t>
            </a:r>
            <a:r>
              <a:rPr dirty="0" sz="800">
                <a:latin typeface="Arial"/>
                <a:cs typeface="Arial"/>
              </a:rPr>
              <a:t>522/600</a:t>
            </a:r>
            <a:r>
              <a:rPr dirty="0" sz="800" spc="8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valid.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5302" y="1160564"/>
            <a:ext cx="2185035" cy="0"/>
          </a:xfrm>
          <a:custGeom>
            <a:avLst/>
            <a:gdLst/>
            <a:ahLst/>
            <a:cxnLst/>
            <a:rect l="l" t="t" r="r" b="b"/>
            <a:pathLst>
              <a:path w="2185035" h="0">
                <a:moveTo>
                  <a:pt x="0" y="0"/>
                </a:moveTo>
                <a:lnTo>
                  <a:pt x="21846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8510" y="1171729"/>
            <a:ext cx="2781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latin typeface="Arial"/>
                <a:cs typeface="Arial"/>
              </a:rPr>
              <a:t>Param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2377" y="1171729"/>
            <a:ext cx="7366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Arial"/>
                <a:cs typeface="Arial"/>
              </a:rPr>
              <a:t>Bootstrap</a:t>
            </a:r>
            <a:r>
              <a:rPr dirty="0" sz="700" spc="4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95%</a:t>
            </a:r>
            <a:r>
              <a:rPr dirty="0" sz="700" spc="45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CI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45022" y="1171729"/>
            <a:ext cx="7918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latin typeface="Arial"/>
                <a:cs typeface="Arial"/>
              </a:rPr>
              <a:t>Asymptotic</a:t>
            </a:r>
            <a:r>
              <a:rPr dirty="0" sz="700" spc="5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95%</a:t>
            </a:r>
            <a:r>
              <a:rPr dirty="0" sz="700" spc="55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CI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5302" y="1328991"/>
            <a:ext cx="2185035" cy="0"/>
          </a:xfrm>
          <a:custGeom>
            <a:avLst/>
            <a:gdLst/>
            <a:ahLst/>
            <a:cxnLst/>
            <a:rect l="l" t="t" r="r" b="b"/>
            <a:pathLst>
              <a:path w="2185035" h="0">
                <a:moveTo>
                  <a:pt x="0" y="0"/>
                </a:moveTo>
                <a:lnTo>
                  <a:pt x="2184603" y="0"/>
                </a:lnTo>
              </a:path>
            </a:pathLst>
          </a:custGeom>
          <a:ln w="63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60019" y="1338252"/>
            <a:ext cx="308610" cy="54927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L="110489" marR="96520" indent="7620">
              <a:lnSpc>
                <a:spcPts val="800"/>
              </a:lnSpc>
              <a:spcBef>
                <a:spcPts val="155"/>
              </a:spcBef>
            </a:pPr>
            <a:r>
              <a:rPr dirty="0" sz="700" spc="125" i="1">
                <a:latin typeface="Times New Roman"/>
                <a:cs typeface="Times New Roman"/>
              </a:rPr>
              <a:t>A </a:t>
            </a:r>
            <a:r>
              <a:rPr dirty="0" sz="700" spc="70" i="1">
                <a:latin typeface="Times New Roman"/>
                <a:cs typeface="Times New Roman"/>
              </a:rPr>
              <a:t>C </a:t>
            </a:r>
            <a:r>
              <a:rPr dirty="0" sz="700" spc="85" i="1">
                <a:latin typeface="Times New Roman"/>
                <a:cs typeface="Times New Roman"/>
              </a:rPr>
              <a:t>M</a:t>
            </a:r>
            <a:endParaRPr sz="700">
              <a:latin typeface="Times New Roman"/>
              <a:cs typeface="Times New Roman"/>
            </a:endParaRPr>
          </a:p>
          <a:p>
            <a:pPr algn="ctr" marL="5715">
              <a:lnSpc>
                <a:spcPts val="770"/>
              </a:lnSpc>
            </a:pPr>
            <a:r>
              <a:rPr dirty="0" sz="700" spc="20" i="1">
                <a:latin typeface="Times New Roman"/>
                <a:cs typeface="Times New Roman"/>
              </a:rPr>
              <a:t>a</a:t>
            </a:r>
            <a:endParaRPr sz="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baseline="7936" sz="1050" spc="179" i="1">
                <a:latin typeface="Times New Roman"/>
                <a:cs typeface="Times New Roman"/>
              </a:rPr>
              <a:t>T</a:t>
            </a:r>
            <a:r>
              <a:rPr dirty="0" sz="500" spc="120">
                <a:latin typeface="Times New Roman"/>
                <a:cs typeface="Times New Roman"/>
              </a:rPr>
              <a:t>max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1349" y="1338252"/>
            <a:ext cx="618490" cy="5365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735">
              <a:lnSpc>
                <a:spcPts val="819"/>
              </a:lnSpc>
              <a:spcBef>
                <a:spcPts val="95"/>
              </a:spcBef>
            </a:pPr>
            <a:r>
              <a:rPr dirty="0" sz="700">
                <a:latin typeface="Arial"/>
                <a:cs typeface="Arial"/>
              </a:rPr>
              <a:t>[2.093,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2.606]</a:t>
            </a:r>
            <a:endParaRPr sz="700">
              <a:latin typeface="Arial"/>
              <a:cs typeface="Arial"/>
            </a:endParaRPr>
          </a:p>
          <a:p>
            <a:pPr marL="38735">
              <a:lnSpc>
                <a:spcPts val="795"/>
              </a:lnSpc>
            </a:pPr>
            <a:r>
              <a:rPr dirty="0" sz="700">
                <a:latin typeface="Arial"/>
                <a:cs typeface="Arial"/>
              </a:rPr>
              <a:t>[10.27,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12.94]</a:t>
            </a:r>
            <a:endParaRPr sz="700">
              <a:latin typeface="Arial"/>
              <a:cs typeface="Arial"/>
            </a:endParaRPr>
          </a:p>
          <a:p>
            <a:pPr marL="38735">
              <a:lnSpc>
                <a:spcPts val="795"/>
              </a:lnSpc>
            </a:pPr>
            <a:r>
              <a:rPr dirty="0" sz="700">
                <a:latin typeface="Arial"/>
                <a:cs typeface="Arial"/>
              </a:rPr>
              <a:t>[4.652,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5.836]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795"/>
              </a:lnSpc>
            </a:pPr>
            <a:r>
              <a:rPr dirty="0" sz="700" spc="-20">
                <a:latin typeface="Arial"/>
                <a:cs typeface="Arial"/>
              </a:rPr>
              <a:t>[2.5e-</a:t>
            </a:r>
            <a:r>
              <a:rPr dirty="0" sz="700">
                <a:latin typeface="Arial"/>
                <a:cs typeface="Arial"/>
              </a:rPr>
              <a:t>4,</a:t>
            </a:r>
            <a:r>
              <a:rPr dirty="0" sz="700" spc="110">
                <a:latin typeface="Arial"/>
                <a:cs typeface="Arial"/>
              </a:rPr>
              <a:t> </a:t>
            </a:r>
            <a:r>
              <a:rPr dirty="0" sz="700" spc="-20">
                <a:latin typeface="Arial"/>
                <a:cs typeface="Arial"/>
              </a:rPr>
              <a:t>4.4e-</a:t>
            </a:r>
            <a:r>
              <a:rPr dirty="0" sz="700" spc="-25">
                <a:latin typeface="Arial"/>
                <a:cs typeface="Arial"/>
              </a:rPr>
              <a:t>4]</a:t>
            </a:r>
            <a:endParaRPr sz="700">
              <a:latin typeface="Arial"/>
              <a:cs typeface="Arial"/>
            </a:endParaRPr>
          </a:p>
          <a:p>
            <a:pPr marL="38735">
              <a:lnSpc>
                <a:spcPts val="819"/>
              </a:lnSpc>
            </a:pPr>
            <a:r>
              <a:rPr dirty="0" sz="700">
                <a:latin typeface="Arial"/>
                <a:cs typeface="Arial"/>
              </a:rPr>
              <a:t>[43.26,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152.3]</a:t>
            </a:r>
            <a:endParaRPr sz="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31708" y="1338252"/>
            <a:ext cx="618490" cy="5365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735">
              <a:lnSpc>
                <a:spcPts val="819"/>
              </a:lnSpc>
              <a:spcBef>
                <a:spcPts val="95"/>
              </a:spcBef>
            </a:pPr>
            <a:r>
              <a:rPr dirty="0" sz="700">
                <a:latin typeface="Arial"/>
                <a:cs typeface="Arial"/>
              </a:rPr>
              <a:t>[2.046,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2.670]</a:t>
            </a:r>
            <a:endParaRPr sz="700">
              <a:latin typeface="Arial"/>
              <a:cs typeface="Arial"/>
            </a:endParaRPr>
          </a:p>
          <a:p>
            <a:pPr marL="15240">
              <a:lnSpc>
                <a:spcPts val="795"/>
              </a:lnSpc>
            </a:pPr>
            <a:r>
              <a:rPr dirty="0" sz="700">
                <a:latin typeface="Arial"/>
                <a:cs typeface="Arial"/>
              </a:rPr>
              <a:t>[6.771,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15.354]</a:t>
            </a:r>
            <a:endParaRPr sz="700">
              <a:latin typeface="Arial"/>
              <a:cs typeface="Arial"/>
            </a:endParaRPr>
          </a:p>
          <a:p>
            <a:pPr marL="38735">
              <a:lnSpc>
                <a:spcPts val="795"/>
              </a:lnSpc>
            </a:pPr>
            <a:r>
              <a:rPr dirty="0" sz="700">
                <a:latin typeface="Arial"/>
                <a:cs typeface="Arial"/>
              </a:rPr>
              <a:t>[4.414,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6.667]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795"/>
              </a:lnSpc>
            </a:pPr>
            <a:r>
              <a:rPr dirty="0" sz="700" spc="-20">
                <a:latin typeface="Arial"/>
                <a:cs typeface="Arial"/>
              </a:rPr>
              <a:t>[1.0e-</a:t>
            </a:r>
            <a:r>
              <a:rPr dirty="0" sz="700">
                <a:latin typeface="Arial"/>
                <a:cs typeface="Arial"/>
              </a:rPr>
              <a:t>4,</a:t>
            </a:r>
            <a:r>
              <a:rPr dirty="0" sz="700" spc="110">
                <a:latin typeface="Arial"/>
                <a:cs typeface="Arial"/>
              </a:rPr>
              <a:t> </a:t>
            </a:r>
            <a:r>
              <a:rPr dirty="0" sz="700" spc="-20">
                <a:latin typeface="Arial"/>
                <a:cs typeface="Arial"/>
              </a:rPr>
              <a:t>6.0e-</a:t>
            </a:r>
            <a:r>
              <a:rPr dirty="0" sz="700" spc="-25">
                <a:latin typeface="Arial"/>
                <a:cs typeface="Arial"/>
              </a:rPr>
              <a:t>4]</a:t>
            </a:r>
            <a:endParaRPr sz="700">
              <a:latin typeface="Arial"/>
              <a:cs typeface="Arial"/>
            </a:endParaRPr>
          </a:p>
          <a:p>
            <a:pPr marL="38735">
              <a:lnSpc>
                <a:spcPts val="819"/>
              </a:lnSpc>
            </a:pPr>
            <a:r>
              <a:rPr dirty="0" sz="700">
                <a:latin typeface="Arial"/>
                <a:cs typeface="Arial"/>
              </a:rPr>
              <a:t>[26.23,</a:t>
            </a:r>
            <a:r>
              <a:rPr dirty="0" sz="700" spc="5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65.22]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5302" y="1902307"/>
            <a:ext cx="2185035" cy="0"/>
          </a:xfrm>
          <a:custGeom>
            <a:avLst/>
            <a:gdLst/>
            <a:ahLst/>
            <a:cxnLst/>
            <a:rect l="l" t="t" r="r" b="b"/>
            <a:pathLst>
              <a:path w="2185035" h="0">
                <a:moveTo>
                  <a:pt x="0" y="0"/>
                </a:moveTo>
                <a:lnTo>
                  <a:pt x="2184603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815196" y="891099"/>
            <a:ext cx="2671200" cy="160660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398583" y="2557127"/>
            <a:ext cx="150495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Arial"/>
                <a:cs typeface="Arial"/>
              </a:rPr>
              <a:t>Fig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11.</a:t>
            </a:r>
            <a:r>
              <a:rPr dirty="0" sz="900" spc="7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Bootstrap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CB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and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PB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22" name="object 22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25" y="0"/>
                  </a:moveTo>
                  <a:lnTo>
                    <a:pt x="2016023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23" y="91287"/>
                  </a:lnTo>
                  <a:lnTo>
                    <a:pt x="3456025" y="91287"/>
                  </a:lnTo>
                  <a:lnTo>
                    <a:pt x="3456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456025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31877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7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Asymptotic</a:t>
            </a:r>
            <a:r>
              <a:rPr dirty="0" spc="-30"/>
              <a:t> </a:t>
            </a:r>
            <a:r>
              <a:rPr dirty="0" spc="-60"/>
              <a:t>vs</a:t>
            </a:r>
            <a:r>
              <a:rPr dirty="0" spc="-30"/>
              <a:t> </a:t>
            </a:r>
            <a:r>
              <a:rPr dirty="0" spc="-10"/>
              <a:t>Bootstrap</a:t>
            </a:r>
            <a:r>
              <a:rPr dirty="0" spc="-25"/>
              <a:t> </a:t>
            </a:r>
            <a:r>
              <a:rPr dirty="0" spc="-60"/>
              <a:t>Comparison</a:t>
            </a: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679524" y="1076337"/>
          <a:ext cx="2477770" cy="588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360"/>
                <a:gridCol w="749935"/>
                <a:gridCol w="675640"/>
              </a:tblGrid>
              <a:tr h="2184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Metric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Asymptotic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Bootstrap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275">
                <a:tc>
                  <a:txBody>
                    <a:bodyPr/>
                    <a:lstStyle/>
                    <a:p>
                      <a:pPr marL="75565">
                        <a:lnSpc>
                          <a:spcPts val="1075"/>
                        </a:lnSpc>
                        <a:spcBef>
                          <a:spcPts val="150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CB</a:t>
                      </a:r>
                      <a:r>
                        <a:rPr dirty="0" sz="10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width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 (avg)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90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5"/>
                        </a:lnSpc>
                        <a:spcBef>
                          <a:spcPts val="150"/>
                        </a:spcBef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0.867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90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75"/>
                        </a:lnSpc>
                        <a:spcBef>
                          <a:spcPts val="150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0.365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905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0193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>
                          <a:latin typeface="Arial"/>
                          <a:cs typeface="Arial"/>
                        </a:rPr>
                        <a:t>PB</a:t>
                      </a:r>
                      <a:r>
                        <a:rPr dirty="0" sz="10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>
                          <a:latin typeface="Arial"/>
                          <a:cs typeface="Arial"/>
                        </a:rPr>
                        <a:t>width</a:t>
                      </a:r>
                      <a:r>
                        <a:rPr dirty="0" sz="10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(avg)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>
                          <a:latin typeface="Arial"/>
                          <a:cs typeface="Arial"/>
                        </a:rPr>
                        <a:t>2.119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1.274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448424" y="1798542"/>
            <a:ext cx="4921885" cy="59499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63830" indent="-125730">
              <a:lnSpc>
                <a:spcPct val="100000"/>
              </a:lnSpc>
              <a:spcBef>
                <a:spcPts val="3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10">
                <a:latin typeface="Arial"/>
                <a:cs typeface="Arial"/>
              </a:rPr>
              <a:t>Bootstrap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CB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is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4</a:t>
            </a:r>
            <a:r>
              <a:rPr dirty="0" sz="1000" i="1">
                <a:latin typeface="JetBrainsMono Nerd Font ExtraLight"/>
                <a:cs typeface="JetBrainsMono Nerd Font ExtraLight"/>
              </a:rPr>
              <a:t>×</a:t>
            </a:r>
            <a:r>
              <a:rPr dirty="0" sz="1000" spc="-27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 spc="-40">
                <a:latin typeface="Arial"/>
                <a:cs typeface="Arial"/>
              </a:rPr>
              <a:t>narrower;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Bootstrap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PB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is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7</a:t>
            </a:r>
            <a:r>
              <a:rPr dirty="0" sz="1000" i="1">
                <a:latin typeface="JetBrainsMono Nerd Font ExtraLight"/>
                <a:cs typeface="JetBrainsMono Nerd Font ExtraLight"/>
              </a:rPr>
              <a:t>×</a:t>
            </a:r>
            <a:r>
              <a:rPr dirty="0" sz="1000" spc="-27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 spc="-10">
                <a:latin typeface="Arial"/>
                <a:cs typeface="Arial"/>
              </a:rPr>
              <a:t>narrower</a:t>
            </a:r>
            <a:endParaRPr sz="1000">
              <a:latin typeface="Arial"/>
              <a:cs typeface="Arial"/>
            </a:endParaRPr>
          </a:p>
          <a:p>
            <a:pPr marL="163830" indent="-125730">
              <a:lnSpc>
                <a:spcPct val="100000"/>
              </a:lnSpc>
              <a:spcBef>
                <a:spcPts val="295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10">
                <a:latin typeface="Arial"/>
                <a:cs typeface="Arial"/>
              </a:rPr>
              <a:t>Asymptotic</a:t>
            </a:r>
            <a:r>
              <a:rPr dirty="0" sz="1000" spc="2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method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 spc="-45">
                <a:latin typeface="Arial"/>
                <a:cs typeface="Arial"/>
              </a:rPr>
              <a:t>overestimates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uncertainty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(cond</a:t>
            </a:r>
            <a:r>
              <a:rPr dirty="0" sz="1000">
                <a:latin typeface="Times New Roman"/>
                <a:cs typeface="Times New Roman"/>
              </a:rPr>
              <a:t>(J)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3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14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 spc="170" i="1">
                <a:latin typeface="JetBrainsMono Nerd Font ExtraLight"/>
                <a:cs typeface="JetBrainsMono Nerd Font ExtraLight"/>
              </a:rPr>
              <a:t>×</a:t>
            </a:r>
            <a:r>
              <a:rPr dirty="0" sz="1000" spc="-38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10</a:t>
            </a:r>
            <a:r>
              <a:rPr dirty="0" baseline="27777" sz="1050">
                <a:latin typeface="Times New Roman"/>
                <a:cs typeface="Times New Roman"/>
              </a:rPr>
              <a:t>5</a:t>
            </a:r>
            <a:r>
              <a:rPr dirty="0" baseline="27777" sz="1050" spc="277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Arial"/>
                <a:cs typeface="Arial"/>
              </a:rPr>
              <a:t>inflates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covariance)</a:t>
            </a:r>
            <a:endParaRPr sz="1000">
              <a:latin typeface="Arial"/>
              <a:cs typeface="Arial"/>
            </a:endParaRPr>
          </a:p>
          <a:p>
            <a:pPr marL="163830" indent="-125730">
              <a:lnSpc>
                <a:spcPct val="100000"/>
              </a:lnSpc>
              <a:spcBef>
                <a:spcPts val="290"/>
              </a:spcBef>
              <a:buClr>
                <a:srgbClr val="003E87"/>
              </a:buClr>
              <a:buFont typeface="JetBrainsMono Nerd Font ExtraLight"/>
              <a:buChar char="•"/>
              <a:tabLst>
                <a:tab pos="163830" algn="l"/>
              </a:tabLst>
            </a:pPr>
            <a:r>
              <a:rPr dirty="0" sz="1000" spc="-10">
                <a:latin typeface="Arial"/>
                <a:cs typeface="Arial"/>
              </a:rPr>
              <a:t>Bootstrap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45">
                <a:latin typeface="Arial"/>
                <a:cs typeface="Arial"/>
              </a:rPr>
              <a:t>provides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more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realistic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uncertainty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quantification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12" name="object 12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38" y="0"/>
                  </a:moveTo>
                  <a:lnTo>
                    <a:pt x="2016036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36" y="91287"/>
                  </a:lnTo>
                  <a:lnTo>
                    <a:pt x="3456038" y="91287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456038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3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5" name="object 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pc="-75"/>
              <a:t>Conclusions</a:t>
            </a:r>
          </a:p>
        </p:txBody>
      </p:sp>
      <p:pic>
        <p:nvPicPr>
          <p:cNvPr id="8" name="object 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63274" y="1083030"/>
            <a:ext cx="94378" cy="9437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63274" y="1424647"/>
            <a:ext cx="94378" cy="9437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63274" y="1766265"/>
            <a:ext cx="94378" cy="9437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63274" y="2107882"/>
            <a:ext cx="94378" cy="9437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48843" y="1020488"/>
            <a:ext cx="4970780" cy="1354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3830" marR="415925" indent="-126364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700" spc="3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Modified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35">
                <a:latin typeface="Arial"/>
                <a:cs typeface="Arial"/>
              </a:rPr>
              <a:t>Gompertz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model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55">
                <a:latin typeface="Arial"/>
                <a:cs typeface="Arial"/>
              </a:rPr>
              <a:t>successfully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predicts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45" i="1">
                <a:latin typeface="Arial"/>
                <a:cs typeface="Arial"/>
              </a:rPr>
              <a:t>Salmonella</a:t>
            </a:r>
            <a:r>
              <a:rPr dirty="0" sz="1000" spc="15" i="1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growth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under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sinusoidal </a:t>
            </a:r>
            <a:r>
              <a:rPr dirty="0" sz="1000" spc="-10">
                <a:latin typeface="Arial"/>
                <a:cs typeface="Arial"/>
              </a:rPr>
              <a:t>temperature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ts val="1200"/>
              </a:lnSpc>
              <a:spcBef>
                <a:spcPts val="290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700" spc="3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Parameter</a:t>
            </a:r>
            <a:r>
              <a:rPr dirty="0" sz="1000" spc="60" b="1">
                <a:latin typeface="Arial"/>
                <a:cs typeface="Arial"/>
              </a:rPr>
              <a:t> </a:t>
            </a:r>
            <a:r>
              <a:rPr dirty="0" sz="1000" spc="-30" b="1">
                <a:latin typeface="Arial"/>
                <a:cs typeface="Arial"/>
              </a:rPr>
              <a:t>selection</a:t>
            </a:r>
            <a:r>
              <a:rPr dirty="0" sz="1000" spc="-30">
                <a:latin typeface="Arial"/>
                <a:cs typeface="Arial"/>
              </a:rPr>
              <a:t>:</a:t>
            </a:r>
            <a:r>
              <a:rPr dirty="0" sz="1000" spc="135">
                <a:latin typeface="Arial"/>
                <a:cs typeface="Arial"/>
              </a:rPr>
              <a:t> </a:t>
            </a:r>
            <a:r>
              <a:rPr dirty="0" sz="1000" spc="-100">
                <a:latin typeface="Arial"/>
                <a:cs typeface="Arial"/>
              </a:rPr>
              <a:t>SSC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 spc="-45">
                <a:latin typeface="Arial"/>
                <a:cs typeface="Arial"/>
              </a:rPr>
              <a:t>analysis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 spc="395" i="1">
                <a:latin typeface="JetBrainsMono Nerd Font ExtraLight"/>
                <a:cs typeface="JetBrainsMono Nerd Font ExtraLight"/>
              </a:rPr>
              <a:t>⇒</a:t>
            </a:r>
            <a:r>
              <a:rPr dirty="0" sz="1000" spc="-27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>
                <a:latin typeface="Arial"/>
                <a:cs typeface="Arial"/>
              </a:rPr>
              <a:t>fix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 spc="80" i="1">
                <a:latin typeface="Times New Roman"/>
                <a:cs typeface="Times New Roman"/>
              </a:rPr>
              <a:t>T</a:t>
            </a:r>
            <a:r>
              <a:rPr dirty="0" baseline="-11904" sz="1050" spc="120">
                <a:latin typeface="Times New Roman"/>
                <a:cs typeface="Times New Roman"/>
              </a:rPr>
              <a:t>min</a:t>
            </a:r>
            <a:r>
              <a:rPr dirty="0" sz="1000" spc="80">
                <a:latin typeface="Arial"/>
                <a:cs typeface="Arial"/>
              </a:rPr>
              <a:t>,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b</a:t>
            </a:r>
            <a:r>
              <a:rPr dirty="0" sz="1000" spc="55" i="1">
                <a:latin typeface="Times New Roman"/>
                <a:cs typeface="Times New Roman"/>
              </a:rPr>
              <a:t> </a:t>
            </a:r>
            <a:r>
              <a:rPr dirty="0" sz="1000">
                <a:latin typeface="Arial"/>
                <a:cs typeface="Arial"/>
              </a:rPr>
              <a:t>(low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 spc="-40">
                <a:latin typeface="Arial"/>
                <a:cs typeface="Arial"/>
              </a:rPr>
              <a:t>SSC);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estimate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[</a:t>
            </a:r>
            <a:r>
              <a:rPr dirty="0" sz="1000" i="1">
                <a:latin typeface="Times New Roman"/>
                <a:cs typeface="Times New Roman"/>
              </a:rPr>
              <a:t>A</a:t>
            </a:r>
            <a:r>
              <a:rPr dirty="0" sz="1000" i="1">
                <a:latin typeface="Arial"/>
                <a:cs typeface="Arial"/>
              </a:rPr>
              <a:t>,</a:t>
            </a:r>
            <a:r>
              <a:rPr dirty="0" sz="1000" spc="-114" i="1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C</a:t>
            </a:r>
            <a:r>
              <a:rPr dirty="0" sz="1000" i="1">
                <a:latin typeface="Arial"/>
                <a:cs typeface="Arial"/>
              </a:rPr>
              <a:t>,</a:t>
            </a:r>
            <a:r>
              <a:rPr dirty="0" sz="1000" spc="-114" i="1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M</a:t>
            </a:r>
            <a:r>
              <a:rPr dirty="0" sz="1000" i="1">
                <a:latin typeface="Arial"/>
                <a:cs typeface="Arial"/>
              </a:rPr>
              <a:t>,</a:t>
            </a:r>
            <a:r>
              <a:rPr dirty="0" sz="1000" spc="-114" i="1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a</a:t>
            </a:r>
            <a:r>
              <a:rPr dirty="0" sz="1000" i="1">
                <a:latin typeface="Arial"/>
                <a:cs typeface="Arial"/>
              </a:rPr>
              <a:t>,</a:t>
            </a:r>
            <a:r>
              <a:rPr dirty="0" sz="1000" spc="-114" i="1">
                <a:latin typeface="Arial"/>
                <a:cs typeface="Arial"/>
              </a:rPr>
              <a:t> </a:t>
            </a:r>
            <a:r>
              <a:rPr dirty="0" sz="1000" spc="65" i="1">
                <a:latin typeface="Times New Roman"/>
                <a:cs typeface="Times New Roman"/>
              </a:rPr>
              <a:t>T</a:t>
            </a:r>
            <a:r>
              <a:rPr dirty="0" baseline="-11904" sz="1050" spc="97">
                <a:latin typeface="Times New Roman"/>
                <a:cs typeface="Times New Roman"/>
              </a:rPr>
              <a:t>max</a:t>
            </a:r>
            <a:r>
              <a:rPr dirty="0" sz="1000" spc="65">
                <a:latin typeface="Times New Roman"/>
                <a:cs typeface="Times New Roman"/>
              </a:rPr>
              <a:t>]</a:t>
            </a:r>
            <a:endParaRPr sz="1000">
              <a:latin typeface="Times New Roman"/>
              <a:cs typeface="Times New Roman"/>
            </a:endParaRPr>
          </a:p>
          <a:p>
            <a:pPr marL="163830">
              <a:lnSpc>
                <a:spcPts val="1200"/>
              </a:lnSpc>
            </a:pPr>
            <a:r>
              <a:rPr dirty="0" sz="1000">
                <a:latin typeface="Arial"/>
                <a:cs typeface="Arial"/>
              </a:rPr>
              <a:t>(</a:t>
            </a:r>
            <a:r>
              <a:rPr dirty="0" sz="1000">
                <a:latin typeface="Times New Roman"/>
                <a:cs typeface="Times New Roman"/>
              </a:rPr>
              <a:t>7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 spc="395" i="1">
                <a:latin typeface="JetBrainsMono Nerd Font ExtraLight"/>
                <a:cs typeface="JetBrainsMono Nerd Font ExtraLight"/>
              </a:rPr>
              <a:t>→</a:t>
            </a:r>
            <a:r>
              <a:rPr dirty="0" sz="1000" spc="-325" i="1">
                <a:latin typeface="JetBrainsMono Nerd Font ExtraLight"/>
                <a:cs typeface="JetBrainsMono Nerd Font ExtraLight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5</a:t>
            </a:r>
            <a:r>
              <a:rPr dirty="0" sz="1000">
                <a:latin typeface="Arial"/>
                <a:cs typeface="Arial"/>
              </a:rPr>
              <a:t>).</a:t>
            </a:r>
            <a:r>
              <a:rPr dirty="0" sz="1000" spc="165">
                <a:latin typeface="Arial"/>
                <a:cs typeface="Arial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R</a:t>
            </a:r>
            <a:r>
              <a:rPr dirty="0" sz="1000">
                <a:latin typeface="Times New Roman"/>
                <a:cs typeface="Times New Roman"/>
              </a:rPr>
              <a:t>(</a:t>
            </a:r>
            <a:r>
              <a:rPr dirty="0" sz="1000" i="1">
                <a:latin typeface="Times New Roman"/>
                <a:cs typeface="Times New Roman"/>
              </a:rPr>
              <a:t>C</a:t>
            </a:r>
            <a:r>
              <a:rPr dirty="0" sz="1000" i="1">
                <a:latin typeface="Arial"/>
                <a:cs typeface="Arial"/>
              </a:rPr>
              <a:t>,</a:t>
            </a:r>
            <a:r>
              <a:rPr dirty="0" sz="1000" spc="-114" i="1">
                <a:latin typeface="Arial"/>
                <a:cs typeface="Arial"/>
              </a:rPr>
              <a:t> </a:t>
            </a:r>
            <a:r>
              <a:rPr dirty="0" sz="1000" spc="100" i="1">
                <a:latin typeface="Times New Roman"/>
                <a:cs typeface="Times New Roman"/>
              </a:rPr>
              <a:t>T</a:t>
            </a:r>
            <a:r>
              <a:rPr dirty="0" baseline="-11904" sz="1050" spc="150">
                <a:latin typeface="Times New Roman"/>
                <a:cs typeface="Times New Roman"/>
              </a:rPr>
              <a:t>max</a:t>
            </a:r>
            <a:r>
              <a:rPr dirty="0" sz="1000" spc="100">
                <a:latin typeface="Times New Roman"/>
                <a:cs typeface="Times New Roman"/>
              </a:rPr>
              <a:t>)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0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980</a:t>
            </a:r>
            <a:r>
              <a:rPr dirty="0" sz="1000" spc="85">
                <a:latin typeface="Times New Roman"/>
                <a:cs typeface="Times New Roman"/>
              </a:rPr>
              <a:t> </a:t>
            </a:r>
            <a:r>
              <a:rPr dirty="0" sz="1000">
                <a:latin typeface="Arial"/>
                <a:cs typeface="Arial"/>
              </a:rPr>
              <a:t>but</a:t>
            </a:r>
            <a:r>
              <a:rPr dirty="0" sz="1000" spc="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all</a:t>
            </a:r>
            <a:r>
              <a:rPr dirty="0" sz="1000" spc="55">
                <a:latin typeface="Arial"/>
                <a:cs typeface="Arial"/>
              </a:rPr>
              <a:t> </a:t>
            </a:r>
            <a:r>
              <a:rPr dirty="0" sz="1000" spc="-40">
                <a:latin typeface="Arial"/>
                <a:cs typeface="Arial"/>
              </a:rPr>
              <a:t>95%</a:t>
            </a:r>
            <a:r>
              <a:rPr dirty="0" sz="1000" spc="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CI</a:t>
            </a:r>
            <a:r>
              <a:rPr dirty="0" sz="1000" spc="55">
                <a:latin typeface="Arial"/>
                <a:cs typeface="Arial"/>
              </a:rPr>
              <a:t> </a:t>
            </a:r>
            <a:r>
              <a:rPr dirty="0" sz="1000" spc="-45">
                <a:latin typeface="Arial"/>
                <a:cs typeface="Arial"/>
              </a:rPr>
              <a:t>exclude</a:t>
            </a:r>
            <a:r>
              <a:rPr dirty="0" sz="1000" spc="5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zero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ts val="1200"/>
              </a:lnSpc>
              <a:spcBef>
                <a:spcPts val="295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sz="700" spc="4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40">
                <a:latin typeface="Arial"/>
                <a:cs typeface="Arial"/>
              </a:rPr>
              <a:t>OLS</a:t>
            </a:r>
            <a:r>
              <a:rPr dirty="0" sz="1000" spc="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fit:</a:t>
            </a:r>
            <a:r>
              <a:rPr dirty="0" sz="1000" spc="16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cond</a:t>
            </a:r>
            <a:r>
              <a:rPr dirty="0" sz="1000">
                <a:latin typeface="Times New Roman"/>
                <a:cs typeface="Times New Roman"/>
              </a:rPr>
              <a:t>(J)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3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14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170" i="1">
                <a:latin typeface="JetBrainsMono Nerd Font ExtraLight"/>
                <a:cs typeface="JetBrainsMono Nerd Font ExtraLight"/>
              </a:rPr>
              <a:t>×</a:t>
            </a:r>
            <a:r>
              <a:rPr dirty="0" sz="1000" spc="-38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10</a:t>
            </a:r>
            <a:r>
              <a:rPr dirty="0" baseline="27777" sz="1050">
                <a:latin typeface="Times New Roman"/>
                <a:cs typeface="Times New Roman"/>
              </a:rPr>
              <a:t>5</a:t>
            </a:r>
            <a:r>
              <a:rPr dirty="0" sz="1000">
                <a:latin typeface="Arial"/>
                <a:cs typeface="Arial"/>
              </a:rPr>
              <a:t>,</a:t>
            </a:r>
            <a:r>
              <a:rPr dirty="0" sz="1000" spc="45">
                <a:latin typeface="Arial"/>
                <a:cs typeface="Arial"/>
              </a:rPr>
              <a:t> </a:t>
            </a:r>
            <a:r>
              <a:rPr dirty="0" sz="1000" spc="-35">
                <a:latin typeface="Arial"/>
                <a:cs typeface="Arial"/>
              </a:rPr>
              <a:t>relRMSE</a:t>
            </a:r>
            <a:r>
              <a:rPr dirty="0" sz="1000" spc="50">
                <a:latin typeface="Arial"/>
                <a:cs typeface="Arial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3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84%</a:t>
            </a:r>
            <a:r>
              <a:rPr dirty="0" sz="1000">
                <a:latin typeface="Arial"/>
                <a:cs typeface="Arial"/>
              </a:rPr>
              <a:t>,</a:t>
            </a:r>
            <a:r>
              <a:rPr dirty="0" sz="1000" spc="50">
                <a:latin typeface="Arial"/>
                <a:cs typeface="Arial"/>
              </a:rPr>
              <a:t> </a:t>
            </a:r>
            <a:r>
              <a:rPr dirty="0" sz="1000" spc="75" i="1">
                <a:latin typeface="Times New Roman"/>
                <a:cs typeface="Times New Roman"/>
              </a:rPr>
              <a:t>R</a:t>
            </a:r>
            <a:r>
              <a:rPr dirty="0" baseline="27777" sz="1050" spc="112">
                <a:latin typeface="Times New Roman"/>
                <a:cs typeface="Times New Roman"/>
              </a:rPr>
              <a:t>2</a:t>
            </a:r>
            <a:r>
              <a:rPr dirty="0" baseline="27777" sz="1050" spc="217">
                <a:latin typeface="Times New Roman"/>
                <a:cs typeface="Times New Roman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0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989</a:t>
            </a:r>
            <a:r>
              <a:rPr dirty="0" sz="1000">
                <a:latin typeface="Arial"/>
                <a:cs typeface="Arial"/>
              </a:rPr>
              <a:t>;</a:t>
            </a:r>
            <a:r>
              <a:rPr dirty="0" sz="1000" spc="45">
                <a:latin typeface="Arial"/>
                <a:cs typeface="Arial"/>
              </a:rPr>
              <a:t> </a:t>
            </a:r>
            <a:r>
              <a:rPr dirty="0" sz="1000" spc="-35">
                <a:latin typeface="Arial"/>
                <a:cs typeface="Arial"/>
              </a:rPr>
              <a:t>residual</a:t>
            </a:r>
            <a:r>
              <a:rPr dirty="0" sz="1000" spc="4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autocorrelation</a:t>
            </a:r>
            <a:endParaRPr sz="1000">
              <a:latin typeface="Arial"/>
              <a:cs typeface="Arial"/>
            </a:endParaRPr>
          </a:p>
          <a:p>
            <a:pPr marL="163830">
              <a:lnSpc>
                <a:spcPts val="1200"/>
              </a:lnSpc>
            </a:pPr>
            <a:r>
              <a:rPr dirty="0" sz="1000" spc="-10">
                <a:latin typeface="Arial"/>
                <a:cs typeface="Arial"/>
              </a:rPr>
              <a:t>(runs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 spc="204">
                <a:latin typeface="Times New Roman"/>
                <a:cs typeface="Times New Roman"/>
              </a:rPr>
              <a:t>=</a:t>
            </a:r>
            <a:r>
              <a:rPr dirty="0" sz="1000">
                <a:latin typeface="Times New Roman"/>
                <a:cs typeface="Times New Roman"/>
              </a:rPr>
              <a:t> 6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180" i="1">
                <a:latin typeface="Arial"/>
                <a:cs typeface="Arial"/>
              </a:rPr>
              <a:t>&lt;</a:t>
            </a:r>
            <a:r>
              <a:rPr dirty="0" sz="1000" spc="-25" i="1">
                <a:latin typeface="Arial"/>
                <a:cs typeface="Arial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10</a:t>
            </a:r>
            <a:r>
              <a:rPr dirty="0" sz="1000" spc="-20" i="1">
                <a:latin typeface="Arial"/>
                <a:cs typeface="Arial"/>
              </a:rPr>
              <a:t>.</a:t>
            </a:r>
            <a:r>
              <a:rPr dirty="0" sz="1000" spc="-20">
                <a:latin typeface="Times New Roman"/>
                <a:cs typeface="Times New Roman"/>
              </a:rPr>
              <a:t>5</a:t>
            </a:r>
            <a:r>
              <a:rPr dirty="0" sz="1000" spc="-2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163830" marR="181610" indent="-126364">
              <a:lnSpc>
                <a:spcPct val="100000"/>
              </a:lnSpc>
              <a:spcBef>
                <a:spcPts val="295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dirty="0" sz="700" spc="3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Bootstrap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CI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 spc="-45">
                <a:latin typeface="Arial"/>
                <a:cs typeface="Arial"/>
              </a:rPr>
              <a:t>narrower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(</a:t>
            </a:r>
            <a:r>
              <a:rPr dirty="0" sz="1000">
                <a:latin typeface="Times New Roman"/>
                <a:cs typeface="Times New Roman"/>
              </a:rPr>
              <a:t>2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4</a:t>
            </a:r>
            <a:r>
              <a:rPr dirty="0" sz="1000" i="1">
                <a:latin typeface="JetBrainsMono Nerd Font ExtraLight"/>
                <a:cs typeface="JetBrainsMono Nerd Font ExtraLight"/>
              </a:rPr>
              <a:t>×</a:t>
            </a:r>
            <a:r>
              <a:rPr dirty="0" sz="1000" spc="-27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>
                <a:latin typeface="Arial"/>
                <a:cs typeface="Arial"/>
              </a:rPr>
              <a:t>for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CB,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</a:t>
            </a:r>
            <a:r>
              <a:rPr dirty="0" sz="1000" i="1">
                <a:latin typeface="Arial"/>
                <a:cs typeface="Arial"/>
              </a:rPr>
              <a:t>.</a:t>
            </a:r>
            <a:r>
              <a:rPr dirty="0" sz="1000">
                <a:latin typeface="Times New Roman"/>
                <a:cs typeface="Times New Roman"/>
              </a:rPr>
              <a:t>7</a:t>
            </a:r>
            <a:r>
              <a:rPr dirty="0" sz="1000" i="1">
                <a:latin typeface="JetBrainsMono Nerd Font ExtraLight"/>
                <a:cs typeface="JetBrainsMono Nerd Font ExtraLight"/>
              </a:rPr>
              <a:t>×</a:t>
            </a:r>
            <a:r>
              <a:rPr dirty="0" sz="1000" spc="-27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>
                <a:latin typeface="Arial"/>
                <a:cs typeface="Arial"/>
              </a:rPr>
              <a:t>for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PB)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 spc="395" i="1">
                <a:latin typeface="JetBrainsMono Nerd Font ExtraLight"/>
                <a:cs typeface="JetBrainsMono Nerd Font ExtraLight"/>
              </a:rPr>
              <a:t>⇒</a:t>
            </a:r>
            <a:r>
              <a:rPr dirty="0" sz="1000" spc="-270" i="1">
                <a:latin typeface="JetBrainsMono Nerd Font ExtraLight"/>
                <a:cs typeface="JetBrainsMono Nerd Font ExtraLight"/>
              </a:rPr>
              <a:t> </a:t>
            </a:r>
            <a:r>
              <a:rPr dirty="0" sz="1000" spc="-25">
                <a:latin typeface="Arial"/>
                <a:cs typeface="Arial"/>
              </a:rPr>
              <a:t>asymptotic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 spc="-45">
                <a:latin typeface="Arial"/>
                <a:cs typeface="Arial"/>
              </a:rPr>
              <a:t>overestimates</a:t>
            </a:r>
            <a:r>
              <a:rPr dirty="0" sz="1000" spc="40">
                <a:latin typeface="Arial"/>
                <a:cs typeface="Arial"/>
              </a:rPr>
              <a:t> </a:t>
            </a:r>
            <a:r>
              <a:rPr dirty="0" sz="1000" spc="-40">
                <a:latin typeface="Arial"/>
                <a:cs typeface="Arial"/>
              </a:rPr>
              <a:t>due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to </a:t>
            </a:r>
            <a:r>
              <a:rPr dirty="0" sz="1000">
                <a:latin typeface="Arial"/>
                <a:cs typeface="Arial"/>
              </a:rPr>
              <a:t>high</a:t>
            </a:r>
            <a:r>
              <a:rPr dirty="0" sz="1000" spc="-40">
                <a:latin typeface="Arial"/>
                <a:cs typeface="Arial"/>
              </a:rPr>
              <a:t> parameter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correlation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14" name="object 14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38" y="0"/>
                  </a:moveTo>
                  <a:lnTo>
                    <a:pt x="2016036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36" y="91287"/>
                  </a:lnTo>
                  <a:lnTo>
                    <a:pt x="3456038" y="91287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456038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5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46071"/>
            <a:ext cx="450977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duction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 spc="6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&amp;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Background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Model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Description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Data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Overview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Forward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Problem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Parameter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6" action="ppaction://hlinksldjump"/>
              </a:rPr>
              <a:t>Selection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OLS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7" action="ppaction://hlinksldjump"/>
              </a:rPr>
              <a:t>Results</a:t>
            </a:r>
            <a:r>
              <a:rPr dirty="0" sz="500" spc="254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Model</a:t>
            </a:r>
            <a:r>
              <a:rPr dirty="0" sz="500" spc="3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8" action="ppaction://hlinksldjump"/>
              </a:rPr>
              <a:t>Diagnostics</a:t>
            </a:r>
            <a:r>
              <a:rPr dirty="0" sz="500" spc="26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Optimal</a:t>
            </a:r>
            <a:r>
              <a:rPr dirty="0" sz="500" spc="25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Experime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2289" y="49029"/>
            <a:ext cx="768350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ntal</a:t>
            </a:r>
            <a:r>
              <a:rPr dirty="0" sz="500" spc="2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7F7F7F"/>
                </a:solidFill>
                <a:latin typeface="Arial"/>
                <a:cs typeface="Arial"/>
                <a:hlinkClick r:id="rId9" action="ppaction://hlinksldjump"/>
              </a:rPr>
              <a:t>Design</a:t>
            </a:r>
            <a:r>
              <a:rPr dirty="0" sz="500" spc="24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500" spc="-10">
                <a:solidFill>
                  <a:srgbClr val="7F7F7F"/>
                </a:solidFill>
                <a:latin typeface="Arial"/>
                <a:cs typeface="Arial"/>
                <a:hlinkClick r:id="rId10" action="ppaction://hlinksldjump"/>
              </a:rPr>
              <a:t>Bootstrapping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057" y="49029"/>
            <a:ext cx="328295" cy="933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0" spc="-25">
                <a:solidFill>
                  <a:srgbClr val="7F7F7F"/>
                </a:solidFill>
                <a:latin typeface="Arial"/>
                <a:cs typeface="Arial"/>
                <a:hlinkClick r:id="rId11" action="ppaction://hlinksldjump"/>
              </a:rPr>
              <a:t>Conclusions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5"/>
            <a:ext cx="5760085" cy="473709"/>
            <a:chOff x="0" y="25"/>
            <a:chExt cx="5760085" cy="473709"/>
          </a:xfrm>
        </p:grpSpPr>
        <p:pic>
          <p:nvPicPr>
            <p:cNvPr id="6" name="object 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08017" y="25"/>
              <a:ext cx="1151978" cy="2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212443"/>
              <a:ext cx="5760073" cy="260707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pc="-100"/>
              <a:t>References</a:t>
            </a:r>
            <a:r>
              <a:rPr dirty="0" spc="75"/>
              <a:t> </a:t>
            </a:r>
            <a:r>
              <a:rPr dirty="0" spc="-50"/>
              <a:t>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47294" y="1352364"/>
            <a:ext cx="5035550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2090" marR="5080" indent="-20002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003E87"/>
                </a:solidFill>
                <a:latin typeface="Arial"/>
                <a:cs typeface="Arial"/>
              </a:rPr>
              <a:t>[1]</a:t>
            </a:r>
            <a:r>
              <a:rPr dirty="0" sz="1000" spc="135">
                <a:solidFill>
                  <a:srgbClr val="003E87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003E87"/>
                </a:solidFill>
                <a:latin typeface="Arial"/>
                <a:cs typeface="Arial"/>
              </a:rPr>
              <a:t>Lavanya</a:t>
            </a:r>
            <a:r>
              <a:rPr dirty="0" sz="1000">
                <a:solidFill>
                  <a:srgbClr val="003E87"/>
                </a:solidFill>
                <a:latin typeface="Arial"/>
                <a:cs typeface="Arial"/>
              </a:rPr>
              <a:t> </a:t>
            </a:r>
            <a:r>
              <a:rPr dirty="0" sz="1000" spc="-35">
                <a:solidFill>
                  <a:srgbClr val="003E87"/>
                </a:solidFill>
                <a:latin typeface="Arial"/>
                <a:cs typeface="Arial"/>
              </a:rPr>
              <a:t>Gumudavelli,</a:t>
            </a:r>
            <a:r>
              <a:rPr dirty="0" sz="1000">
                <a:solidFill>
                  <a:srgbClr val="003E87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003E87"/>
                </a:solidFill>
                <a:latin typeface="Arial"/>
                <a:cs typeface="Arial"/>
              </a:rPr>
              <a:t>Prem</a:t>
            </a:r>
            <a:r>
              <a:rPr dirty="0" sz="1000">
                <a:solidFill>
                  <a:srgbClr val="003E87"/>
                </a:solidFill>
                <a:latin typeface="Arial"/>
                <a:cs typeface="Arial"/>
              </a:rPr>
              <a:t> </a:t>
            </a:r>
            <a:r>
              <a:rPr dirty="0" sz="1000" spc="-30">
                <a:solidFill>
                  <a:srgbClr val="003E87"/>
                </a:solidFill>
                <a:latin typeface="Arial"/>
                <a:cs typeface="Arial"/>
              </a:rPr>
              <a:t>Rishi</a:t>
            </a:r>
            <a:r>
              <a:rPr dirty="0" sz="1000">
                <a:solidFill>
                  <a:srgbClr val="003E87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</a:rPr>
              <a:t>Velugoti,</a:t>
            </a:r>
            <a:r>
              <a:rPr dirty="0" sz="1000">
                <a:solidFill>
                  <a:srgbClr val="003E87"/>
                </a:solidFill>
                <a:latin typeface="Arial"/>
                <a:cs typeface="Arial"/>
              </a:rPr>
              <a:t> </a:t>
            </a:r>
            <a:r>
              <a:rPr dirty="0" sz="1000" spc="-70">
                <a:solidFill>
                  <a:srgbClr val="003E87"/>
                </a:solidFill>
                <a:latin typeface="Arial"/>
                <a:cs typeface="Arial"/>
              </a:rPr>
              <a:t>Ramaswamy</a:t>
            </a:r>
            <a:r>
              <a:rPr dirty="0" sz="1000" spc="5">
                <a:solidFill>
                  <a:srgbClr val="003E87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3E87"/>
                </a:solidFill>
                <a:latin typeface="Arial"/>
                <a:cs typeface="Arial"/>
              </a:rPr>
              <a:t>C </a:t>
            </a:r>
            <a:r>
              <a:rPr dirty="0" sz="1000" spc="-45">
                <a:solidFill>
                  <a:srgbClr val="003E87"/>
                </a:solidFill>
                <a:latin typeface="Arial"/>
                <a:cs typeface="Arial"/>
              </a:rPr>
              <a:t>Anantheswaran,</a:t>
            </a:r>
            <a:r>
              <a:rPr dirty="0" sz="1000">
                <a:solidFill>
                  <a:srgbClr val="003E87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003E87"/>
                </a:solidFill>
                <a:latin typeface="Arial"/>
                <a:cs typeface="Arial"/>
              </a:rPr>
              <a:t>John</a:t>
            </a:r>
            <a:r>
              <a:rPr dirty="0" sz="1000">
                <a:solidFill>
                  <a:srgbClr val="003E87"/>
                </a:solidFill>
                <a:latin typeface="Arial"/>
                <a:cs typeface="Arial"/>
              </a:rPr>
              <a:t> D 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</a:rPr>
              <a:t>Floros, </a:t>
            </a:r>
            <a:r>
              <a:rPr dirty="0" sz="1000" spc="-20">
                <a:solidFill>
                  <a:srgbClr val="003E87"/>
                </a:solidFill>
                <a:latin typeface="Arial"/>
                <a:cs typeface="Arial"/>
              </a:rPr>
              <a:t>and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</a:rPr>
              <a:t> </a:t>
            </a:r>
            <a:r>
              <a:rPr dirty="0" sz="1000" spc="-45">
                <a:solidFill>
                  <a:srgbClr val="003E87"/>
                </a:solidFill>
                <a:latin typeface="Arial"/>
                <a:cs typeface="Arial"/>
              </a:rPr>
              <a:t>Stephen</a:t>
            </a:r>
            <a:r>
              <a:rPr dirty="0" sz="1000" spc="-5">
                <a:solidFill>
                  <a:srgbClr val="003E87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3E87"/>
                </a:solidFill>
                <a:latin typeface="Arial"/>
                <a:cs typeface="Arial"/>
              </a:rPr>
              <a:t>J</a:t>
            </a:r>
            <a:r>
              <a:rPr dirty="0" sz="1000" spc="-10">
                <a:solidFill>
                  <a:srgbClr val="003E87"/>
                </a:solidFill>
                <a:latin typeface="Arial"/>
                <a:cs typeface="Arial"/>
              </a:rPr>
              <a:t> Knabel.</a:t>
            </a:r>
            <a:endParaRPr sz="1000">
              <a:latin typeface="Arial"/>
              <a:cs typeface="Arial"/>
            </a:endParaRPr>
          </a:p>
          <a:p>
            <a:pPr marL="212090">
              <a:lnSpc>
                <a:spcPts val="1190"/>
              </a:lnSpc>
            </a:pPr>
            <a:r>
              <a:rPr dirty="0" sz="1000" spc="-30">
                <a:latin typeface="Arial"/>
                <a:cs typeface="Arial"/>
              </a:rPr>
              <a:t>Dynamic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predictive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model</a:t>
            </a:r>
            <a:r>
              <a:rPr dirty="0" sz="1000">
                <a:latin typeface="Arial"/>
                <a:cs typeface="Arial"/>
              </a:rPr>
              <a:t> for </a:t>
            </a:r>
            <a:r>
              <a:rPr dirty="0" sz="1000" spc="-10">
                <a:latin typeface="Arial"/>
                <a:cs typeface="Arial"/>
              </a:rPr>
              <a:t>growth</a:t>
            </a:r>
            <a:r>
              <a:rPr dirty="0" sz="1000">
                <a:latin typeface="Arial"/>
                <a:cs typeface="Arial"/>
              </a:rPr>
              <a:t> of </a:t>
            </a:r>
            <a:r>
              <a:rPr dirty="0" sz="1000" spc="-45" i="1">
                <a:latin typeface="Arial"/>
                <a:cs typeface="Arial"/>
              </a:rPr>
              <a:t>Salmonella</a:t>
            </a:r>
            <a:r>
              <a:rPr dirty="0" sz="1000" i="1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Enteritidis</a:t>
            </a:r>
            <a:r>
              <a:rPr dirty="0" sz="1000" spc="45" i="1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 </a:t>
            </a:r>
            <a:r>
              <a:rPr dirty="0" sz="1000" spc="-50">
                <a:latin typeface="Arial"/>
                <a:cs typeface="Arial"/>
              </a:rPr>
              <a:t>egg</a:t>
            </a:r>
            <a:r>
              <a:rPr dirty="0" sz="100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yolk.</a:t>
            </a:r>
            <a:endParaRPr sz="1000">
              <a:latin typeface="Arial"/>
              <a:cs typeface="Arial"/>
            </a:endParaRPr>
          </a:p>
          <a:p>
            <a:pPr marL="212090">
              <a:lnSpc>
                <a:spcPts val="1200"/>
              </a:lnSpc>
            </a:pPr>
            <a:r>
              <a:rPr dirty="0" sz="1000" spc="-25" i="1">
                <a:solidFill>
                  <a:srgbClr val="5982B1"/>
                </a:solidFill>
                <a:latin typeface="Arial"/>
                <a:cs typeface="Arial"/>
              </a:rPr>
              <a:t>Journal</a:t>
            </a:r>
            <a:r>
              <a:rPr dirty="0" sz="1000" spc="10" i="1">
                <a:solidFill>
                  <a:srgbClr val="5982B1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82B1"/>
                </a:solidFill>
                <a:latin typeface="Arial"/>
                <a:cs typeface="Arial"/>
              </a:rPr>
              <a:t>of</a:t>
            </a:r>
            <a:r>
              <a:rPr dirty="0" sz="1000" spc="10" i="1">
                <a:solidFill>
                  <a:srgbClr val="5982B1"/>
                </a:solidFill>
                <a:latin typeface="Arial"/>
                <a:cs typeface="Arial"/>
              </a:rPr>
              <a:t> </a:t>
            </a:r>
            <a:r>
              <a:rPr dirty="0" sz="1000" spc="-25" i="1">
                <a:solidFill>
                  <a:srgbClr val="5982B1"/>
                </a:solidFill>
                <a:latin typeface="Arial"/>
                <a:cs typeface="Arial"/>
              </a:rPr>
              <a:t>Food</a:t>
            </a:r>
            <a:r>
              <a:rPr dirty="0" sz="1000" spc="10" i="1">
                <a:solidFill>
                  <a:srgbClr val="5982B1"/>
                </a:solidFill>
                <a:latin typeface="Arial"/>
                <a:cs typeface="Arial"/>
              </a:rPr>
              <a:t> </a:t>
            </a:r>
            <a:r>
              <a:rPr dirty="0" sz="1000" spc="-55" i="1">
                <a:solidFill>
                  <a:srgbClr val="5982B1"/>
                </a:solidFill>
                <a:latin typeface="Arial"/>
                <a:cs typeface="Arial"/>
              </a:rPr>
              <a:t>Science</a:t>
            </a:r>
            <a:r>
              <a:rPr dirty="0" sz="1000" spc="-55">
                <a:solidFill>
                  <a:srgbClr val="5982B1"/>
                </a:solidFill>
                <a:latin typeface="Arial"/>
                <a:cs typeface="Arial"/>
              </a:rPr>
              <a:t>,</a:t>
            </a:r>
            <a:r>
              <a:rPr dirty="0" sz="1000" spc="10">
                <a:solidFill>
                  <a:srgbClr val="5982B1"/>
                </a:solidFill>
                <a:latin typeface="Arial"/>
                <a:cs typeface="Arial"/>
              </a:rPr>
              <a:t> </a:t>
            </a:r>
            <a:r>
              <a:rPr dirty="0" sz="1000" spc="-35">
                <a:solidFill>
                  <a:srgbClr val="5982B1"/>
                </a:solidFill>
                <a:latin typeface="Arial"/>
                <a:cs typeface="Arial"/>
              </a:rPr>
              <a:t>72(7):M254–</a:t>
            </a:r>
            <a:r>
              <a:rPr dirty="0" sz="1000" spc="-10">
                <a:solidFill>
                  <a:srgbClr val="5982B1"/>
                </a:solidFill>
                <a:latin typeface="Arial"/>
                <a:cs typeface="Arial"/>
              </a:rPr>
              <a:t>M262,</a:t>
            </a:r>
            <a:r>
              <a:rPr dirty="0" sz="1000" spc="10">
                <a:solidFill>
                  <a:srgbClr val="5982B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5982B1"/>
                </a:solidFill>
                <a:latin typeface="Arial"/>
                <a:cs typeface="Arial"/>
              </a:rPr>
              <a:t>2007.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48736"/>
            <a:ext cx="5760085" cy="91440"/>
            <a:chOff x="0" y="3148736"/>
            <a:chExt cx="5760085" cy="91440"/>
          </a:xfrm>
        </p:grpSpPr>
        <p:sp>
          <p:nvSpPr>
            <p:cNvPr id="11" name="object 11"/>
            <p:cNvSpPr/>
            <p:nvPr/>
          </p:nvSpPr>
          <p:spPr>
            <a:xfrm>
              <a:off x="0" y="3148736"/>
              <a:ext cx="3456304" cy="91440"/>
            </a:xfrm>
            <a:custGeom>
              <a:avLst/>
              <a:gdLst/>
              <a:ahLst/>
              <a:cxnLst/>
              <a:rect l="l" t="t" r="r" b="b"/>
              <a:pathLst>
                <a:path w="3456304" h="91439">
                  <a:moveTo>
                    <a:pt x="3456038" y="0"/>
                  </a:moveTo>
                  <a:lnTo>
                    <a:pt x="2016036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2016036" y="91287"/>
                  </a:lnTo>
                  <a:lnTo>
                    <a:pt x="3456038" y="91287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456038" y="3148736"/>
              <a:ext cx="2304415" cy="91440"/>
            </a:xfrm>
            <a:custGeom>
              <a:avLst/>
              <a:gdLst/>
              <a:ahLst/>
              <a:cxnLst/>
              <a:rect l="l" t="t" r="r" b="b"/>
              <a:pathLst>
                <a:path w="2304415" h="91439">
                  <a:moveTo>
                    <a:pt x="2303957" y="0"/>
                  </a:moveTo>
                  <a:lnTo>
                    <a:pt x="1958378" y="0"/>
                  </a:lnTo>
                  <a:lnTo>
                    <a:pt x="0" y="0"/>
                  </a:lnTo>
                  <a:lnTo>
                    <a:pt x="0" y="91287"/>
                  </a:lnTo>
                  <a:lnTo>
                    <a:pt x="1958378" y="91287"/>
                  </a:lnTo>
                  <a:lnTo>
                    <a:pt x="2303957" y="91287"/>
                  </a:lnTo>
                  <a:lnTo>
                    <a:pt x="2303957" y="0"/>
                  </a:lnTo>
                  <a:close/>
                </a:path>
              </a:pathLst>
            </a:custGeom>
            <a:solidFill>
              <a:srgbClr val="003E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pc="-20"/>
              <a:t>Team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/>
              <a:t>April</a:t>
            </a:r>
            <a:r>
              <a:rPr dirty="0" spc="45"/>
              <a:t> </a:t>
            </a:r>
            <a:r>
              <a:rPr dirty="0"/>
              <a:t>14,</a:t>
            </a:r>
            <a:r>
              <a:rPr dirty="0" spc="50"/>
              <a:t> </a:t>
            </a:r>
            <a:r>
              <a:rPr dirty="0" spc="-20"/>
              <a:t>2026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024668" y="3126226"/>
            <a:ext cx="821055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Salmonella</a:t>
            </a:r>
            <a:r>
              <a:rPr dirty="0" sz="500" spc="2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0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Gompertz</a:t>
            </a:r>
            <a:r>
              <a:rPr dirty="0" sz="500" spc="25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Arial"/>
                <a:cs typeface="Arial"/>
                <a:hlinkClick r:id="rId14" action="ppaction://hlinksldjump"/>
              </a:rPr>
              <a:t>Model</a:t>
            </a:r>
            <a:endParaRPr sz="5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22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dirty="0"/>
              <a:t>10</a:t>
            </a:fld>
            <a:r>
              <a:rPr dirty="0" spc="20"/>
              <a:t> </a:t>
            </a:r>
            <a:r>
              <a:rPr dirty="0" spc="125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Boyuan Zhao, Wenyu Xu, Yizhou Li</dc:creator>
  <dc:title>Predictive Modeling of Salmonella enteritidis Growth Under Sinusoidal Temperature - Modified Gompertz Model &amp; OLS Parameter Estimation</dc:title>
  <dcterms:created xsi:type="dcterms:W3CDTF">2026-04-20T16:35:00Z</dcterms:created>
  <dcterms:modified xsi:type="dcterms:W3CDTF">2026-04-20T16:35:00Z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2026-04-16T00:00:00Z</vt:filetime>
  </property>
  <property fmtid="{D5CDD505-2E9C-101B-9397-08002B2CF9AE}" pid="3" name="Creator">
    <vt:lpwstr>LaTeX with Beamer class</vt:lpwstr>
  </property>
  <property fmtid="{D5CDD505-2E9C-101B-9397-08002B2CF9AE}" pid="4" name="Producer">
    <vt:lpwstr>xdvipdfmx (20260113)</vt:lpwstr>
  </property>
  <property fmtid="{D5CDD505-2E9C-101B-9397-08002B2CF9AE}" pid="5" name="LastSaved">
    <vt:filetime>2026-04-16T00:00:00Z</vt:filetime>
  </property>
</Properties>
</file>